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class. Introduce yourself and name your role on the CRR team.</a:t>
            </a:r>
          </a:p>
          <a:p>
            <a:r>
              <a:t>This is a full-day onboarding training for new reviewers who will conduct</a:t>
            </a:r>
          </a:p>
          <a:p>
            <a:r>
              <a:t>CRR 20 (Accessible Facilities) or CRR 21 (CTE Facility Site Selection)</a:t>
            </a:r>
          </a:p>
          <a:p>
            <a:r>
              <a:t>reviews. By the end of the day, every reviewer should be able to look at</a:t>
            </a:r>
          </a:p>
          <a:p>
            <a:r>
              <a:t>a Facilities Review Guide, determine which accessibility standard applies</a:t>
            </a:r>
          </a:p>
          <a:p>
            <a:r>
              <a:t>to each area, identify violations, and write a defensible LOF.</a:t>
            </a:r>
          </a:p>
          <a:p/>
          <a:p>
            <a:r>
              <a:t>Have everyone introduce themselves and share whether they have any prior</a:t>
            </a:r>
          </a:p>
          <a:p>
            <a:r>
              <a:t>ADA / accessibility background. Adjust depth on the technical sections</a:t>
            </a:r>
          </a:p>
          <a:p>
            <a:r>
              <a:t>based on the room.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class through each objective. Emphasize that this is not a code</a:t>
            </a:r>
          </a:p>
          <a:p>
            <a:r>
              <a:t>class — they are not architects. Their job is to (a) determine the</a:t>
            </a:r>
          </a:p>
          <a:p>
            <a:r>
              <a:t>correct standard, (b) compare measurements against it, and (c) document</a:t>
            </a:r>
          </a:p>
          <a:p>
            <a:r>
              <a:t>what they found in defensible language.</a:t>
            </a:r>
          </a:p>
          <a:p/>
          <a:p>
            <a:r>
              <a:t>Stress objective #3 (Program Access) early — it is the single most common</a:t>
            </a:r>
          </a:p>
          <a:p>
            <a:r>
              <a:t>mistake new reviewers make. They see a barrier in a 1968 building and</a:t>
            </a:r>
          </a:p>
          <a:p>
            <a:r>
              <a:t>write it up as a finding. That is wrong, and we will spend significant</a:t>
            </a:r>
          </a:p>
          <a:p>
            <a:r>
              <a:t>time on why.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 are notional — adjust to your start time. Two ten-minute breaks and</a:t>
            </a:r>
          </a:p>
          <a:p>
            <a:r>
              <a:t>a one-hour lunch are built in. Tell the class when the breaks land so they</a:t>
            </a:r>
          </a:p>
          <a:p>
            <a:r>
              <a:t>can plan. If you are running virtual, swap the two breaks for 5-minute</a:t>
            </a:r>
          </a:p>
          <a:p>
            <a:r>
              <a:t>stretches and a 45-minute lunch.</a:t>
            </a:r>
          </a:p>
          <a:p/>
          <a:p>
            <a:r>
              <a:t>If you are short on time, the sections you can compress (in order):</a:t>
            </a:r>
          </a:p>
          <a:p>
            <a:r>
              <a:t>(1) survey of remaining CTE sectors at slide 49, (2) UFAS deep-dive at 26-27</a:t>
            </a:r>
          </a:p>
          <a:p>
            <a:r>
              <a:t>(it rarely controls a finding in K-12), (3) one of the three case studies.</a:t>
            </a:r>
          </a:p>
          <a:p>
            <a:r>
              <a:t>Never compress the decision tree or Program Access sections.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day. The reviewer's report goes to the LEA, to OEO leadership,</a:t>
            </a:r>
          </a:p>
          <a:p>
            <a:r>
              <a:t>and — if there is a complaint — potentially to the U.S. Department of</a:t>
            </a:r>
          </a:p>
          <a:p>
            <a:r>
              <a:t>Education's Office for Civil Rights (OCR). Treat every LOF as something</a:t>
            </a:r>
          </a:p>
          <a:p>
            <a:r>
              <a:t>that might be quoted in a federal complaint or in a settlement agreement.</a:t>
            </a:r>
          </a:p>
          <a:p/>
          <a:p>
            <a:r>
              <a:t>Personalize: share a brief example of a real (anonymized) finding that</a:t>
            </a:r>
          </a:p>
          <a:p>
            <a:r>
              <a:t>made a difference for a student. CTE access matters because it is the</a:t>
            </a:r>
          </a:p>
          <a:p>
            <a:r>
              <a:t>on-ramp to wages — if a student with a mobility disability can't get into</a:t>
            </a:r>
          </a:p>
          <a:p>
            <a:r>
              <a:t>the welding bay, they are effectively locked out of the sector.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Reviewers are fact-finders, not designers. Their job is to determine</a:t>
            </a:r>
          </a:p>
          <a:p>
            <a:r>
              <a:t>what the standard requires, what the field shows, and whether the two</a:t>
            </a:r>
          </a:p>
          <a:p>
            <a:r>
              <a:t>match. The LEA hires architects and contractors to design fixes — the</a:t>
            </a:r>
          </a:p>
          <a:p>
            <a:r>
              <a:t>reviewer does not.</a:t>
            </a:r>
          </a:p>
          <a:p/>
          <a:p>
            <a:r>
              <a:t>The "you do not" list captures the top mistakes new reviewers make. Walk</a:t>
            </a:r>
          </a:p>
          <a:p>
            <a:r>
              <a:t>through each. The most common one is the second: applying the 2010</a:t>
            </a:r>
          </a:p>
          <a:p>
            <a:r>
              <a:t>standard to a 1985 building because the reviewer recognizes a barrier</a:t>
            </a:r>
          </a:p>
          <a:p>
            <a:r>
              <a:t>the 2010 standard would prohibit. That is a misapplication of law and</a:t>
            </a:r>
          </a:p>
          <a:p>
            <a:r>
              <a:t>will be reversed on appeal.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504 is the legal anchor for everything we do. The CRR program</a:t>
            </a:r>
          </a:p>
          <a:p>
            <a:r>
              <a:t>operates under 504 — not under the ADA — even though the ADA standards</a:t>
            </a:r>
          </a:p>
          <a:p>
            <a:r>
              <a:t>are incorporated by reference. That distinction matters when you write</a:t>
            </a:r>
          </a:p>
          <a:p>
            <a:r>
              <a:t>findings: the citation chain is "34 CFR § 104.23 (Section 504) → 1991 ADA</a:t>
            </a:r>
          </a:p>
          <a:p>
            <a:r>
              <a:t>Standards → § 4.13.5 (door width)."</a:t>
            </a:r>
          </a:p>
          <a:p/>
          <a:p>
            <a:r>
              <a:t>The June 3, 1977 cutoff date is the single most important date in this</a:t>
            </a:r>
          </a:p>
          <a:p>
            <a:r>
              <a:t>training. Pre-June-4, 1977 buildings are governed by Program Access only —</a:t>
            </a:r>
          </a:p>
          <a:p>
            <a:r>
              <a:t>no measurable standard applies. Drill this date into the class.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 we cite both 504 and Title II together is that they are the</a:t>
            </a:r>
          </a:p>
          <a:p>
            <a:r>
              <a:t>two federal authorities OCR can enforce. A district could conceivably</a:t>
            </a:r>
          </a:p>
          <a:p>
            <a:r>
              <a:t>argue "we don't take federal funds for this CTE program" — which would</a:t>
            </a:r>
          </a:p>
          <a:p>
            <a:r>
              <a:t>take § 504 off the table — but Title II still applies because the</a:t>
            </a:r>
          </a:p>
          <a:p>
            <a:r>
              <a:t>district is a public entity. Belt and suspenders.</a:t>
            </a:r>
          </a:p>
          <a:p/>
          <a:p>
            <a:r>
              <a:t>Walk through the CFR section numbers slowly. New reviewers find the cite</a:t>
            </a:r>
          </a:p>
          <a:p>
            <a:r>
              <a:t>chain confusing. Show them the boilerplate from the CRR 20 Word</a:t>
            </a:r>
          </a:p>
          <a:p>
            <a:r>
              <a:t>template — that same chain appears verbatim at the top of every</a:t>
            </a:r>
          </a:p>
          <a:p>
            <a:r>
              <a:t>Facilities LOF.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Reviewers should know that their LOF is one of several documents that may</a:t>
            </a:r>
          </a:p>
          <a:p>
            <a:r>
              <a:t>end up in front of OCR. If a district disputes a finding, OCR may be the</a:t>
            </a:r>
          </a:p>
          <a:p>
            <a:r>
              <a:t>final arbiter. That is why citations must be exact — vague language is</a:t>
            </a:r>
          </a:p>
          <a:p>
            <a:r>
              <a:t>the easiest thing to push back on.</a:t>
            </a:r>
          </a:p>
          <a:p/>
          <a:p>
            <a:r>
              <a:t>Point reviewers to www2.ed.gov/ocr (OCR case search) and ada.gov</a:t>
            </a:r>
          </a:p>
          <a:p>
            <a:r>
              <a:t>(DOJ technical assistance) as live resources. They will use these during</a:t>
            </a:r>
          </a:p>
          <a:p>
            <a:r>
              <a:t>their first reviews.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Reviewers sometimes feel they lack 'real' authority compared to OCR</a:t>
            </a:r>
          </a:p>
          <a:p>
            <a:r>
              <a:t>investigators. They have plenty. CDE OEO findings carry the weight of</a:t>
            </a:r>
          </a:p>
          <a:p>
            <a:r>
              <a:t>federal subrecipient monitoring — if a district ignores a VCP, CDE can</a:t>
            </a:r>
          </a:p>
          <a:p>
            <a:r>
              <a:t>withhold Perkins funds, which is often a more immediate consequence</a:t>
            </a:r>
          </a:p>
          <a:p>
            <a:r>
              <a:t>than an OCR case that takes years.</a:t>
            </a:r>
          </a:p>
          <a:p/>
          <a:p>
            <a:r>
              <a:t>Spend a minute on the three-year cycle — every CA LEA running CTE will</a:t>
            </a:r>
          </a:p>
          <a:p>
            <a:r>
              <a:t>see a CRR every three years, so each reviewer's docket is steady.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Reviewers need to know which CRR they are assigned to before they walk</a:t>
            </a:r>
          </a:p>
          <a:p>
            <a:r>
              <a:t>on site. The technical content is nearly identical — same five</a:t>
            </a:r>
          </a:p>
          <a:p>
            <a:r>
              <a:t>standards, same dimensions, same 18-area structure. The narrative</a:t>
            </a:r>
          </a:p>
          <a:p>
            <a:r>
              <a:t>framing differs: CRR 20 asks "is this building accessible?" while</a:t>
            </a:r>
          </a:p>
          <a:p>
            <a:r>
              <a:t>CRR 21 asks "is the siting of CTE programs equitable across protected</a:t>
            </a:r>
          </a:p>
          <a:p>
            <a:r>
              <a:t>classes?"</a:t>
            </a:r>
          </a:p>
          <a:p/>
          <a:p>
            <a:r>
              <a:t>For today, treat CRR 20 and CRR 21 as one body of work. Differences</a:t>
            </a:r>
          </a:p>
          <a:p>
            <a:r>
              <a:t>are in the cover memo and which authority appears first in the cite</a:t>
            </a:r>
          </a:p>
          <a:p>
            <a:r>
              <a:t>chain.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most-referenced slide in the deck. Tell the class to bookmark</a:t>
            </a:r>
          </a:p>
          <a:p>
            <a:r>
              <a:t>it. They will use this table on every review.</a:t>
            </a:r>
          </a:p>
          <a:p/>
          <a:p>
            <a:r>
              <a:t>Walk down the rows. Highlight that Program Access is the only standard</a:t>
            </a:r>
          </a:p>
          <a:p>
            <a:r>
              <a:t>where the "Findings?" answer is NEVER — not "rarely" or "depends." A</a:t>
            </a:r>
          </a:p>
          <a:p>
            <a:r>
              <a:t>common new-reviewer instinct is to write up a barrier in a 1970 building</a:t>
            </a:r>
          </a:p>
          <a:p>
            <a:r>
              <a:t>because the barrier feels obvious. That is incorrect: the standard</a:t>
            </a:r>
          </a:p>
          <a:p>
            <a:r>
              <a:t>specifies that pre-June-4-1977 facilities are evaluated under program</a:t>
            </a:r>
          </a:p>
          <a:p>
            <a:r>
              <a:t>access, which is not a measurable code.</a:t>
            </a:r>
          </a:p>
          <a:p/>
          <a:p>
            <a:r>
              <a:t>The 2010-and-2012 overlap window (Sept 2010 – Mar 14, 2012) is the only</a:t>
            </a:r>
          </a:p>
          <a:p>
            <a:r>
              <a:t>place where two standards may apply. The LEA chooses; the reviewer</a:t>
            </a:r>
          </a:p>
          <a:p>
            <a:r>
              <a:t>honors the LEA's choice if it is documented in the construction record.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example is the most important — and the one new reviewers miss</a:t>
            </a:r>
          </a:p>
          <a:p>
            <a:r>
              <a:t>most often. Partial alterations 'isolate' the altered element to the</a:t>
            </a:r>
          </a:p>
          <a:p>
            <a:r>
              <a:t>newer standard. The original (pre-1977) building remains under Program</a:t>
            </a:r>
          </a:p>
          <a:p>
            <a:r>
              <a:t>Access; the gutted restrooms become 2010 ADA work.</a:t>
            </a:r>
          </a:p>
          <a:p/>
          <a:p>
            <a:r>
              <a:t>Write the four scenarios on the board (if in person) and have the class</a:t>
            </a:r>
          </a:p>
          <a:p>
            <a:r>
              <a:t>call out which standard applies before you reveal the answer. This is the</a:t>
            </a:r>
          </a:p>
          <a:p>
            <a:r>
              <a:t>single best diagnostic of whether they understand the rule.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most-used diagram. Have a printed handout version</a:t>
            </a:r>
          </a:p>
          <a:p>
            <a:r>
              <a:t>that reviewers carry on site visits. The rule at the bottom is critical:</a:t>
            </a:r>
          </a:p>
          <a:p>
            <a:r>
              <a:t>if the LEA cannot produce DSA-approved blueprints or alteration records,</a:t>
            </a:r>
          </a:p>
          <a:p>
            <a:r>
              <a:t>the reviewer cannot determine the applicable standard, and therefore</a:t>
            </a:r>
          </a:p>
          <a:p>
            <a:r>
              <a:t>cannot issue a finding. Document the missing evidence in the LOF as a</a:t>
            </a:r>
          </a:p>
          <a:p>
            <a:r>
              <a:t>records deficiency.</a:t>
            </a:r>
          </a:p>
          <a:p/>
          <a:p>
            <a:r>
              <a:t>The 'September 2010 – March 2012' window is the only one with two</a:t>
            </a:r>
          </a:p>
          <a:p>
            <a:r>
              <a:t>possible standards. In that window the LEA can elect either 1991 or</a:t>
            </a:r>
          </a:p>
          <a:p>
            <a:r>
              <a:t>2010 ADA — the reviewer should honor the LEA's documented election. If</a:t>
            </a:r>
          </a:p>
          <a:p>
            <a:r>
              <a:t>the election is not documented, default to 2010 ADA (more stringent).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timeline is not to actual scale — Program Access and 2010 ADA bands</a:t>
            </a:r>
          </a:p>
          <a:p>
            <a:r>
              <a:t>are stretched to show context. The microscopic UFAS band (Jan 18 1991 –</a:t>
            </a:r>
          </a:p>
          <a:p>
            <a:r>
              <a:t>Jan 26 1992 — barely over one year) deserves a callout: it almost never</a:t>
            </a:r>
          </a:p>
          <a:p>
            <a:r>
              <a:t>controls a finding in K-12 because so few schools were built in that</a:t>
            </a:r>
          </a:p>
          <a:p>
            <a:r>
              <a:t>narrow window. Reviewers should still know it exists.</a:t>
            </a:r>
          </a:p>
          <a:p/>
          <a:p>
            <a:r>
              <a:t>Walk through each example. Have the class predict the standard before</a:t>
            </a:r>
          </a:p>
          <a:p>
            <a:r>
              <a:t>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most-misunderstood rule. New reviewers want to assign</a:t>
            </a:r>
          </a:p>
          <a:p>
            <a:r>
              <a:t>"the building" one standard. The Access Board's 2010 ADA Scoping</a:t>
            </a:r>
          </a:p>
          <a:p>
            <a:r>
              <a:t>guidance is explicit: alteration analysis is element-by-element.</a:t>
            </a:r>
          </a:p>
          <a:p/>
          <a:p>
            <a:r>
              <a:t>Concrete example to walk through aloud:</a:t>
            </a:r>
          </a:p>
          <a:p>
            <a:r>
              <a:t>A 1968 restroom has these elements: WC, lavatory, mirror, grab bars,</a:t>
            </a:r>
          </a:p>
          <a:p>
            <a:r>
              <a:t>signage, dispensers. In 2018 the LEA replaced the grab bars only —</a:t>
            </a:r>
          </a:p>
          <a:p>
            <a:r>
              <a:t>work orders confirm. Result:</a:t>
            </a:r>
          </a:p>
          <a:p>
            <a:r>
              <a:t>- WC, lavatory, mirror, signage, dispensers = Program Access</a:t>
            </a:r>
          </a:p>
          <a:p>
            <a:r>
              <a:t>  (1968 construction date, no alteration to those elements).</a:t>
            </a:r>
          </a:p>
          <a:p>
            <a:r>
              <a:t>- Grab bars = 2010 ADA (altered 2018).</a:t>
            </a:r>
          </a:p>
          <a:p/>
          <a:p>
            <a:r>
              <a:t>This means the reviewer can issue a finding ONLY on the grab bars</a:t>
            </a:r>
          </a:p>
          <a:p>
            <a:r>
              <a:t>(if they don't meet 2010 ADA 609.4 / 604.5). The reviewer CANNOT</a:t>
            </a:r>
          </a:p>
          <a:p>
            <a:r>
              <a:t>issue findings on the WC seat height or lavatory rim under any</a:t>
            </a:r>
          </a:p>
          <a:p>
            <a:r>
              <a:t>standard — those elements remain Program Access.</a:t>
            </a:r>
          </a:p>
          <a:p/>
          <a:p>
            <a:r>
              <a:t>The "whole room" exception: if the LEA gutted the entire restroom in</a:t>
            </a:r>
          </a:p>
          <a:p>
            <a:r>
              <a:t>2018 (toilet, lav, walls, plumbing), the WHOLE room becomes 2010 ADA.</a:t>
            </a:r>
          </a:p>
          <a:p>
            <a:r>
              <a:t>That's the difference between an "element alteration" and a "room</a:t>
            </a:r>
          </a:p>
          <a:p>
            <a:r>
              <a:t>alteration." Look at the scope of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kind of campus you will actually walk. Most CA schools are</a:t>
            </a:r>
          </a:p>
          <a:p>
            <a:r>
              <a:t>mixed-era. The reviewer's job is to keep the standards straight</a:t>
            </a:r>
          </a:p>
          <a:p>
            <a:r>
              <a:t>ELEMENT BY ELEMENT — not building by building.</a:t>
            </a:r>
          </a:p>
          <a:p/>
          <a:p>
            <a:r>
              <a:t>Key teaching moments per row:</a:t>
            </a:r>
          </a:p>
          <a:p/>
          <a:p>
            <a:r>
              <a:t>Row 4 (Culinary 2014): whole BUILDING is new construction → entire</a:t>
            </a:r>
          </a:p>
          <a:p>
            <a:r>
              <a:t>building under 2010 ADA. Every element. This is the only kind of</a:t>
            </a:r>
          </a:p>
          <a:p>
            <a:r>
              <a:t>"whole building" answer that's clean.</a:t>
            </a:r>
          </a:p>
          <a:p/>
          <a:p>
            <a:r>
              <a:t>Row 5 (parking-lot striping): striping is itself an accessibility</a:t>
            </a:r>
          </a:p>
          <a:p>
            <a:r>
              <a:t>ELEMENT. Restriping in 2022 makes the striping subject to 2010 ADA</a:t>
            </a:r>
          </a:p>
          <a:p>
            <a:r>
              <a:t>502.3.3 (van aisle), 502.6 (ISA), etc. The pavement, vertical clearance,</a:t>
            </a:r>
          </a:p>
          <a:p>
            <a:r>
              <a:t>and route surface continue to be 1962 elements unless those were also</a:t>
            </a:r>
          </a:p>
          <a:p>
            <a:r>
              <a:t>altered.</a:t>
            </a:r>
          </a:p>
          <a:p/>
          <a:p>
            <a:r>
              <a:t>Row 6 (restrooms — GUTTED): the whole-room rule applies — entire</a:t>
            </a:r>
          </a:p>
          <a:p>
            <a:r>
              <a:t>restroom rebuilt in 2019 = entire restroom under 2010 ADA.</a:t>
            </a:r>
          </a:p>
          <a:p/>
          <a:p>
            <a:r>
              <a:t>Row 8 (locker-room grab bars): contrast with row 6. Only the bars were</a:t>
            </a:r>
          </a:p>
          <a:p>
            <a:r>
              <a:t>swapped. The bars become 2010 ADA (must meet 609.4). The toilet,</a:t>
            </a:r>
          </a:p>
          <a:p>
            <a:r>
              <a:t>lavatory, mirror, and stall geometry remain 1962 elements → Program</a:t>
            </a:r>
          </a:p>
          <a:p>
            <a:r>
              <a:t>Access. Reviewer can issue a finding ONLY on the bars; cannot issue</a:t>
            </a:r>
          </a:p>
          <a:p>
            <a:r>
              <a:t>findings on the toilet seat height under any standard.</a:t>
            </a:r>
          </a:p>
          <a:p/>
          <a:p>
            <a:r>
              <a:t>This is the rule the user MUST internalize before walking a site.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example is the inverse of the previous one. A 1958 building with</a:t>
            </a:r>
          </a:p>
          <a:p>
            <a:r>
              <a:t>clear physical barriers, but no findings can be issued.</a:t>
            </a:r>
          </a:p>
          <a:p/>
          <a:p>
            <a:r>
              <a:t>The pushback from new reviewers is always: 'But students can't use that</a:t>
            </a:r>
          </a:p>
          <a:p>
            <a:r>
              <a:t>ramp.' That is correct, and that is exactly what program-access analysis</a:t>
            </a:r>
          </a:p>
          <a:p>
            <a:r>
              <a:t>is designed to address — by relocating the program, not by citing a</a:t>
            </a:r>
          </a:p>
          <a:p>
            <a:r>
              <a:t>standard that doesn't apply.</a:t>
            </a:r>
          </a:p>
          <a:p/>
          <a:p>
            <a:r>
              <a:t>Tell the class: if the LEA cannot demonstrate program access by other</a:t>
            </a:r>
          </a:p>
          <a:p>
            <a:r>
              <a:t>means, the reviewer recommends relocation in the LOF narrative. The</a:t>
            </a:r>
          </a:p>
          <a:p>
            <a:r>
              <a:t>reviewer does NOT cite a dimensional standard against a 1958 building.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(do not reveal until the class commits to an answer):</a:t>
            </a:r>
          </a:p>
          <a:p/>
          <a:p>
            <a:r>
              <a:t>A. Two standards in one building. Original 1972 gym = ANSI A117.1 (still</a:t>
            </a:r>
          </a:p>
          <a:p>
            <a:r>
              <a:t>   reads "PROGRAM ACCESS" if you go by the simpler dichotomy, but</a:t>
            </a:r>
          </a:p>
          <a:p>
            <a:r>
              <a:t>   technically the 1972 build date puts it in the ANSI window — wait,</a:t>
            </a:r>
          </a:p>
          <a:p>
            <a:r>
              <a:t>   1972 is BEFORE June 4, 1977 so it is PROGRAM ACCESS). The locker</a:t>
            </a:r>
          </a:p>
          <a:p>
            <a:r>
              <a:t>   rooms gutted in 2017 = 2010 ADA.</a:t>
            </a:r>
          </a:p>
          <a:p/>
          <a:p>
            <a:r>
              <a:t>   CORRECT: Gym building = Program Access (built before June 4, 1977).</a:t>
            </a:r>
          </a:p>
          <a:p>
            <a:r>
              <a:t>   Locker rooms (rebuilt 2017) = 2010 ADA.</a:t>
            </a:r>
          </a:p>
          <a:p/>
          <a:p>
            <a:r>
              <a:t>B. 1995 build, no alterations = 1991 ADA / ADAAG.</a:t>
            </a:r>
          </a:p>
          <a:p/>
          <a:p>
            <a:r>
              <a:t>C. 1965 building = Program Access. Parking lot restriped in 2024 = 2010</a:t>
            </a:r>
          </a:p>
          <a:p>
            <a:r>
              <a:t>   ADA for the parking lot. The wood shop building itself remains</a:t>
            </a:r>
          </a:p>
          <a:p>
            <a:r>
              <a:t>   Program Access.</a:t>
            </a:r>
          </a:p>
          <a:p/>
          <a:p>
            <a:r>
              <a:t>D. September 15, 2010 to March 14, 2012 is the overlap window. If the</a:t>
            </a:r>
          </a:p>
          <a:p>
            <a:r>
              <a:t>   LEA cannot document its election, the reviewer defaults to 2010 ADA</a:t>
            </a:r>
          </a:p>
          <a:p>
            <a:r>
              <a:t>   (the more stringent of the two).</a:t>
            </a:r>
          </a:p>
          <a:p/>
          <a:p>
            <a:r>
              <a:t>Common error on A: students will say "the gym is 1972 so use ANSI." Walk</a:t>
            </a:r>
          </a:p>
          <a:p>
            <a:r>
              <a:t>them through the date table — 1972 is BEFORE June 4, 1977, so it is</a:t>
            </a:r>
          </a:p>
          <a:p>
            <a:r>
              <a:t>Program Access. ANSI starts at June 4, 1977.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regulation aloud — slowly. "Viewed in its entirety" and</a:t>
            </a:r>
          </a:p>
          <a:p>
            <a:r>
              <a:t>"readily accessible" are the operative phrases. They mean: the program</a:t>
            </a:r>
          </a:p>
          <a:p>
            <a:r>
              <a:t>must be accessible, the building need not be.</a:t>
            </a:r>
          </a:p>
          <a:p/>
          <a:p>
            <a:r>
              <a:t>This is the doctrinal heart of why Program Access does not yield</a:t>
            </a:r>
          </a:p>
          <a:p>
            <a:r>
              <a:t>findings. There is no measurable code to cite. A reviewer cannot write</a:t>
            </a:r>
          </a:p>
          <a:p>
            <a:r>
              <a:t>"violation: handrail at 30 inches" against a 1965 building, because the</a:t>
            </a:r>
          </a:p>
          <a:p>
            <a:r>
              <a:t>controlling regulation does not specify a handrail height. The</a:t>
            </a:r>
          </a:p>
          <a:p>
            <a:r>
              <a:t>regulation specifies a program-level outcome.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priority order matters. OCR (and CDE OEO) expect LEAs to consider</a:t>
            </a:r>
          </a:p>
          <a:p>
            <a:r>
              <a:t>the cheaper, non-structural methods first. A district that jumps</a:t>
            </a:r>
          </a:p>
          <a:p>
            <a:r>
              <a:t>straight to "we'll build a new ramp" without considering whether the</a:t>
            </a:r>
          </a:p>
          <a:p>
            <a:r>
              <a:t>section could be moved to an already-accessible building has not done</a:t>
            </a:r>
          </a:p>
          <a:p>
            <a:r>
              <a:t>program-access analysis.</a:t>
            </a:r>
          </a:p>
          <a:p/>
          <a:p>
            <a:r>
              <a:t>For the LOF narrative, if you find that an LEA has not done a</a:t>
            </a:r>
          </a:p>
          <a:p>
            <a:r>
              <a:t>program-access analysis for an old building, the correct framing is:</a:t>
            </a:r>
          </a:p>
          <a:p>
            <a:r>
              <a:t>"The LEA has not demonstrated program access for [building] under</a:t>
            </a:r>
          </a:p>
          <a:p>
            <a:r>
              <a:t>34 CFR § 104.22. Within 45 days, conduct and document a program-access</a:t>
            </a:r>
          </a:p>
          <a:p>
            <a:r>
              <a:t>analysis identifying which method (relocation, reassignment, auxiliary</a:t>
            </a:r>
          </a:p>
          <a:p>
            <a:r>
              <a:t>aids, or structural alteration) will provide access to the program."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rule is etched into the CRR procedures manual and the CRR 20</a:t>
            </a:r>
          </a:p>
          <a:p>
            <a:r>
              <a:t>boilerplate — it is non-negotiable:</a:t>
            </a:r>
          </a:p>
          <a:p>
            <a:r>
              <a:t>"Program Access → ALWAYS None. / None." That language came from us.</a:t>
            </a:r>
          </a:p>
          <a:p>
            <a:r>
              <a:t>Every reviewer must internalize it.</a:t>
            </a:r>
          </a:p>
          <a:p/>
          <a:p>
            <a:r>
              <a:t>If a reviewer writes a finding against a Program Access row, the</a:t>
            </a:r>
          </a:p>
          <a:p>
            <a:r>
              <a:t>reviewer's lead will reject the LOF and send it back for revision. Save</a:t>
            </a:r>
          </a:p>
          <a:p>
            <a:r>
              <a:t>everyone time by getting this right the first time.</a:t>
            </a:r>
          </a:p>
          <a:p/>
          <a:p>
            <a:r>
              <a:t>If the reviewer observes a barrier in a pre-1977 building and is</a:t>
            </a:r>
          </a:p>
          <a:p>
            <a:r>
              <a:t>concerned that the program is not accessible, the correct mechanism is</a:t>
            </a:r>
          </a:p>
          <a:p>
            <a:r>
              <a:t>the LOF narrative section — recommend a documented program-access plan,</a:t>
            </a:r>
          </a:p>
          <a:p>
            <a:r>
              <a:t>not a dimensional finding.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C.</a:t>
            </a:r>
          </a:p>
          <a:p/>
          <a:p>
            <a:r>
              <a:t>A 1969 building falls in the Program Access window (≤ June 3, 1977). No</a:t>
            </a:r>
          </a:p>
          <a:p>
            <a:r>
              <a:t>dimensional standard applies. ANSI starts June 4, 1977, so option B is</a:t>
            </a:r>
          </a:p>
          <a:p>
            <a:r>
              <a:t>wrong — 1969 is before that date.</a:t>
            </a:r>
          </a:p>
          <a:p/>
          <a:p>
            <a:r>
              <a:t>Common wrong answers:</a:t>
            </a:r>
          </a:p>
          <a:p>
            <a:r>
              <a:t>- A is the most tempting wrong answer because the field conditions LOOK</a:t>
            </a:r>
          </a:p>
          <a:p>
            <a:r>
              <a:t>  like 2010 ADA violations. They are not. The 2010 ADA does not apply</a:t>
            </a:r>
          </a:p>
          <a:p>
            <a:r>
              <a:t>  retroactively to a 1969 building.</a:t>
            </a:r>
          </a:p>
          <a:p>
            <a:r>
              <a:t>- B is the second most common wrong answer — reviewers see "old</a:t>
            </a:r>
          </a:p>
          <a:p>
            <a:r>
              <a:t>  building" and pick "old standard." ANSI applies only from June 4,</a:t>
            </a:r>
          </a:p>
          <a:p>
            <a:r>
              <a:t>  1977 onward.</a:t>
            </a:r>
          </a:p>
          <a:p/>
          <a:p>
            <a:r>
              <a:t>The correct reviewer move: write "None." in the violation column,</a:t>
            </a:r>
          </a:p>
          <a:p>
            <a:r>
              <a:t>"None." in the corrective action column, and address the program-</a:t>
            </a:r>
          </a:p>
          <a:p>
            <a:r>
              <a:t>access concern in the narrative. Recommend the LEA conduct and</a:t>
            </a:r>
          </a:p>
          <a:p>
            <a:r>
              <a:t>document a program-access analysis for the ag building.</a:t>
            </a:r>
          </a:p>
          <a:p/>
          <a:p>
            <a:r>
              <a:t>This is the most-tested concept in the entire training. Spend 5 minutes</a:t>
            </a:r>
          </a:p>
          <a:p>
            <a:r>
              <a:t>on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"later versions don't apply" rule is critical. ANSI A117.1 has been</a:t>
            </a:r>
          </a:p>
          <a:p>
            <a:r>
              <a:t>revised many times since 1961. The §504 regulation locks in the</a:t>
            </a:r>
          </a:p>
          <a:p>
            <a:r>
              <a:t>1961-R1971 version specifically. If you cite ANSI A117.1 4.8.5 you are</a:t>
            </a:r>
          </a:p>
          <a:p>
            <a:r>
              <a:t>citing the 1961 R1971 text, not the 2017 version.</a:t>
            </a:r>
          </a:p>
          <a:p/>
          <a:p>
            <a:r>
              <a:t>This trips up architects more than reviewers. Architects working on</a:t>
            </a:r>
          </a:p>
          <a:p>
            <a:r>
              <a:t>school projects today are familiar with the 2017 ANSI standard (the</a:t>
            </a:r>
          </a:p>
          <a:p>
            <a:r>
              <a:t>current technical reference for the IBC). They are NOT designing to the</a:t>
            </a:r>
          </a:p>
          <a:p>
            <a:r>
              <a:t>1961 standard — but for §504 purposes on pre-1991 buildings, that is</a:t>
            </a:r>
          </a:p>
          <a:p>
            <a:r>
              <a:t>the only ANSI version that applies.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Reviewers will memorize these six numbers within the first few site</a:t>
            </a:r>
          </a:p>
          <a:p>
            <a:r>
              <a:t>visits. Note that several values are identical across ANSI, 1991, and</a:t>
            </a:r>
          </a:p>
          <a:p>
            <a:r>
              <a:t>2010 — that is intentional, the standards build on each other.</a:t>
            </a:r>
          </a:p>
          <a:p/>
          <a:p>
            <a:r>
              <a:t>The trap: even though the NUMBER is the same, the CITATION is not. For</a:t>
            </a:r>
          </a:p>
          <a:p>
            <a:r>
              <a:t>a 1985 building, cite ANSI 4.8.5 — not ADA 2010 505.4. The "30-inch</a:t>
            </a:r>
          </a:p>
          <a:p>
            <a:r>
              <a:t>handrail" violation is the same physical problem, but the legal hook</a:t>
            </a:r>
          </a:p>
          <a:p>
            <a:r>
              <a:t>must match the applicable standard.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observe one of these issues in an ANSI-era (1977–1991) building,</a:t>
            </a:r>
          </a:p>
          <a:p>
            <a:r>
              <a:t>the answer is NOT to cite the 2010 ADA section. ANSI is silent on these</a:t>
            </a:r>
          </a:p>
          <a:p>
            <a:r>
              <a:t>items; therefore there is no violation under §504 for those buildings.</a:t>
            </a:r>
          </a:p>
          <a:p/>
          <a:p>
            <a:r>
              <a:t>These are the gaps that get reviewers in trouble. New reviewers see a</a:t>
            </a:r>
          </a:p>
          <a:p>
            <a:r>
              <a:t>1980s building with no truncated domes and want to write it up. They</a:t>
            </a:r>
          </a:p>
          <a:p>
            <a:r>
              <a:t>cannot. ANSI 1961 does not require truncated domes.</a:t>
            </a:r>
          </a:p>
          <a:p/>
          <a:p>
            <a:r>
              <a:t>If the building has been ALTERED to add (for example) new curb ramps in</a:t>
            </a:r>
          </a:p>
          <a:p>
            <a:r>
              <a:t>2018, the altered curb ramps are evaluated under 2010 ADA and detectable</a:t>
            </a:r>
          </a:p>
          <a:p>
            <a:r>
              <a:t>warnings ARE required — but only on the altered element, not on the</a:t>
            </a:r>
          </a:p>
          <a:p>
            <a:r>
              <a:t>original building.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UFAS is the standard most reviewers never use. It exists in the table</a:t>
            </a:r>
          </a:p>
          <a:p>
            <a:r>
              <a:t>because §504 specifically incorporates it, but in practice you'll see</a:t>
            </a:r>
          </a:p>
          <a:p>
            <a:r>
              <a:t>fewer than 1 in 50 reviews with a UFAS-controlled element.</a:t>
            </a:r>
          </a:p>
          <a:p/>
          <a:p>
            <a:r>
              <a:t>If a self-assessment shows a building constructed in 1991, check the</a:t>
            </a:r>
          </a:p>
          <a:p>
            <a:r>
              <a:t>month carefully. January 18 is the cutoff — anything built or</a:t>
            </a:r>
          </a:p>
          <a:p>
            <a:r>
              <a:t>altered on or before January 17, 1991 is ANSI. From January 18, 1991</a:t>
            </a:r>
          </a:p>
          <a:p>
            <a:r>
              <a:t>through January 26, 1992 is UFAS. From January 27, 1992 onward is</a:t>
            </a:r>
          </a:p>
          <a:p>
            <a:r>
              <a:t>1991 ADA.</a:t>
            </a:r>
          </a:p>
          <a:p/>
          <a:p>
            <a:r>
              <a:t>The departure rule (departures permitted where equivalent access is</a:t>
            </a:r>
          </a:p>
          <a:p>
            <a:r>
              <a:t>provided) is one reason UFAS is less prescriptive than the ADA</a:t>
            </a:r>
          </a:p>
          <a:p>
            <a:r>
              <a:t>standards. Cite this rule when an LEA argues their UFAS-era building</a:t>
            </a:r>
          </a:p>
          <a:p>
            <a:r>
              <a:t>provides equivalent access by alternate means.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Reviewers don't need to memorize UFAS dimensions — they're nearly</a:t>
            </a:r>
          </a:p>
          <a:p>
            <a:r>
              <a:t>identical to 1991 ADA for the most common areas. If you encounter a</a:t>
            </a:r>
          </a:p>
          <a:p>
            <a:r>
              <a:t>UFAS-controlled element, look it up.</a:t>
            </a:r>
          </a:p>
          <a:p/>
          <a:p>
            <a:r>
              <a:t>The departure provision is the practical difference. An LEA can argue</a:t>
            </a:r>
          </a:p>
          <a:p>
            <a:r>
              <a:t>that a UFAS-era element provides equivalent access through alternate</a:t>
            </a:r>
          </a:p>
          <a:p>
            <a:r>
              <a:t>design. That argument does not extend to 1991 or 2010 ADA elements,</a:t>
            </a:r>
          </a:p>
          <a:p>
            <a:r>
              <a:t>which require strict compliance.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1991 ADA is what controls the bulk of California school construction</a:t>
            </a:r>
          </a:p>
          <a:p>
            <a:r>
              <a:t>from the 1990s and 2000s — a huge chunk of the CRR docket. Reviewers</a:t>
            </a:r>
          </a:p>
          <a:p>
            <a:r>
              <a:t>will cite this standard most days.</a:t>
            </a:r>
          </a:p>
          <a:p/>
          <a:p>
            <a:r>
              <a:t>ADAAG (the Accessibility Guidelines) is the original 1991 document.</a:t>
            </a:r>
          </a:p>
          <a:p>
            <a:r>
              <a:t>Some practitioners say "1991 ADA Standards" — same document. The DOJ</a:t>
            </a:r>
          </a:p>
          <a:p>
            <a:r>
              <a:t>adopted ADAAG as the 1991 Standards.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reference slide. Reviewers will refer back to it constantly</a:t>
            </a:r>
          </a:p>
          <a:p>
            <a:r>
              <a:t>during a 1991 ADA-era review. Many of these numbers carry forward</a:t>
            </a:r>
          </a:p>
          <a:p>
            <a:r>
              <a:t>unchanged to 2010 ADA — but the citation numbers do not (see next</a:t>
            </a:r>
          </a:p>
          <a:p>
            <a:r>
              <a:t>slide).</a:t>
            </a:r>
          </a:p>
          <a:p/>
          <a:p>
            <a:r>
              <a:t>Tell the class: when you cite, always include the standard year AND the</a:t>
            </a:r>
          </a:p>
          <a:p>
            <a:r>
              <a:t>section. "ADA 1991 4.13.5" — not just "4.13.5."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answers:</a:t>
            </a:r>
          </a:p>
          <a:p/>
          <a:p>
            <a:r>
              <a:t>Standard applies: 1991 ADA (built 1998, no accessibility-affecting</a:t>
            </a:r>
          </a:p>
          <a:p>
            <a:r>
              <a:t>alterations).</a:t>
            </a:r>
          </a:p>
          <a:p/>
          <a:p>
            <a:r>
              <a:t>Violation 1 (counter): Counter prep surface measured at 38" above the</a:t>
            </a:r>
          </a:p>
          <a:p>
            <a:r>
              <a:t>floor exceeds the 34" maximum specified in 1991 ADA 7.2.</a:t>
            </a:r>
          </a:p>
          <a:p>
            <a:r>
              <a:t>Cite: 1991 ADA 7.2 (Counters).</a:t>
            </a:r>
          </a:p>
          <a:p/>
          <a:p>
            <a:r>
              <a:t>Violation 2 (signage): ISA signage centerline measured at 44" above</a:t>
            </a:r>
          </a:p>
          <a:p>
            <a:r>
              <a:t>the floor is below the required 48"–60" mounting height range</a:t>
            </a:r>
          </a:p>
          <a:p>
            <a:r>
              <a:t>specified in 1991 ADA 4.30.6.</a:t>
            </a:r>
          </a:p>
          <a:p>
            <a:r>
              <a:t>Cite: 1991 ADA 4.30.6 (Mounting Location and Height).</a:t>
            </a:r>
          </a:p>
          <a:p/>
          <a:p>
            <a:r>
              <a:t>Violation 3 (door): Door clear width measured at 31" is below the</a:t>
            </a:r>
          </a:p>
          <a:p>
            <a:r>
              <a:t>32" minimum specified in 1991 ADA 4.13.5.</a:t>
            </a:r>
          </a:p>
          <a:p>
            <a:r>
              <a:t>Cite: 1991 ADA 4.13.5 (Clear Width).</a:t>
            </a:r>
          </a:p>
          <a:p/>
          <a:p>
            <a:r>
              <a:t>Common errors:</a:t>
            </a:r>
          </a:p>
          <a:p>
            <a:r>
              <a:t>- Citing 2010 ADA. The building is 1998, no alterations — 2010 ADA</a:t>
            </a:r>
          </a:p>
          <a:p>
            <a:r>
              <a:t>  does not retroactively apply.</a:t>
            </a:r>
          </a:p>
          <a:p>
            <a:r>
              <a:t>- Citing only one cite when multiple violations exist. Each</a:t>
            </a:r>
          </a:p>
          <a:p>
            <a:r>
              <a:t>  measurement is its own line in the violation column.</a:t>
            </a:r>
          </a:p>
          <a:p>
            <a:r>
              <a:t>- Forgetting the standard year. "4.13.5" is ambiguous — is it 1991</a:t>
            </a:r>
          </a:p>
          <a:p>
            <a:r>
              <a:t>  ADA or 2010 ADA? Always include the year.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2010 standard is the most-cited standard on the CRR docket — nearly</a:t>
            </a:r>
          </a:p>
          <a:p>
            <a:r>
              <a:t>every alteration or new build since 2012 falls here, and the safe-harbor</a:t>
            </a:r>
          </a:p>
          <a:p>
            <a:r>
              <a:t>rule sometimes works in reverse (an LEA argues "we already complied with</a:t>
            </a:r>
          </a:p>
          <a:p>
            <a:r>
              <a:t>1991 ADA and have not altered the element, so 2010 ADA does not require</a:t>
            </a:r>
          </a:p>
          <a:p>
            <a:r>
              <a:t>retrofit"). The reviewer's response: confirm the 1991 compliance with</a:t>
            </a:r>
          </a:p>
          <a:p>
            <a:r>
              <a:t>field measurements; if it complies, no finding; if not, the element was</a:t>
            </a:r>
          </a:p>
          <a:p>
            <a:r>
              <a:t>never compliant and the finding stands under 1991.</a:t>
            </a:r>
          </a:p>
          <a:p/>
          <a:p>
            <a:r>
              <a:t>Make sure reviewers understand "safe harbor" doesn't mean "exempt from</a:t>
            </a:r>
          </a:p>
          <a:p>
            <a:r>
              <a:t>ADA." It means "deemed-compliant-as-of-1991 until next alteration."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Reach ranges sound simple but are easy to mis-measure on site. The</a:t>
            </a:r>
          </a:p>
          <a:p>
            <a:r>
              <a:t>measurement is to the OPERABLE PART of the control — the lever on a</a:t>
            </a:r>
          </a:p>
          <a:p>
            <a:r>
              <a:t>faucet, the slot in a paper-towel dispenser, the centerline of a switch</a:t>
            </a:r>
          </a:p>
          <a:p>
            <a:r>
              <a:t>plate. Reviewers should bring a tape measure long enough to measure</a:t>
            </a:r>
          </a:p>
          <a:p>
            <a:r>
              <a:t>from floor to control (typically 5–6 feet).</a:t>
            </a:r>
          </a:p>
          <a:p/>
          <a:p>
            <a:r>
              <a:t>In CTE classrooms, watch for items mounted on the rear of deep counters</a:t>
            </a:r>
          </a:p>
          <a:p>
            <a:r>
              <a:t>(welding setups, lab benches). These often exceed the 24-25" obstructed</a:t>
            </a:r>
          </a:p>
          <a:p>
            <a:r>
              <a:t>reach depths and can never be reached.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floor space is the single most-tested spec because almost every</a:t>
            </a:r>
          </a:p>
          <a:p>
            <a:r>
              <a:t>accessible element requires one. In CTE classrooms, clear floor space</a:t>
            </a:r>
          </a:p>
          <a:p>
            <a:r>
              <a:t>in front of welding booths, lab benches, and cooktops is often blocked</a:t>
            </a:r>
          </a:p>
          <a:p>
            <a:r>
              <a:t>by equipment, storage carts, or task lighting. Measure with the room</a:t>
            </a:r>
          </a:p>
          <a:p>
            <a:r>
              <a:t>in its "real-world" configuration, not staged for the review.</a:t>
            </a:r>
          </a:p>
          <a:p/>
          <a:p>
            <a:r>
              <a:t>Turning space requirements scale up in CTE labs — accessible workstations</a:t>
            </a:r>
          </a:p>
          <a:p>
            <a:r>
              <a:t>often need both forward approach (with knee/toe clearance under) and a</a:t>
            </a:r>
          </a:p>
          <a:p>
            <a:r>
              <a:t>nearby turning space.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Ramp findings are among the most common in CRR 20 / 21. Common errors</a:t>
            </a:r>
          </a:p>
          <a:p>
            <a:r>
              <a:t>the reviewer will see:</a:t>
            </a:r>
          </a:p>
          <a:p/>
          <a:p>
            <a:r>
              <a:t>1. Running slope just over 1:12. Often 1:10 or 1:11. The LEA says</a:t>
            </a:r>
          </a:p>
          <a:p>
            <a:r>
              <a:t>   "close enough" — it isn't. Cite the section.</a:t>
            </a:r>
          </a:p>
          <a:p>
            <a:r>
              <a:t>2. Cross slope creep. The 2% (1:48) tolerance is small and often</a:t>
            </a:r>
          </a:p>
          <a:p>
            <a:r>
              <a:t>   exceeded by drainage requirements. Measure across the ramp width.</a:t>
            </a:r>
          </a:p>
          <a:p>
            <a:r>
              <a:t>3. Missing landings — especially at door swings or directional</a:t>
            </a:r>
          </a:p>
          <a:p>
            <a:r>
              <a:t>   changes. Need 60" minimum, level (max 2% in any direction).</a:t>
            </a:r>
          </a:p>
          <a:p>
            <a:r>
              <a:t>4. Handrail extensions missing or wrong direction. Need 12" beyond</a:t>
            </a:r>
          </a:p>
          <a:p>
            <a:r>
              <a:t>   top and bottom of the ramp run, parallel to the floor at the</a:t>
            </a:r>
          </a:p>
          <a:p>
            <a:r>
              <a:t>   bottom.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Signage is the most-cited element in CRR 20 because it's checked at</a:t>
            </a:r>
          </a:p>
          <a:p>
            <a:r>
              <a:t>every door. Common failures:</a:t>
            </a:r>
          </a:p>
          <a:p>
            <a:r>
              <a:t>- Signs mounted at 66" (too high — over 60" to baseline of tactile).</a:t>
            </a:r>
          </a:p>
          <a:p>
            <a:r>
              <a:t>- Signs on the hinge side instead of the latch side.</a:t>
            </a:r>
          </a:p>
          <a:p>
            <a:r>
              <a:t>- Signs on a double-leaf door (not permitted — only single-leaf).</a:t>
            </a:r>
          </a:p>
          <a:p>
            <a:r>
              <a:t>- Missing Braille adjacent to tactile characters.</a:t>
            </a:r>
          </a:p>
          <a:p>
            <a:r>
              <a:t>- ISA size below 6" at room entries.</a:t>
            </a:r>
          </a:p>
          <a:p/>
          <a:p>
            <a:r>
              <a:t>Reviewers should measure the BASELINE of the tactile characters, not</a:t>
            </a:r>
          </a:p>
          <a:p>
            <a:r>
              <a:t>the top of the sign. A common mistake is measuring to the top of the</a:t>
            </a:r>
          </a:p>
          <a:p>
            <a:r>
              <a:t>sign panel; that produces a wrong reading and a wrong finding.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Restrooms account for the largest share of CRR 20 findings — they have</a:t>
            </a:r>
          </a:p>
          <a:p>
            <a:r>
              <a:t>the most elements and the tightest dimensional tolerances. New</a:t>
            </a:r>
          </a:p>
          <a:p>
            <a:r>
              <a:t>reviewers should plan to spend 20-30 minutes per restroom.</a:t>
            </a:r>
          </a:p>
          <a:p/>
          <a:p>
            <a:r>
              <a:t>Order of operations for measuring a restroom: walk in, find the</a:t>
            </a:r>
          </a:p>
          <a:p>
            <a:r>
              <a:t>accessible stall, measure stall dimensions, measure grab bar location</a:t>
            </a:r>
          </a:p>
          <a:p>
            <a:r>
              <a:t>and height, measure TP dispenser, measure lavatory height + knee</a:t>
            </a:r>
          </a:p>
          <a:p>
            <a:r>
              <a:t>clearance, measure mirror bottom edge, measure soap/towel reach,</a:t>
            </a:r>
          </a:p>
          <a:p>
            <a:r>
              <a:t>measure door clear width on the way out.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Parking is foundational. If parking is wrong, the entire accessible-route</a:t>
            </a:r>
          </a:p>
          <a:p>
            <a:r>
              <a:t>analysis fails — the student can't get from the lot to the building.</a:t>
            </a:r>
          </a:p>
          <a:p/>
          <a:p>
            <a:r>
              <a:t>The 502.4 surface slope rule (2% maximum in ANY direction) is one of the</a:t>
            </a:r>
          </a:p>
          <a:p>
            <a:r>
              <a:t>most-violated specs. Drainage requirements often push parking slopes</a:t>
            </a:r>
          </a:p>
          <a:p>
            <a:r>
              <a:t>above 2%. Measure with a digital level in both directions; record the</a:t>
            </a:r>
          </a:p>
          <a:p>
            <a:r>
              <a:t>worst-case slope.</a:t>
            </a:r>
          </a:p>
          <a:p/>
          <a:p>
            <a:r>
              <a:t>The 1-in-N pattern continues above 500 spaces — 1 van-accessible per 6</a:t>
            </a:r>
          </a:p>
          <a:p>
            <a:r>
              <a:t>accessible spaces. Most CA high schools have 100-300 spaces in the main</a:t>
            </a:r>
          </a:p>
          <a:p>
            <a:r>
              <a:t>lot.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Parking surface slope 2.4% — VIOLATION. 2010 ADA 502.4 caps surface</a:t>
            </a:r>
          </a:p>
          <a:p>
            <a:r>
              <a:t>   slope at 2% in any direction. Cite 502.4.</a:t>
            </a:r>
          </a:p>
          <a:p>
            <a:r>
              <a:t>2. Coat hook at 47" — COMPLIANT. 2010 ADA 308.2.1 allows up to 48"</a:t>
            </a:r>
          </a:p>
          <a:p>
            <a:r>
              <a:t>   forward reach.</a:t>
            </a:r>
          </a:p>
          <a:p>
            <a:r>
              <a:t>3. Toilet seat 16" — VIOLATION. 2010 ADA 604.4 requires 17"–19".</a:t>
            </a:r>
          </a:p>
          <a:p>
            <a:r>
              <a:t>   Cite 604.4.</a:t>
            </a:r>
          </a:p>
          <a:p>
            <a:r>
              <a:t>4. Door clear width 34" — COMPLIANT. 2010 ADA 404.2.3 requires</a:t>
            </a:r>
          </a:p>
          <a:p>
            <a:r>
              <a:t>   minimum 32". 34" exceeds the minimum.</a:t>
            </a:r>
          </a:p>
          <a:p>
            <a:r>
              <a:t>5. Ramp slope 1:14 — COMPLIANT. 2010 ADA 405.2 requires max 1:12,</a:t>
            </a:r>
          </a:p>
          <a:p>
            <a:r>
              <a:t>   meaning slope cannot be STEEPER than 1:12. 1:14 is shallower</a:t>
            </a:r>
          </a:p>
          <a:p>
            <a:r>
              <a:t>   (gentler) and is fine.</a:t>
            </a:r>
          </a:p>
          <a:p>
            <a:r>
              <a:t>6. ISA tactile baseline 62" — VIOLATION. 2010 ADA 703.4.1 requires</a:t>
            </a:r>
          </a:p>
          <a:p>
            <a:r>
              <a:t>   48"–60" baseline. 62" exceeds the maximum.</a:t>
            </a:r>
          </a:p>
          <a:p/>
          <a:p>
            <a:r>
              <a:t>Most common errors:</a:t>
            </a:r>
          </a:p>
          <a:p>
            <a:r>
              <a:t>- #5 confuses students. "1:14 is bigger than 1:12, so it's worse, right?"</a:t>
            </a:r>
          </a:p>
          <a:p>
            <a:r>
              <a:t>  No — ramp slope is rise over run. 1:14 means 1" rise per 14" run, which</a:t>
            </a:r>
          </a:p>
          <a:p>
            <a:r>
              <a:t>  is gentler than 1" rise per 12" run. The MAXIMUM steepness is 1:12.</a:t>
            </a:r>
          </a:p>
          <a:p>
            <a:r>
              <a:t>- #4 is also commonly missed. Minimums work in the opposite direction</a:t>
            </a:r>
          </a:p>
          <a:p>
            <a:r>
              <a:t>  from maximums. 34" exceeds the 32" minimum, so it complies.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out a one-page print of this slide. Reviewers will tab back to it</a:t>
            </a:r>
          </a:p>
          <a:p>
            <a:r>
              <a:t>constantly. Note the cites are 2010 ADA only — for 1991 ADA buildings,</a:t>
            </a:r>
          </a:p>
          <a:p>
            <a:r>
              <a:t>look up the corresponding section (most carry over with similar numbers</a:t>
            </a:r>
          </a:p>
          <a:p>
            <a:r>
              <a:t>but different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Door findings are the second-most common after restrooms. The "32"</a:t>
            </a:r>
          </a:p>
          <a:p>
            <a:r>
              <a:t>clear width" rule sounds simple but is measured at the door at 90°,</a:t>
            </a:r>
          </a:p>
          <a:p>
            <a:r>
              <a:t>between the face of the door and the stop on the latch side. With a</a:t>
            </a:r>
          </a:p>
          <a:p>
            <a:r>
              <a:t>standard 36" door, you usually have 33-34" clear — but with a thick</a:t>
            </a:r>
          </a:p>
          <a:p>
            <a:r>
              <a:t>weatherstrip or a swung door that doesn't open fully, you can lose</a:t>
            </a:r>
          </a:p>
          <a:p>
            <a:r>
              <a:t>those inches.</a:t>
            </a:r>
          </a:p>
          <a:p/>
          <a:p>
            <a:r>
              <a:t>Maneuvering clearance is where push vs pull doors trip people up.</a:t>
            </a:r>
          </a:p>
          <a:p>
            <a:r>
              <a:t>Pull-side needs 18" past the latch; push-side needs 12" when there is</a:t>
            </a:r>
          </a:p>
          <a:p>
            <a:r>
              <a:t>a closer. New reviewers often forget the closer condition.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out the tape measure for this slide. Walk through how to measure</a:t>
            </a:r>
          </a:p>
          <a:p>
            <a:r>
              <a:t>each one. Critical:</a:t>
            </a:r>
          </a:p>
          <a:p/>
          <a:p>
            <a:r>
              <a:t>- WC centerline is measured to the centerline of the WATER CLOSET, not</a:t>
            </a:r>
          </a:p>
          <a:p>
            <a:r>
              <a:t>  the centerline of the stall.</a:t>
            </a:r>
          </a:p>
          <a:p>
            <a:r>
              <a:t>- Side grab bar "offset" 12" max from rear means the leading edge of</a:t>
            </a:r>
          </a:p>
          <a:p>
            <a:r>
              <a:t>  the bar is no more than 12" from the rear wall — and the bar</a:t>
            </a:r>
          </a:p>
          <a:p>
            <a:r>
              <a:t>  extends 42" toward the door from there.</a:t>
            </a:r>
          </a:p>
          <a:p>
            <a:r>
              <a:t>- TP dispenser "7-9" in front of WC" is measured from the front edge</a:t>
            </a:r>
          </a:p>
          <a:p>
            <a:r>
              <a:t>  of the seat to the centerline of the dispenser roll.</a:t>
            </a:r>
          </a:p>
          <a:p>
            <a:r>
              <a:t>- Coat hook reach is total HEIGHT from floor, not depth.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reference slides done. These are intentionally information-dense</a:t>
            </a:r>
          </a:p>
          <a:p>
            <a:r>
              <a:t>— hand them out as a print packet for site visits. Reviewers should</a:t>
            </a:r>
          </a:p>
          <a:p>
            <a:r>
              <a:t>plan to refer to them many times before they internalize the numbers.</a:t>
            </a:r>
          </a:p>
          <a:p/>
          <a:p>
            <a:r>
              <a:t>Counters: the cafeteria tray-slide is a frequent issue. Required max</a:t>
            </a:r>
          </a:p>
          <a:p>
            <a:r>
              <a:t>34" — many CTE-affiliated school kitchens have 36"–38" tray slides</a:t>
            </a:r>
          </a:p>
          <a:p>
            <a:r>
              <a:t>from older renovations.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CA high school is required to offer at least one CTE pathway, and</a:t>
            </a:r>
          </a:p>
          <a:p>
            <a:r>
              <a:t>most offer four or more. The CRR queue is dominated by Manufacturing,</a:t>
            </a:r>
          </a:p>
          <a:p>
            <a:r>
              <a:t>Building &amp; Construction Trades, Health Science, and Hospitality —</a:t>
            </a:r>
          </a:p>
          <a:p>
            <a:r>
              <a:t>because those sectors require purpose-built shops, labs, and kitchens</a:t>
            </a:r>
          </a:p>
          <a:p>
            <a:r>
              <a:t>that have the most accessibility risk.</a:t>
            </a:r>
          </a:p>
          <a:p/>
          <a:p>
            <a:r>
              <a:t>Tell the class: when you arrive on site, find out which pathways the</a:t>
            </a:r>
          </a:p>
          <a:p>
            <a:r>
              <a:t>school offers BEFORE you walk. The Facilities Review Packet should list</a:t>
            </a:r>
          </a:p>
          <a:p>
            <a:r>
              <a:t>them. If it doesn't, ask the CTE director on arrival.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Construction shops are operationally messy by nature. The accessibility</a:t>
            </a:r>
          </a:p>
          <a:p>
            <a:r>
              <a:t>question is not "can you keep this immaculate?" — it is "is there a</a:t>
            </a:r>
          </a:p>
          <a:p>
            <a:r>
              <a:t>configuration in which a student using a wheelchair can fully</a:t>
            </a:r>
          </a:p>
          <a:p>
            <a:r>
              <a:t>participate in the curriculum?"</a:t>
            </a:r>
          </a:p>
          <a:p/>
          <a:p>
            <a:r>
              <a:t>Look for at least one fully-accessible workstation. Programs often</a:t>
            </a:r>
          </a:p>
          <a:p>
            <a:r>
              <a:t>designate one "ADA bench" and call it good — verify it actually meets</a:t>
            </a:r>
          </a:p>
          <a:p>
            <a:r>
              <a:t>reach and knee clearance specs, and verify it is reachable via an</a:t>
            </a:r>
          </a:p>
          <a:p>
            <a:r>
              <a:t>accessible route from the classroom door.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Welding bays are tightly engineered for safety and ventilation, which</a:t>
            </a:r>
          </a:p>
          <a:p>
            <a:r>
              <a:t>sometimes conflicts with access. The accessible workstation does NOT</a:t>
            </a:r>
          </a:p>
          <a:p>
            <a:r>
              <a:t>have to be welding-equipped — it can be a clean-room or layout bench</a:t>
            </a:r>
          </a:p>
          <a:p>
            <a:r>
              <a:t>that participates in the welding curriculum even if it doesn't have a</a:t>
            </a:r>
          </a:p>
          <a:p>
            <a:r>
              <a:t>torch. The question is curriculum participation, not 100% station</a:t>
            </a:r>
          </a:p>
          <a:p>
            <a:r>
              <a:t>parity.</a:t>
            </a:r>
          </a:p>
          <a:p/>
          <a:p>
            <a:r>
              <a:t>If you find a welding shop with no accessible booth and no accessible</a:t>
            </a:r>
          </a:p>
          <a:p>
            <a:r>
              <a:t>alternative workstation, that is a hard finding — students with</a:t>
            </a:r>
          </a:p>
          <a:p>
            <a:r>
              <a:t>mobility disabilities cannot participate. Cite the booth opening</a:t>
            </a:r>
          </a:p>
          <a:p>
            <a:r>
              <a:t>(404.2.3) plus the workstation knee/toe (306) and write up corrective</a:t>
            </a:r>
          </a:p>
          <a:p>
            <a:r>
              <a:t>actions for both.</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Culinary classrooms are heavily fixed-built and expensive to alter.</a:t>
            </a:r>
          </a:p>
          <a:p>
            <a:r>
              <a:t>That doesn't change the standard — a student in a wheelchair must be</a:t>
            </a:r>
          </a:p>
          <a:p>
            <a:r>
              <a:t>able to fully participate in the curriculum. Look for at least one</a:t>
            </a:r>
          </a:p>
          <a:p>
            <a:r>
              <a:t>fully-compliant prep station with knee/toe clearance, an accessible</a:t>
            </a:r>
          </a:p>
          <a:p>
            <a:r>
              <a:t>cooktop or hot plate alternate, and an accessible hand-wash sink.</a:t>
            </a:r>
          </a:p>
          <a:p/>
          <a:p>
            <a:r>
              <a:t>Common LEA pushback: "Health Code requires the equipment to be at this</a:t>
            </a:r>
          </a:p>
          <a:p>
            <a:r>
              <a:t>height." The response: cite the accessibility standard, and the LEA</a:t>
            </a:r>
          </a:p>
          <a:p>
            <a:r>
              <a:t>must reconcile with Cal/OSHA and California Retail Food Code. Both</a:t>
            </a:r>
          </a:p>
          <a:p>
            <a:r>
              <a:t>codes have accommodation mechanisms.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 buildings on California campuses are commonly pre-1977 — the</a:t>
            </a:r>
          </a:p>
          <a:p>
            <a:r>
              <a:t>program-access trap is most common here. New reviewers will see a</a:t>
            </a:r>
          </a:p>
          <a:p>
            <a:r>
              <a:t>gravel path and clearly inaccessible greenhouse and want to write up</a:t>
            </a:r>
          </a:p>
          <a:p>
            <a:r>
              <a:t>2010 ADA violations. Catch yourself: check the date. If pre-1977 and</a:t>
            </a:r>
          </a:p>
          <a:p>
            <a:r>
              <a:t>unaltered, NO findings. Document the program-access concern in the</a:t>
            </a:r>
          </a:p>
          <a:p>
            <a:r>
              <a:t>narrative.</a:t>
            </a:r>
          </a:p>
          <a:p/>
          <a:p>
            <a:r>
              <a:t>A reasonable corrective recommendation for a pre-1977 ag building: have</a:t>
            </a:r>
          </a:p>
          <a:p>
            <a:r>
              <a:t>the LEA designate an alternate accessible location for the ag</a:t>
            </a:r>
          </a:p>
          <a:p>
            <a:r>
              <a:t>curriculum, or document a program-access analysis that explains how</a:t>
            </a:r>
          </a:p>
          <a:p>
            <a:r>
              <a:t>students with mobility disabilities will participate in the program.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Science labs are usually built recently and to a high standard.</a:t>
            </a:r>
          </a:p>
          <a:p>
            <a:r>
              <a:t>Most findings here are dimensional misses, not gross access failures.</a:t>
            </a:r>
          </a:p>
          <a:p>
            <a:r>
              <a:t>That said, the curriculum is exam-driven — students must demonstrate</a:t>
            </a:r>
          </a:p>
          <a:p>
            <a:r>
              <a:t>skills, often physically — so workstation parity matters.</a:t>
            </a:r>
          </a:p>
          <a:p/>
          <a:p>
            <a:r>
              <a:t>The dental chair example is illustrative: students learning to be</a:t>
            </a:r>
          </a:p>
          <a:p>
            <a:r>
              <a:t>dental assistants work from a specific approach side. If only one chair</a:t>
            </a:r>
          </a:p>
          <a:p>
            <a:r>
              <a:t>allows an alternate approach, accessibility is constrained to that one</a:t>
            </a:r>
          </a:p>
          <a:p>
            <a:r>
              <a:t>station. Treat the rotation schedule as part of the program-access</a:t>
            </a:r>
          </a:p>
          <a:p>
            <a:r>
              <a:t>analysis: does every student get equitable time at the accessible</a:t>
            </a:r>
          </a:p>
          <a:p>
            <a:r>
              <a:t>station?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intentionally light. Reviewers are unlikely to see all</a:t>
            </a:r>
          </a:p>
          <a:p>
            <a:r>
              <a:t>fifteen sectors in their first year — but they will see most. The point</a:t>
            </a:r>
          </a:p>
          <a:p>
            <a:r>
              <a:t>is to give them a starting frame so they aren't surprised the first</a:t>
            </a:r>
          </a:p>
          <a:p>
            <a:r>
              <a:t>time they walk into a fashion-design fitting room or a fire-science</a:t>
            </a:r>
          </a:p>
          <a:p>
            <a:r>
              <a:t>training pad.</a:t>
            </a:r>
          </a:p>
          <a:p/>
          <a:p>
            <a:r>
              <a:t>If you have extra time in this segment, ask the class which sectors</a:t>
            </a:r>
          </a:p>
          <a:p>
            <a:r>
              <a:t>they've already visited or had questions about — and dive deeper there.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flips the lens. If you only train reviewers on what FAILS,</a:t>
            </a:r>
          </a:p>
          <a:p>
            <a:r>
              <a:t>they walk into compliant programs ready to find fault. Train them to</a:t>
            </a:r>
          </a:p>
          <a:p>
            <a:r>
              <a:t>recognize what SUCCEEDS so they can call out and celebrate good</a:t>
            </a:r>
          </a:p>
          <a:p>
            <a:r>
              <a:t>practice in the LOF narrative.</a:t>
            </a:r>
          </a:p>
          <a:p/>
          <a:p>
            <a:r>
              <a:t>Mobile carts deserve a callout: if the cart is in the storage closet</a:t>
            </a:r>
          </a:p>
          <a:p>
            <a:r>
              <a:t>and only rolled out for the review, that is not compliance — it must be</a:t>
            </a:r>
          </a:p>
          <a:p>
            <a:r>
              <a:t>in active use as part of the program's regular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18-row format is sacred. Every CRR 20 / 21 self-assessment, every</a:t>
            </a:r>
          </a:p>
          <a:p>
            <a:r>
              <a:t>LOF table, every boilerplate — they all assume these 18 areas in this</a:t>
            </a:r>
          </a:p>
          <a:p>
            <a:r>
              <a:t>exact order. Don't let an LEA submit a self-assessment that combines</a:t>
            </a:r>
          </a:p>
          <a:p>
            <a:r>
              <a:t>rows or skips categories.</a:t>
            </a:r>
          </a:p>
          <a:p/>
          <a:p>
            <a:r>
              <a:t>For areas that don't exist on a campus (e.g., a K-8 school with no</a:t>
            </a:r>
          </a:p>
          <a:p>
            <a:r>
              <a:t>cafeteria), the row still appears in the LOF — marked N/A in the</a:t>
            </a:r>
          </a:p>
          <a:p>
            <a:r>
              <a:t>applicable standard column, with "None." in both finding columns.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row by row. Anchor every example back to the Access Board language:</a:t>
            </a:r>
          </a:p>
          <a:p>
            <a:r>
              <a:t>"Only those elements or spaces altered are required to comply… If a</a:t>
            </a:r>
          </a:p>
          <a:p>
            <a:r>
              <a:t>room or space is completely altered, the entire room or space is fully</a:t>
            </a:r>
          </a:p>
          <a:p>
            <a:r>
              <a:t>subject to the standards."</a:t>
            </a:r>
          </a:p>
          <a:p/>
          <a:p>
            <a:r>
              <a:t>Row 1 (grab bars only): this is the most common scenario. The bars were</a:t>
            </a:r>
          </a:p>
          <a:p>
            <a:r>
              <a:t>the only altered element. The toilet, lav, mirror were not altered and</a:t>
            </a:r>
          </a:p>
          <a:p>
            <a:r>
              <a:t>do not become 2010 ADA — they remain Program Access (1968).</a:t>
            </a:r>
          </a:p>
          <a:p/>
          <a:p>
            <a:r>
              <a:t>Row 2 (ramp): the ramp IS the element. If you rebuilt the whole ramp,</a:t>
            </a:r>
          </a:p>
          <a:p>
            <a:r>
              <a:t>you altered the whole element. 2010 ADA applies to the new ramp.</a:t>
            </a:r>
          </a:p>
          <a:p/>
          <a:p>
            <a:r>
              <a:t>Row 3 (tray-slide): only the tray-slide was installed/altered. Other</a:t>
            </a:r>
          </a:p>
          <a:p>
            <a:r>
              <a:t>fixed-counter elements in the kitchen remain at their original</a:t>
            </a:r>
          </a:p>
          <a:p>
            <a:r>
              <a:t>construction standard.</a:t>
            </a:r>
          </a:p>
          <a:p/>
          <a:p>
            <a:r>
              <a:t>Row 4 (whole-room rebuild): the "completely altered room" rule from</a:t>
            </a:r>
          </a:p>
          <a:p>
            <a:r>
              <a:t>§ 202.3 — the entire rebuilt room is fully subject to the standards.</a:t>
            </a:r>
          </a:p>
          <a:p>
            <a:r>
              <a:t>Every fixture, every outlet, every signage element.</a:t>
            </a:r>
          </a:p>
          <a:p/>
          <a:p>
            <a:r>
              <a:t>Reviewer takeaway: walk the LEA's work orders element-by-element and</a:t>
            </a:r>
          </a:p>
          <a:p>
            <a:r>
              <a:t>mark each individually. Do not paint a whole building with one standard.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reviewer rule #2 — and it's a rule I deliberately did NOT cover</a:t>
            </a:r>
          </a:p>
          <a:p>
            <a:r>
              <a:t>on the citation-placement slide earlier because it gets confused with</a:t>
            </a:r>
          </a:p>
          <a:p>
            <a:r>
              <a:t>the "cite the standard that controls the element" rule. Both rules are</a:t>
            </a:r>
          </a:p>
          <a:p>
            <a:r>
              <a:t>true at the same time, in different columns:</a:t>
            </a:r>
          </a:p>
          <a:p/>
          <a:p>
            <a:r>
              <a:t>VIOLATION column: cite the standard that controls the ELEMENT</a:t>
            </a:r>
          </a:p>
          <a:p>
            <a:r>
              <a:t>(ANSI for 1977-1991 elements, 1991 ADA for 1992-2010 elements, 2010</a:t>
            </a:r>
          </a:p>
          <a:p>
            <a:r>
              <a:t>ADA for 2012+ elements).</a:t>
            </a:r>
          </a:p>
          <a:p/>
          <a:p>
            <a:r>
              <a:t>CORRECTIVE column: always cite 2010 ADA, because the corrective work</a:t>
            </a:r>
          </a:p>
          <a:p>
            <a:r>
              <a:t>itself is new construction / alteration happening today — and today's</a:t>
            </a:r>
          </a:p>
          <a:p>
            <a:r>
              <a:t>work is 2010 ADA.</a:t>
            </a:r>
          </a:p>
          <a:p/>
          <a:p>
            <a:r>
              <a:t>Example to drive this home aloud:</a:t>
            </a:r>
          </a:p>
          <a:p/>
          <a:p>
            <a:r>
              <a:t>Violation: "Handrail on the wood shop ramp measured 30" — does not</a:t>
            </a:r>
          </a:p>
          <a:p>
            <a:r>
              <a:t>meet ANSI A117.1 § 4.8.5 (34–38" required at time of 1985</a:t>
            </a:r>
          </a:p>
          <a:p>
            <a:r>
              <a:t>construction). Cite: ANSI A117.1 § 4.8.5."</a:t>
            </a:r>
          </a:p>
          <a:p/>
          <a:p>
            <a:r>
              <a:t>Corrective action: "Replace handrail at a height of 34–38" above the</a:t>
            </a:r>
          </a:p>
          <a:p>
            <a:r>
              <a:t>ramp surface in conformance with 2010 ADA § 505.4, with 12" horizontal</a:t>
            </a:r>
          </a:p>
          <a:p>
            <a:r>
              <a:t>extensions at the top and bottom per § 505.10. Provide photographic</a:t>
            </a:r>
          </a:p>
          <a:p>
            <a:r>
              <a:t>documentation of completed installation. Complete within 45 days.</a:t>
            </a:r>
          </a:p>
          <a:p>
            <a:r>
              <a:t>Cite: 2010 ADA § 505.4 and § 505.10."</a:t>
            </a:r>
          </a:p>
          <a:p/>
          <a:p>
            <a:r>
              <a:t>Note the corrective cites 2010 ADA — NOT ANSI. The fix is being built</a:t>
            </a:r>
          </a:p>
          <a:p>
            <a:r>
              <a:t>new, so 2010 ADA controls.</a:t>
            </a:r>
          </a:p>
          <a:p/>
          <a:p>
            <a:r>
              <a:t>This is the rule the CRR 20 boilerplate codifies. Read the boilerplate</a:t>
            </a:r>
          </a:p>
          <a:p>
            <a:r>
              <a:t>quote at top of the slide aloud. That is the rule.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p>
            <a:r>
              <a:t>PART A — 2018 tray-slide:</a:t>
            </a:r>
          </a:p>
          <a:p>
            <a:r>
              <a:t>The tray-slide is a newly-installed ELEMENT in 2018. It is evaluated</a:t>
            </a:r>
          </a:p>
          <a:p>
            <a:r>
              <a:t>under the standard in effect on the alteration date.</a:t>
            </a:r>
          </a:p>
          <a:p>
            <a:r>
              <a:t>- Standard at violation: 2010 ADA</a:t>
            </a:r>
          </a:p>
          <a:p>
            <a:r>
              <a:t>- Cite at violation: 2010 ADA § 904.4.1 (max 34" tray slide height).</a:t>
            </a:r>
          </a:p>
          <a:p>
            <a:r>
              <a:t>- Cite at corrective: 2010 ADA § 904.4.1.</a:t>
            </a:r>
          </a:p>
          <a:p>
            <a:r>
              <a:t>(In this case both cites are 2010 ADA because the element was already</a:t>
            </a:r>
          </a:p>
          <a:p>
            <a:r>
              <a:t>constructed under 2010 ADA — but the corrective rule still applies.)</a:t>
            </a:r>
          </a:p>
          <a:p/>
          <a:p>
            <a:r>
              <a:t>PART B — 1972 counter:</a:t>
            </a:r>
          </a:p>
          <a:p>
            <a:r>
              <a:t>The counter is an UNALTERED element on a 1972 building.</a:t>
            </a:r>
          </a:p>
          <a:p>
            <a:r>
              <a:t>- Standard at violation: PROGRAM ACCESS. No findings can be issued —</a:t>
            </a:r>
          </a:p>
          <a:p>
            <a:r>
              <a:t>  the original 1972 counter is governed by program access, not by a</a:t>
            </a:r>
          </a:p>
          <a:p>
            <a:r>
              <a:t>  dimensional standard.</a:t>
            </a:r>
          </a:p>
          <a:p>
            <a:r>
              <a:t>- Cite at violation: NONE — leave as "None."</a:t>
            </a:r>
          </a:p>
          <a:p>
            <a:r>
              <a:t>- Cite at corrective: NONE — leave as "None."</a:t>
            </a:r>
          </a:p>
          <a:p>
            <a:r>
              <a:t>- (Address the access concern in the LOF narrative instead, e.g.,</a:t>
            </a:r>
          </a:p>
          <a:p>
            <a:r>
              <a:t>  "LEA should designate an accessible alternate counter location.")</a:t>
            </a:r>
          </a:p>
          <a:p/>
          <a:p>
            <a:r>
              <a:t>The trap: students will want to cite the 1972 counter as a 2010 ADA</a:t>
            </a:r>
          </a:p>
          <a:p>
            <a:r>
              <a:t>violation because it's at 37" (over the 34" max). That is wrong on two</a:t>
            </a:r>
          </a:p>
          <a:p>
            <a:r>
              <a:t>counts: (1) the counter was not altered, so 2010 ADA does not apply;</a:t>
            </a:r>
          </a:p>
          <a:p>
            <a:r>
              <a:t>(2) Program Access has no dimensional standard, so no findings issue.</a:t>
            </a:r>
          </a:p>
          <a:p/>
          <a:p>
            <a:r>
              <a:t>This double-check is exactly what new reviewers will be tested on by</a:t>
            </a:r>
          </a:p>
          <a:p>
            <a:r>
              <a:t>their team leads. Master it now.</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four-part structure is non-negotiable. If any part is missing, the</a:t>
            </a:r>
          </a:p>
          <a:p>
            <a:r>
              <a:t>LEA can push back and the LOF may not survive review.</a:t>
            </a:r>
          </a:p>
          <a:p/>
          <a:p>
            <a:r>
              <a:t>Common errors:</a:t>
            </a:r>
          </a:p>
          <a:p>
            <a:r>
              <a:t>- "Aisle too narrow" — missing the measurement.</a:t>
            </a:r>
          </a:p>
          <a:p>
            <a:r>
              <a:t>- "Aisle measures 84"" — missing the standard reference.</a:t>
            </a:r>
          </a:p>
          <a:p>
            <a:r>
              <a:t>- "Violates ADA" — missing the specific section.</a:t>
            </a:r>
          </a:p>
          <a:p>
            <a:r>
              <a:t>- "Cite: 502.3.3" — missing the standard year.</a:t>
            </a:r>
          </a:p>
          <a:p/>
          <a:p>
            <a:r>
              <a:t>The order in the sentence doesn't matter — what matters is that all</a:t>
            </a:r>
          </a:p>
          <a:p>
            <a:r>
              <a:t>four parts are present.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Corrective actions must be specific enough that the LEA cannot</a:t>
            </a:r>
          </a:p>
          <a:p>
            <a:r>
              <a:t>satisfy them with a vague "we'll look into it" response. Photographic</a:t>
            </a:r>
          </a:p>
          <a:p>
            <a:r>
              <a:t>documentation is the gold standard for evidence — it's harder to fake</a:t>
            </a:r>
          </a:p>
          <a:p>
            <a:r>
              <a:t>than a self-attested statement.</a:t>
            </a:r>
          </a:p>
          <a:p/>
          <a:p>
            <a:r>
              <a:t>THE 2010 ADA CITATION RULE in this column is per CRR 20 boilerplate</a:t>
            </a:r>
          </a:p>
          <a:p>
            <a:r>
              <a:t>and OCR practice. Even if the violation is cited at ANSI A117.1 for an</a:t>
            </a:r>
          </a:p>
          <a:p>
            <a:r>
              <a:t>old element, the corrective action is written to bring the element into</a:t>
            </a:r>
          </a:p>
          <a:p>
            <a:r>
              <a:t>compliance with 2010 ADA — because the corrective work itself is new</a:t>
            </a:r>
          </a:p>
          <a:p>
            <a:r>
              <a:t>work, and 2010 ADA is the federal target state.</a:t>
            </a:r>
          </a:p>
          <a:p/>
          <a:p>
            <a:r>
              <a:t>The 45-day deadline is set by CDE OEO's Voluntary Compliance Plan</a:t>
            </a:r>
          </a:p>
          <a:p>
            <a:r>
              <a:t>process. Some corrective actions cannot reasonably be completed in 45</a:t>
            </a:r>
          </a:p>
          <a:p>
            <a:r>
              <a:t>days (a full restroom remodel, for example) — in those cases, the</a:t>
            </a:r>
          </a:p>
          <a:p>
            <a:r>
              <a:t>corrective action requires the LEA to submit a project schedule and</a:t>
            </a:r>
          </a:p>
          <a:p>
            <a:r>
              <a:t>funding commitment within 45 days, with the work to follow.</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dual-citation rule. Reviewers must internalize both halves:</a:t>
            </a:r>
          </a:p>
          <a:p/>
          <a:p>
            <a:r>
              <a:t>VIOLATION column — cite the standard in effect when the ELEMENT was</a:t>
            </a:r>
          </a:p>
          <a:p>
            <a:r>
              <a:t>constructed or altered. ANSI for 1977-1991 elements. 1991 ADA for</a:t>
            </a:r>
          </a:p>
          <a:p>
            <a:r>
              <a:t>1992-2010 elements. 2010 ADA for 2012+ elements.</a:t>
            </a:r>
          </a:p>
          <a:p/>
          <a:p>
            <a:r>
              <a:t>CORRECTIVE column — always cite 2010 ADA. Why: the corrective work is</a:t>
            </a:r>
          </a:p>
          <a:p>
            <a:r>
              <a:t>new construction happening today, and today's federal standard is</a:t>
            </a:r>
          </a:p>
          <a:p>
            <a:r>
              <a:t>2010 ADA. The CRR 20 boilerplate is explicit on this.</a:t>
            </a:r>
          </a:p>
          <a:p/>
          <a:p>
            <a:r>
              <a:t>Note the row 3 in the table: when both the violation and the corrective</a:t>
            </a:r>
          </a:p>
          <a:p>
            <a:r>
              <a:t>are 2010 ADA (because the element was built under 2010 ADA), the two</a:t>
            </a:r>
          </a:p>
          <a:p>
            <a:r>
              <a:t>cites look identical. They're still two cites — one in each column.</a:t>
            </a:r>
          </a:p>
          <a:p/>
          <a:p>
            <a:r>
              <a:t>Common mistakes by new reviewers:</a:t>
            </a:r>
          </a:p>
          <a:p>
            <a:r>
              <a:t>- Citing 2010 ADA in the violation column for a 1985 element (wrong —</a:t>
            </a:r>
          </a:p>
          <a:p>
            <a:r>
              <a:t>  that's a misapplication of law).</a:t>
            </a:r>
          </a:p>
          <a:p>
            <a:r>
              <a:t>- Citing ANSI in the corrective column for a 1985 element (wrong — the</a:t>
            </a:r>
          </a:p>
          <a:p>
            <a:r>
              <a:t>  fix must be 2010 ADA).</a:t>
            </a:r>
          </a:p>
          <a:p>
            <a:r>
              <a:t>- Omitting the cite from the corrective column entirely.</a:t>
            </a:r>
          </a:p>
          <a:p/>
          <a:p>
            <a:r>
              <a:t>Reviewer tip: if you're unsure which standard applies to the violation,</a:t>
            </a:r>
          </a:p>
          <a:p>
            <a:r>
              <a:t>look at the element's date in the SECTION DETAILS box of the</a:t>
            </a:r>
          </a:p>
          <a:p>
            <a:r>
              <a:t>self-assessment. That date drives the violation cite.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Rewrite to model:</a:t>
            </a:r>
          </a:p>
          <a:p/>
          <a:p>
            <a:r>
              <a:t>Violation: "Handrail on the south-side ramp serving the wood shop</a:t>
            </a:r>
          </a:p>
          <a:p>
            <a:r>
              <a:t>measured at 30 inches above the ramp surface. The handrail does not</a:t>
            </a:r>
          </a:p>
          <a:p>
            <a:r>
              <a:t>meet the 34-inch minimum height specified in ANSI A117.1-1961 (R1971)</a:t>
            </a:r>
          </a:p>
          <a:p>
            <a:r>
              <a:t>§ 4.8.5. The building was constructed in 1985 and the handrail has not</a:t>
            </a:r>
          </a:p>
          <a:p>
            <a:r>
              <a:t>been altered; ANSI A117.1 (1961 R1971) is the applicable standard</a:t>
            </a:r>
          </a:p>
          <a:p>
            <a:r>
              <a:t>under 34 CFR § 104.23. Cite: ANSI A117.1 § 4.8.5."</a:t>
            </a:r>
          </a:p>
          <a:p/>
          <a:p>
            <a:r>
              <a:t>Corrective: "Replace the south-side wood shop ramp handrail at a</a:t>
            </a:r>
          </a:p>
          <a:p>
            <a:r>
              <a:t>height not less than 34 inches and not more than 38 inches above the</a:t>
            </a:r>
          </a:p>
          <a:p>
            <a:r>
              <a:t>ramp surface, with 12-inch horizontal extensions at the top and bottom</a:t>
            </a:r>
          </a:p>
          <a:p>
            <a:r>
              <a:t>parallel to the floor at the bottom, in conformance with 2010 ADA</a:t>
            </a:r>
          </a:p>
          <a:p>
            <a:r>
              <a:t>§ 505.4 and § 505.10. Provide photographic documentation of the</a:t>
            </a:r>
          </a:p>
          <a:p>
            <a:r>
              <a:t>completed installation including dimensional measurements. Complete</a:t>
            </a:r>
          </a:p>
          <a:p>
            <a:r>
              <a:t>within 45 days of receipt of this Letter of Findings.</a:t>
            </a:r>
          </a:p>
          <a:p>
            <a:r>
              <a:t>Cite: 2010 ADA § 505.4 and § 505.10."</a:t>
            </a:r>
          </a:p>
          <a:p/>
          <a:p>
            <a:r>
              <a:t>NOTE the corrective cites 2010 ADA — NOT ANSI — because corrective</a:t>
            </a:r>
          </a:p>
          <a:p>
            <a:r>
              <a:t>work is new work and 2010 ADA controls all new work.</a:t>
            </a:r>
          </a:p>
          <a:p/>
          <a:p>
            <a:r>
              <a:t>Errors in rookie version:</a:t>
            </a:r>
          </a:p>
          <a:p>
            <a:r>
              <a:t>1. "Too low" — no measurement</a:t>
            </a:r>
          </a:p>
          <a:p>
            <a:r>
              <a:t>2. "Violates the ADA" — wrong: 1985 unaltered = ANSI</a:t>
            </a:r>
          </a:p>
          <a:p>
            <a:r>
              <a:t>3. No section citation</a:t>
            </a:r>
          </a:p>
          <a:p>
            <a:r>
              <a:t>4. No specific location (which ramp? which side?)</a:t>
            </a:r>
          </a:p>
          <a:p>
            <a:r>
              <a:t>5. "Fix it" — not a corrective action; no deadline; no 2010 ADA target</a:t>
            </a:r>
          </a:p>
          <a:p/>
          <a:p>
            <a:r>
              <a:t>Have students rewrite individually, then compare to the model. Time: 8</a:t>
            </a:r>
          </a:p>
          <a:p>
            <a:r>
              <a:t>minutes for rewrite + share.</a:t>
            </a:r>
          </a:p>
          <a:p/>
          <a:p>
            <a:r>
              <a:t>This is also a good moment to revisit Knowledge Check #4½ (slide 54) —</a:t>
            </a:r>
          </a:p>
          <a:p>
            <a:r>
              <a:t>the dual-cite rule lives here.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while pairs work. Common stumbles:</a:t>
            </a:r>
          </a:p>
          <a:p>
            <a:r>
              <a:t>1. Some pairs apply 1991 ADA to the 1979 building (wrong — 1979 is in</a:t>
            </a:r>
          </a:p>
          <a:p>
            <a:r>
              <a:t>   the ANSI window).</a:t>
            </a:r>
          </a:p>
          <a:p>
            <a:r>
              <a:t>2. Some pairs cite ANSI for the 2018 ramp (wrong — 2018 = 2010 ADA).</a:t>
            </a:r>
          </a:p>
          <a:p>
            <a:r>
              <a:t>3. Some pairs miss that the welding booths are 1979 ANSI elements</a:t>
            </a:r>
          </a:p>
          <a:p>
            <a:r>
              <a:t>   (frame opening 30" is below ANSI's 32" door clear width — but</a:t>
            </a:r>
          </a:p>
          <a:p>
            <a:r>
              <a:t>   ANSI doesn't have a specific welding booth spec; treat as door).</a:t>
            </a:r>
          </a:p>
          <a:p/>
          <a:p>
            <a:r>
              <a:t>Answer key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row. Key teaching moments:</a:t>
            </a:r>
          </a:p>
          <a:p/>
          <a:p>
            <a:r>
              <a:t>- Welding booth opening 30" in a 1979 building: ANSI 4.7 (Doors)</a:t>
            </a:r>
          </a:p>
          <a:p>
            <a:r>
              <a:t>  requires 32" clear — but a welding booth opening is debatable as</a:t>
            </a:r>
          </a:p>
          <a:p>
            <a:r>
              <a:t>  a "door." Be careful here. If you treat it as a door, you can cite</a:t>
            </a:r>
          </a:p>
          <a:p>
            <a:r>
              <a:t>  ANSI 4.7. If you treat it as a fixed shop element, ANSI is silent</a:t>
            </a:r>
          </a:p>
          <a:p>
            <a:r>
              <a:t>  — then the LEA might claim no violation. Best practice: cite ANSI</a:t>
            </a:r>
          </a:p>
          <a:p>
            <a:r>
              <a:t>  4.7 if you believe a wheelchair user must transit the opening,</a:t>
            </a:r>
          </a:p>
          <a:p>
            <a:r>
              <a:t>  and explain in narrative.</a:t>
            </a:r>
          </a:p>
          <a:p/>
          <a:p>
            <a:r>
              <a:t>- The 1979 workbenches with no knee/toe: ANSI 1961 has no</a:t>
            </a:r>
          </a:p>
          <a:p>
            <a:r>
              <a:t>  workstation requirements. So this is NOT a coded violation. But</a:t>
            </a:r>
          </a:p>
          <a:p>
            <a:r>
              <a:t>  it IS a Program Access concern — if no student in a wheelchair</a:t>
            </a:r>
          </a:p>
          <a:p>
            <a:r>
              <a:t>  can use any workbench, the program is not accessible.</a:t>
            </a:r>
          </a:p>
          <a:p/>
          <a:p>
            <a:r>
              <a:t>  Narrative recommendation: "The LEA should evaluate whether at</a:t>
            </a:r>
          </a:p>
          <a:p>
            <a:r>
              <a:t>  least one workbench provides knee/toe clearance for a wheelchair</a:t>
            </a:r>
          </a:p>
          <a:p>
            <a:r>
              <a:t>  user, consistent with the program-access analysis under</a:t>
            </a:r>
          </a:p>
          <a:p>
            <a:r>
              <a:t>  34 CFR § 104.22. If no accessible workstation exists, the LEA</a:t>
            </a:r>
          </a:p>
          <a:p>
            <a:r>
              <a:t>  should make a reasonable modification or designate an alternate</a:t>
            </a:r>
          </a:p>
          <a:p>
            <a:r>
              <a:t>  station."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summary (for the trainer):</a:t>
            </a:r>
          </a:p>
          <a:p/>
          <a:p>
            <a:r>
              <a:t>Standard: 2010 ADA (constructed 2014, no alterations).</a:t>
            </a:r>
          </a:p>
          <a:p/>
          <a:p>
            <a:r>
              <a:t>LEA position pushback: The mobile prep cart, currently stored in a side</a:t>
            </a:r>
          </a:p>
          <a:p>
            <a:r>
              <a:t>closet, is NOT an active part of the classroom configuration. The</a:t>
            </a:r>
          </a:p>
          <a:p>
            <a:r>
              <a:t>"alternate accessible workstation" approach is acceptable under 2010</a:t>
            </a:r>
          </a:p>
          <a:p>
            <a:r>
              <a:t>ADA only if the alternate is in regular active use and is reachable via</a:t>
            </a:r>
          </a:p>
          <a:p>
            <a:r>
              <a:t>an accessible route. Stored-in-closet doesn't qualify.</a:t>
            </a:r>
          </a:p>
          <a:p/>
          <a:p>
            <a:r>
              <a:t>Violations:</a:t>
            </a:r>
          </a:p>
          <a:p>
            <a:r>
              <a:t>1. No fixed accessible prep station with knee/toe clearance — cite</a:t>
            </a:r>
          </a:p>
          <a:p>
            <a:r>
              <a:t>   2010 ADA 306 (knee/toe) and 902.4 (work surfaces) for the lack of</a:t>
            </a:r>
          </a:p>
          <a:p>
            <a:r>
              <a:t>   an accessible station integrated into normal classroom config.</a:t>
            </a:r>
          </a:p>
          <a:p>
            <a:r>
              <a:t>2. Cooktops all at 36" with no knee clearance — cite 2010 ADA 306</a:t>
            </a:r>
          </a:p>
          <a:p>
            <a:r>
              <a:t>   (no accessible alternate in regular use).</a:t>
            </a:r>
          </a:p>
          <a:p>
            <a:r>
              <a:t>3. Dish-pit spray-arm at 50" over 14" deep counter — obstructed</a:t>
            </a:r>
          </a:p>
          <a:p>
            <a:r>
              <a:t>   forward reach analysis:</a:t>
            </a:r>
          </a:p>
          <a:p>
            <a:r>
              <a:t>   - 14" deep is within 20"–25" range</a:t>
            </a:r>
          </a:p>
          <a:p>
            <a:r>
              <a:t>   - 2010 ADA 308.2.2 allows max 44" reach when obstruction is</a:t>
            </a:r>
          </a:p>
          <a:p>
            <a:r>
              <a:t>     20"–25" deep</a:t>
            </a:r>
          </a:p>
          <a:p>
            <a:r>
              <a:t>   - At 14" deep, the obstruction is &lt; 20" so 48" max applies</a:t>
            </a:r>
          </a:p>
          <a:p>
            <a:r>
              <a:t>   - 50" exceeds 48" max → VIOLATION</a:t>
            </a:r>
          </a:p>
          <a:p>
            <a:r>
              <a:t>   - Cite 2010 ADA 308.2.2.</a:t>
            </a:r>
          </a:p>
          <a:p>
            <a:r>
              <a:t>4. Walk-in pantry door clear width 31" — cite 2010 ADA 404.2.3.</a:t>
            </a:r>
          </a:p>
          <a:p>
            <a:r>
              <a:t>5. Hand-wash lavatory rim 37" — cite 2010 ADA 606.3 (34" max).</a:t>
            </a:r>
          </a:p>
          <a:p>
            <a:r>
              <a:t>6. Tray-slide at 36" — cite 2010 ADA 904.4.1 (34" max).</a:t>
            </a:r>
          </a:p>
          <a:p/>
          <a:p>
            <a:r>
              <a:t>Corrective actions — all cited at 2010 ADA (even though here the</a:t>
            </a:r>
          </a:p>
          <a:p>
            <a:r>
              <a:t>violation cites are also 2010 ADA because the building is 2014):</a:t>
            </a:r>
          </a:p>
          <a:p/>
          <a:p>
            <a:r>
              <a:t>1. Provide minimum one fixed accessible prep station with knee/toe</a:t>
            </a:r>
          </a:p>
          <a:p>
            <a:r>
              <a:t>   clearance per 2010 ADA § 306 and accessible work surface per § 902.4.</a:t>
            </a:r>
          </a:p>
          <a:p>
            <a:r>
              <a:t>   Cite: 2010 ADA § 306 and § 902.4.</a:t>
            </a:r>
          </a:p>
          <a:p>
            <a:r>
              <a:t>2. Provide minimum one cooktop at 34" max height with knee/toe</a:t>
            </a:r>
          </a:p>
          <a:p>
            <a:r>
              <a:t>   clearance under, per 2010 ADA § 306. Cite: 2010 ADA § 306.</a:t>
            </a:r>
          </a:p>
          <a:p>
            <a:r>
              <a:t>3. Relocate dish-pit spray-arm controls so the operable parts are</a:t>
            </a:r>
          </a:p>
          <a:p>
            <a:r>
              <a:t>   within the 48" max forward reach per 2010 ADA § 308.2.</a:t>
            </a:r>
          </a:p>
          <a:p>
            <a:r>
              <a:t>   Cite: 2010 ADA § 308.2.</a:t>
            </a:r>
          </a:p>
          <a:p>
            <a:r>
              <a:t>4. Widen walk-in pantry door to provide 32" minimum clear width per</a:t>
            </a:r>
          </a:p>
          <a:p>
            <a:r>
              <a:t>   2010 ADA § 404.2.3. Cite: 2010 ADA § 404.2.3.</a:t>
            </a:r>
          </a:p>
          <a:p>
            <a:r>
              <a:t>5. Re-mount hand-wash sink so lavatory rim is at 34" max above floor</a:t>
            </a:r>
          </a:p>
          <a:p>
            <a:r>
              <a:t>   per 2010 ADA § 606.3. Cite: 2010 ADA § 606.3.</a:t>
            </a:r>
          </a:p>
          <a:p>
            <a:r>
              <a:t>6. Re-mount tray-slide service line at 34" max above floor per 2010</a:t>
            </a:r>
          </a:p>
          <a:p>
            <a:r>
              <a:t>   ADA § 904.4.1. Cite: 2010 ADA § 904.4.1.</a:t>
            </a:r>
          </a:p>
          <a:p/>
          <a:p>
            <a:r>
              <a:t>All within 45 days of LOF receipt. All cites in the corrective column</a:t>
            </a:r>
          </a:p>
          <a:p>
            <a:r>
              <a:t>are 2010 ADA — that is the rule from Slide 53.</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out printed copies of: (1) the decision tree (Slide 13), (2) the</a:t>
            </a:r>
          </a:p>
          <a:p>
            <a:r>
              <a:t>six date windows (Slide 14), and (3) the three quick-reference slides</a:t>
            </a:r>
          </a:p>
          <a:p>
            <a:r>
              <a:t>(39-42). Reviewers will use these on every site visit.</a:t>
            </a:r>
          </a:p>
          <a:p/>
          <a:p>
            <a:r>
              <a:t>Direct reviewers to bookmark ADA.gov and the U.S. Access Board site —</a:t>
            </a:r>
          </a:p>
          <a:p>
            <a:r>
              <a:t>both are excellent for quick lookups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Wrap-up. Three concrete next steps for every new reviewer:</a:t>
            </a:r>
          </a:p>
          <a:p/>
          <a:p>
            <a:r>
              <a:t>1. SHADOW two complete reviews with a senior reviewer before flying</a:t>
            </a:r>
          </a:p>
          <a:p>
            <a:r>
              <a:t>   solo. Watch how they walk a site, how they measure, how they handle</a:t>
            </a:r>
          </a:p>
          <a:p>
            <a:r>
              <a:t>   pushback from the LEA.</a:t>
            </a:r>
          </a:p>
          <a:p/>
          <a:p>
            <a:r>
              <a:t>2. RUN one mock LOF using the Facilities LOF Generator with a prior</a:t>
            </a:r>
          </a:p>
          <a:p>
            <a:r>
              <a:t>   completed packet (from the archives). Have a senior reviewer check</a:t>
            </a:r>
          </a:p>
          <a:p>
            <a:r>
              <a:t>   your output before exporting to Word.</a:t>
            </a:r>
          </a:p>
          <a:p/>
          <a:p>
            <a:r>
              <a:t>3. SIGN UP for the U.S. Access Board's monthly webinar series — free,</a:t>
            </a:r>
          </a:p>
          <a:p>
            <a:r>
              <a:t>   excellent technical content, counts toward your CEU requirements.</a:t>
            </a:r>
          </a:p>
          <a:p/>
          <a:p>
            <a:r>
              <a:t>Open the floor for final questions. Distribute the printed handouts</a:t>
            </a:r>
          </a:p>
          <a:p>
            <a:r>
              <a:t>(decision tree, quick-reference cards). Thank everyone for their</a:t>
            </a:r>
          </a:p>
          <a:p>
            <a:r>
              <a:t>attention. End of training.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651760"/>
            <a:ext cx="12191695" cy="73152"/>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548640"/>
            <a:ext cx="822960" cy="822960"/>
          </a:xfrm>
          <a:prstGeom prst="ellipse">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548640"/>
            <a:ext cx="822960" cy="822960"/>
          </a:xfrm>
          <a:prstGeom prst="rect">
            <a:avLst/>
          </a:prstGeom>
          <a:noFill/>
        </p:spPr>
        <p:txBody>
          <a:bodyPr wrap="square" lIns="45720" rIns="45720" tIns="18288" bIns="18288" anchor="ctr">
            <a:spAutoFit/>
          </a:bodyPr>
          <a:lstStyle/>
          <a:p>
            <a:pPr algn="ctr"/>
            <a:r>
              <a:rPr sz="1800" b="1" i="0">
                <a:solidFill>
                  <a:srgbClr val="1A2744"/>
                </a:solidFill>
                <a:latin typeface="Georgia"/>
              </a:rPr>
              <a:t>CDE</a:t>
            </a:r>
          </a:p>
        </p:txBody>
      </p:sp>
      <p:sp>
        <p:nvSpPr>
          <p:cNvPr id="7" name="TextBox 6"/>
          <p:cNvSpPr txBox="1"/>
          <p:nvPr/>
        </p:nvSpPr>
        <p:spPr>
          <a:xfrm>
            <a:off x="1554480" y="640080"/>
            <a:ext cx="7315200" cy="365760"/>
          </a:xfrm>
          <a:prstGeom prst="rect">
            <a:avLst/>
          </a:prstGeom>
          <a:noFill/>
        </p:spPr>
        <p:txBody>
          <a:bodyPr wrap="square" lIns="45720" rIns="45720" tIns="18288" bIns="18288" anchor="t">
            <a:spAutoFit/>
          </a:bodyPr>
          <a:lstStyle/>
          <a:p>
            <a:pPr algn="l"/>
            <a:r>
              <a:rPr sz="1100" b="1" i="0">
                <a:solidFill>
                  <a:srgbClr val="C8A84B"/>
                </a:solidFill>
                <a:latin typeface="Consolas"/>
              </a:rPr>
              <a:t>CALIFORNIA DEPARTMENT OF EDUCATION  •  OFFICE OF EQUAL OPPORTUNITY</a:t>
            </a:r>
          </a:p>
        </p:txBody>
      </p:sp>
      <p:sp>
        <p:nvSpPr>
          <p:cNvPr id="8" name="TextBox 7"/>
          <p:cNvSpPr txBox="1"/>
          <p:nvPr/>
        </p:nvSpPr>
        <p:spPr>
          <a:xfrm>
            <a:off x="1554480" y="960120"/>
            <a:ext cx="9144000" cy="365760"/>
          </a:xfrm>
          <a:prstGeom prst="rect">
            <a:avLst/>
          </a:prstGeom>
          <a:noFill/>
        </p:spPr>
        <p:txBody>
          <a:bodyPr wrap="square" lIns="45720" rIns="45720" tIns="18288" bIns="18288" anchor="t">
            <a:spAutoFit/>
          </a:bodyPr>
          <a:lstStyle/>
          <a:p>
            <a:pPr algn="l"/>
            <a:r>
              <a:rPr sz="1200" b="0" i="1">
                <a:solidFill>
                  <a:srgbClr val="E8D08A"/>
                </a:solidFill>
                <a:latin typeface="Calibri"/>
              </a:rPr>
              <a:t>Civil Rights Review  •  Reviewer Onboarding Training</a:t>
            </a:r>
          </a:p>
        </p:txBody>
      </p:sp>
      <p:sp>
        <p:nvSpPr>
          <p:cNvPr id="9" name="TextBox 8"/>
          <p:cNvSpPr txBox="1"/>
          <p:nvPr/>
        </p:nvSpPr>
        <p:spPr>
          <a:xfrm>
            <a:off x="640080" y="3108960"/>
            <a:ext cx="10972800" cy="1097280"/>
          </a:xfrm>
          <a:prstGeom prst="rect">
            <a:avLst/>
          </a:prstGeom>
          <a:noFill/>
        </p:spPr>
        <p:txBody>
          <a:bodyPr wrap="square" lIns="45720" rIns="45720" tIns="18288" bIns="18288" anchor="t">
            <a:spAutoFit/>
          </a:bodyPr>
          <a:lstStyle/>
          <a:p>
            <a:pPr algn="l"/>
            <a:r>
              <a:rPr sz="4200" b="1" i="0">
                <a:solidFill>
                  <a:srgbClr val="FFFFFF"/>
                </a:solidFill>
                <a:latin typeface="Georgia"/>
              </a:rPr>
              <a:t>Accessible Facilities for K–12 and CTE</a:t>
            </a:r>
          </a:p>
        </p:txBody>
      </p:sp>
      <p:sp>
        <p:nvSpPr>
          <p:cNvPr id="10" name="TextBox 9"/>
          <p:cNvSpPr txBox="1"/>
          <p:nvPr/>
        </p:nvSpPr>
        <p:spPr>
          <a:xfrm>
            <a:off x="640080" y="3931920"/>
            <a:ext cx="10972800" cy="640080"/>
          </a:xfrm>
          <a:prstGeom prst="rect">
            <a:avLst/>
          </a:prstGeom>
          <a:noFill/>
        </p:spPr>
        <p:txBody>
          <a:bodyPr wrap="square" lIns="45720" rIns="45720" tIns="18288" bIns="18288" anchor="t">
            <a:spAutoFit/>
          </a:bodyPr>
          <a:lstStyle/>
          <a:p>
            <a:pPr algn="l"/>
            <a:r>
              <a:rPr sz="2000" b="0" i="0">
                <a:solidFill>
                  <a:srgbClr val="E8D08A"/>
                </a:solidFill>
                <a:latin typeface="Calibri"/>
              </a:rPr>
              <a:t>ANSI A117.1 · ADA 1991 / ADAAG · ADA 2010 · UFAS · Program Access</a:t>
            </a:r>
          </a:p>
        </p:txBody>
      </p:sp>
      <p:sp>
        <p:nvSpPr>
          <p:cNvPr id="11" name="TextBox 10"/>
          <p:cNvSpPr txBox="1"/>
          <p:nvPr/>
        </p:nvSpPr>
        <p:spPr>
          <a:xfrm>
            <a:off x="640080" y="4526280"/>
            <a:ext cx="10972800" cy="457200"/>
          </a:xfrm>
          <a:prstGeom prst="rect">
            <a:avLst/>
          </a:prstGeom>
          <a:noFill/>
        </p:spPr>
        <p:txBody>
          <a:bodyPr wrap="square" lIns="45720" rIns="45720" tIns="18288" bIns="18288" anchor="t">
            <a:spAutoFit/>
          </a:bodyPr>
          <a:lstStyle/>
          <a:p>
            <a:pPr algn="l"/>
            <a:r>
              <a:rPr sz="1600" b="0" i="1">
                <a:solidFill>
                  <a:srgbClr val="E8D08A"/>
                </a:solidFill>
                <a:latin typeface="Calibri"/>
              </a:rPr>
              <a:t>Applied to CRR 20 (2025–26) and CRR 21 (2024–25)</a:t>
            </a:r>
          </a:p>
        </p:txBody>
      </p:sp>
      <p:sp>
        <p:nvSpPr>
          <p:cNvPr id="12" name="TextBox 11"/>
          <p:cNvSpPr txBox="1"/>
          <p:nvPr/>
        </p:nvSpPr>
        <p:spPr>
          <a:xfrm>
            <a:off x="640080" y="5852160"/>
            <a:ext cx="10972800" cy="365760"/>
          </a:xfrm>
          <a:prstGeom prst="rect">
            <a:avLst/>
          </a:prstGeom>
          <a:noFill/>
        </p:spPr>
        <p:txBody>
          <a:bodyPr wrap="square" lIns="45720" rIns="45720" tIns="18288" bIns="18288" anchor="t">
            <a:spAutoFit/>
          </a:bodyPr>
          <a:lstStyle/>
          <a:p>
            <a:pPr algn="l"/>
            <a:r>
              <a:rPr sz="1000" b="1" i="0">
                <a:solidFill>
                  <a:srgbClr val="C8A84B"/>
                </a:solidFill>
                <a:latin typeface="Consolas"/>
              </a:rPr>
              <a:t>FULL-DAY ONBOARDING  •  ~7 HOURS WITH BREAKS  •  IN-PERSON OR VIRTUAL</a:t>
            </a:r>
          </a:p>
        </p:txBody>
      </p:sp>
      <p:sp>
        <p:nvSpPr>
          <p:cNvPr id="13" name="TextBox 12"/>
          <p:cNvSpPr txBox="1"/>
          <p:nvPr/>
        </p:nvSpPr>
        <p:spPr>
          <a:xfrm>
            <a:off x="640080" y="6172200"/>
            <a:ext cx="10972800" cy="365760"/>
          </a:xfrm>
          <a:prstGeom prst="rect">
            <a:avLst/>
          </a:prstGeom>
          <a:noFill/>
        </p:spPr>
        <p:txBody>
          <a:bodyPr wrap="square" lIns="45720" rIns="45720" tIns="18288" bIns="18288" anchor="t">
            <a:spAutoFit/>
          </a:bodyPr>
          <a:lstStyle/>
          <a:p>
            <a:pPr algn="l"/>
            <a:r>
              <a:rPr sz="1100" b="0" i="1">
                <a:solidFill>
                  <a:srgbClr val="E8D08A"/>
                </a:solidFill>
                <a:latin typeface="Calibri"/>
              </a:rPr>
              <a:t>Office of Equal Opportunity · California Department of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02 · ORIENTATION</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Course Objectives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600" b="0" i="1">
                <a:solidFill>
                  <a:srgbClr val="6B6659"/>
                </a:solidFill>
                <a:latin typeface="Calibri"/>
              </a:rPr>
              <a:t>By the end of this training, you will be able to:</a:t>
            </a:r>
          </a:p>
        </p:txBody>
      </p:sp>
      <p:sp>
        <p:nvSpPr>
          <p:cNvPr id="10" name="TextBox 9"/>
          <p:cNvSpPr txBox="1"/>
          <p:nvPr/>
        </p:nvSpPr>
        <p:spPr>
          <a:xfrm>
            <a:off x="640080" y="1874519"/>
            <a:ext cx="10972800" cy="4572000"/>
          </a:xfrm>
          <a:prstGeom prst="rect">
            <a:avLst/>
          </a:prstGeom>
          <a:noFill/>
        </p:spPr>
        <p:txBody>
          <a:bodyPr wrap="square" lIns="45720" rIns="45720">
            <a:spAutoFit/>
          </a:bodyPr>
          <a:lstStyle/>
          <a:p>
            <a:pPr algn="l">
              <a:spcAft>
                <a:spcPts val="600"/>
              </a:spcAft>
            </a:pPr>
            <a:r>
              <a:rPr sz="1500" b="1">
                <a:solidFill>
                  <a:srgbClr val="1A1A1A"/>
                </a:solidFill>
                <a:latin typeface="Calibri"/>
              </a:rPr>
              <a:t>•  Identify</a:t>
            </a:r>
            <a:r>
              <a:rPr sz="1500">
                <a:solidFill>
                  <a:srgbClr val="1A1A1A"/>
                </a:solidFill>
                <a:latin typeface="Calibri"/>
              </a:rPr>
              <a:t>  the five accessibility standards used in CRR 20 / 21 and the date window each governs.</a:t>
            </a:r>
          </a:p>
          <a:p>
            <a:pPr algn="l">
              <a:spcAft>
                <a:spcPts val="600"/>
              </a:spcAft>
            </a:pPr>
            <a:r>
              <a:rPr sz="1500" b="1">
                <a:solidFill>
                  <a:srgbClr val="1A1A1A"/>
                </a:solidFill>
                <a:latin typeface="Calibri"/>
              </a:rPr>
              <a:t>•  Apply</a:t>
            </a:r>
            <a:r>
              <a:rPr sz="1500">
                <a:solidFill>
                  <a:srgbClr val="1A1A1A"/>
                </a:solidFill>
                <a:latin typeface="Calibri"/>
              </a:rPr>
              <a:t>  the standard-determination decision tree using construction and ADA modification dates.</a:t>
            </a:r>
          </a:p>
          <a:p>
            <a:pPr algn="l">
              <a:spcAft>
                <a:spcPts val="600"/>
              </a:spcAft>
            </a:pPr>
            <a:r>
              <a:rPr sz="1500" b="1">
                <a:solidFill>
                  <a:srgbClr val="1A1A1A"/>
                </a:solidFill>
                <a:latin typeface="Calibri"/>
              </a:rPr>
              <a:t>•  Recognize</a:t>
            </a:r>
            <a:r>
              <a:rPr sz="1500">
                <a:solidFill>
                  <a:srgbClr val="1A1A1A"/>
                </a:solidFill>
                <a:latin typeface="Calibri"/>
              </a:rPr>
              <a:t>  the Program Access rule — and why deficiencies in pre-1977 facilities never become findings.</a:t>
            </a:r>
          </a:p>
          <a:p>
            <a:pPr algn="l">
              <a:spcAft>
                <a:spcPts val="600"/>
              </a:spcAft>
            </a:pPr>
            <a:r>
              <a:rPr sz="1500" b="1">
                <a:solidFill>
                  <a:srgbClr val="1A1A1A"/>
                </a:solidFill>
                <a:latin typeface="Calibri"/>
              </a:rPr>
              <a:t>•  Locate</a:t>
            </a:r>
            <a:r>
              <a:rPr sz="1500">
                <a:solidFill>
                  <a:srgbClr val="1A1A1A"/>
                </a:solidFill>
                <a:latin typeface="Calibri"/>
              </a:rPr>
              <a:t>  the controlling citation for the most common dimensional requirements (handrails, ramps, doors, signage, restrooms).</a:t>
            </a:r>
          </a:p>
          <a:p>
            <a:pPr algn="l">
              <a:spcAft>
                <a:spcPts val="600"/>
              </a:spcAft>
            </a:pPr>
            <a:r>
              <a:rPr sz="1500" b="1">
                <a:solidFill>
                  <a:srgbClr val="1A1A1A"/>
                </a:solidFill>
                <a:latin typeface="Calibri"/>
              </a:rPr>
              <a:t>•  Evaluate</a:t>
            </a:r>
            <a:r>
              <a:rPr sz="1500">
                <a:solidFill>
                  <a:srgbClr val="1A1A1A"/>
                </a:solidFill>
                <a:latin typeface="Calibri"/>
              </a:rPr>
              <a:t>  CTE-specific spaces — shops, labs, kitchens, ag, health science — against the applicable standard.</a:t>
            </a:r>
          </a:p>
          <a:p>
            <a:pPr algn="l">
              <a:spcAft>
                <a:spcPts val="600"/>
              </a:spcAft>
            </a:pPr>
            <a:r>
              <a:rPr sz="1500" b="1">
                <a:solidFill>
                  <a:srgbClr val="1A1A1A"/>
                </a:solidFill>
                <a:latin typeface="Calibri"/>
              </a:rPr>
              <a:t>•  Use</a:t>
            </a:r>
            <a:r>
              <a:rPr sz="1500">
                <a:solidFill>
                  <a:srgbClr val="1A1A1A"/>
                </a:solidFill>
                <a:latin typeface="Calibri"/>
              </a:rPr>
              <a:t>  the Facilities LOF Generator tool to draft an editable findings table from a self-assessment packet.</a:t>
            </a:r>
          </a:p>
          <a:p>
            <a:pPr algn="l">
              <a:spcAft>
                <a:spcPts val="600"/>
              </a:spcAft>
            </a:pPr>
            <a:r>
              <a:rPr sz="1500" b="1">
                <a:solidFill>
                  <a:srgbClr val="1A1A1A"/>
                </a:solidFill>
                <a:latin typeface="Calibri"/>
              </a:rPr>
              <a:t>•  Write</a:t>
            </a:r>
            <a:r>
              <a:rPr sz="1500">
                <a:solidFill>
                  <a:srgbClr val="1A1A1A"/>
                </a:solidFill>
                <a:latin typeface="Calibri"/>
              </a:rPr>
              <a:t>  an Accessibility Violation and Corrective Action that will stand up to OCR review.</a:t>
            </a:r>
          </a:p>
        </p:txBody>
      </p:sp>
      <p:sp>
        <p:nvSpPr>
          <p:cNvPr id="11" name="TextBox 10"/>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2" name="TextBox 11"/>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02 / 63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03 · ORIENTATION</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Full-Day Agenda</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417320"/>
            <a:ext cx="1371600" cy="329184"/>
          </a:xfrm>
          <a:prstGeom prst="rect">
            <a:avLst/>
          </a:prstGeom>
          <a:noFill/>
        </p:spPr>
        <p:txBody>
          <a:bodyPr wrap="square" lIns="45720" rIns="45720" tIns="18288" bIns="18288" anchor="ctr">
            <a:spAutoFit/>
          </a:bodyPr>
          <a:lstStyle/>
          <a:p>
            <a:pPr algn="l"/>
            <a:r>
              <a:rPr sz="1200" b="1" i="0">
                <a:solidFill>
                  <a:srgbClr val="1A2744"/>
                </a:solidFill>
                <a:latin typeface="Consolas"/>
              </a:rPr>
              <a:t>9:00</a:t>
            </a:r>
          </a:p>
        </p:txBody>
      </p:sp>
      <p:sp>
        <p:nvSpPr>
          <p:cNvPr id="10" name="TextBox 9"/>
          <p:cNvSpPr txBox="1"/>
          <p:nvPr/>
        </p:nvSpPr>
        <p:spPr>
          <a:xfrm>
            <a:off x="2194560" y="1417320"/>
            <a:ext cx="7772400" cy="329184"/>
          </a:xfrm>
          <a:prstGeom prst="rect">
            <a:avLst/>
          </a:prstGeom>
          <a:noFill/>
        </p:spPr>
        <p:txBody>
          <a:bodyPr wrap="square" lIns="45720" rIns="45720" tIns="18288" bIns="18288" anchor="ctr">
            <a:spAutoFit/>
          </a:bodyPr>
          <a:lstStyle/>
          <a:p>
            <a:pPr algn="l"/>
            <a:r>
              <a:rPr sz="1400" b="1" i="0">
                <a:solidFill>
                  <a:srgbClr val="1A1A1A"/>
                </a:solidFill>
                <a:latin typeface="Calibri"/>
              </a:rPr>
              <a:t>Orientation &amp; legal foundations</a:t>
            </a:r>
          </a:p>
        </p:txBody>
      </p:sp>
      <p:sp>
        <p:nvSpPr>
          <p:cNvPr id="11" name="TextBox 10"/>
          <p:cNvSpPr txBox="1"/>
          <p:nvPr/>
        </p:nvSpPr>
        <p:spPr>
          <a:xfrm>
            <a:off x="10058400" y="1417320"/>
            <a:ext cx="1828800" cy="329184"/>
          </a:xfrm>
          <a:prstGeom prst="rect">
            <a:avLst/>
          </a:prstGeom>
          <a:noFill/>
        </p:spPr>
        <p:txBody>
          <a:bodyPr wrap="square" lIns="45720" rIns="45720" tIns="18288" bIns="18288" anchor="ctr">
            <a:spAutoFit/>
          </a:bodyPr>
          <a:lstStyle/>
          <a:p>
            <a:pPr algn="r"/>
            <a:r>
              <a:rPr sz="1100" b="0" i="0">
                <a:solidFill>
                  <a:srgbClr val="6B6659"/>
                </a:solidFill>
                <a:latin typeface="Consolas"/>
              </a:rPr>
              <a:t>Slides 04–10</a:t>
            </a:r>
          </a:p>
        </p:txBody>
      </p:sp>
      <p:sp>
        <p:nvSpPr>
          <p:cNvPr id="12" name="TextBox 11"/>
          <p:cNvSpPr txBox="1"/>
          <p:nvPr/>
        </p:nvSpPr>
        <p:spPr>
          <a:xfrm>
            <a:off x="822960" y="1801368"/>
            <a:ext cx="1371600" cy="329184"/>
          </a:xfrm>
          <a:prstGeom prst="rect">
            <a:avLst/>
          </a:prstGeom>
          <a:noFill/>
        </p:spPr>
        <p:txBody>
          <a:bodyPr wrap="square" lIns="45720" rIns="45720" tIns="18288" bIns="18288" anchor="ctr">
            <a:spAutoFit/>
          </a:bodyPr>
          <a:lstStyle/>
          <a:p>
            <a:pPr algn="l"/>
            <a:r>
              <a:rPr sz="1200" b="1" i="0">
                <a:solidFill>
                  <a:srgbClr val="1A2744"/>
                </a:solidFill>
                <a:latin typeface="Consolas"/>
              </a:rPr>
              <a:t>9:45</a:t>
            </a:r>
          </a:p>
        </p:txBody>
      </p:sp>
      <p:sp>
        <p:nvSpPr>
          <p:cNvPr id="13" name="TextBox 12"/>
          <p:cNvSpPr txBox="1"/>
          <p:nvPr/>
        </p:nvSpPr>
        <p:spPr>
          <a:xfrm>
            <a:off x="2194560" y="1801368"/>
            <a:ext cx="7772400" cy="329184"/>
          </a:xfrm>
          <a:prstGeom prst="rect">
            <a:avLst/>
          </a:prstGeom>
          <a:noFill/>
        </p:spPr>
        <p:txBody>
          <a:bodyPr wrap="square" lIns="45720" rIns="45720" tIns="18288" bIns="18288" anchor="ctr">
            <a:spAutoFit/>
          </a:bodyPr>
          <a:lstStyle/>
          <a:p>
            <a:pPr algn="l"/>
            <a:r>
              <a:rPr sz="1400" b="1" i="0">
                <a:solidFill>
                  <a:srgbClr val="1A1A1A"/>
                </a:solidFill>
                <a:latin typeface="Calibri"/>
              </a:rPr>
              <a:t>The five standards &amp; decision tree</a:t>
            </a:r>
          </a:p>
        </p:txBody>
      </p:sp>
      <p:sp>
        <p:nvSpPr>
          <p:cNvPr id="14" name="TextBox 13"/>
          <p:cNvSpPr txBox="1"/>
          <p:nvPr/>
        </p:nvSpPr>
        <p:spPr>
          <a:xfrm>
            <a:off x="10058400" y="1801368"/>
            <a:ext cx="1828800" cy="329184"/>
          </a:xfrm>
          <a:prstGeom prst="rect">
            <a:avLst/>
          </a:prstGeom>
          <a:noFill/>
        </p:spPr>
        <p:txBody>
          <a:bodyPr wrap="square" lIns="45720" rIns="45720" tIns="18288" bIns="18288" anchor="ctr">
            <a:spAutoFit/>
          </a:bodyPr>
          <a:lstStyle/>
          <a:p>
            <a:pPr algn="r"/>
            <a:r>
              <a:rPr sz="1100" b="0" i="0">
                <a:solidFill>
                  <a:srgbClr val="6B6659"/>
                </a:solidFill>
                <a:latin typeface="Consolas"/>
              </a:rPr>
              <a:t>Slides 11–18</a:t>
            </a:r>
          </a:p>
        </p:txBody>
      </p:sp>
      <p:sp>
        <p:nvSpPr>
          <p:cNvPr id="15" name="Rectangle 14"/>
          <p:cNvSpPr/>
          <p:nvPr/>
        </p:nvSpPr>
        <p:spPr>
          <a:xfrm>
            <a:off x="640080" y="2185416"/>
            <a:ext cx="10972800" cy="329184"/>
          </a:xfrm>
          <a:prstGeom prst="rect">
            <a:avLst/>
          </a:prstGeom>
          <a:solidFill>
            <a:srgbClr val="E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185416"/>
            <a:ext cx="1371600" cy="329184"/>
          </a:xfrm>
          <a:prstGeom prst="rect">
            <a:avLst/>
          </a:prstGeom>
          <a:noFill/>
        </p:spPr>
        <p:txBody>
          <a:bodyPr wrap="square" lIns="45720" rIns="45720" tIns="18288" bIns="18288" anchor="ctr">
            <a:spAutoFit/>
          </a:bodyPr>
          <a:lstStyle/>
          <a:p>
            <a:pPr algn="l"/>
            <a:r>
              <a:rPr sz="1200" b="1" i="0">
                <a:solidFill>
                  <a:srgbClr val="6B6659"/>
                </a:solidFill>
                <a:latin typeface="Consolas"/>
              </a:rPr>
              <a:t>10:30</a:t>
            </a:r>
          </a:p>
        </p:txBody>
      </p:sp>
      <p:sp>
        <p:nvSpPr>
          <p:cNvPr id="17" name="TextBox 16"/>
          <p:cNvSpPr txBox="1"/>
          <p:nvPr/>
        </p:nvSpPr>
        <p:spPr>
          <a:xfrm>
            <a:off x="2194560" y="2185416"/>
            <a:ext cx="7315200" cy="329184"/>
          </a:xfrm>
          <a:prstGeom prst="rect">
            <a:avLst/>
          </a:prstGeom>
          <a:noFill/>
        </p:spPr>
        <p:txBody>
          <a:bodyPr wrap="square" lIns="45720" rIns="45720" tIns="18288" bIns="18288" anchor="ctr">
            <a:spAutoFit/>
          </a:bodyPr>
          <a:lstStyle/>
          <a:p>
            <a:pPr algn="l"/>
            <a:r>
              <a:rPr sz="1300" b="0" i="1">
                <a:solidFill>
                  <a:srgbClr val="6B6659"/>
                </a:solidFill>
                <a:latin typeface="Calibri"/>
              </a:rPr>
              <a:t>Break</a:t>
            </a:r>
          </a:p>
        </p:txBody>
      </p:sp>
      <p:sp>
        <p:nvSpPr>
          <p:cNvPr id="18" name="TextBox 17"/>
          <p:cNvSpPr txBox="1"/>
          <p:nvPr/>
        </p:nvSpPr>
        <p:spPr>
          <a:xfrm>
            <a:off x="822960" y="2569464"/>
            <a:ext cx="1371600" cy="329184"/>
          </a:xfrm>
          <a:prstGeom prst="rect">
            <a:avLst/>
          </a:prstGeom>
          <a:noFill/>
        </p:spPr>
        <p:txBody>
          <a:bodyPr wrap="square" lIns="45720" rIns="45720" tIns="18288" bIns="18288" anchor="ctr">
            <a:spAutoFit/>
          </a:bodyPr>
          <a:lstStyle/>
          <a:p>
            <a:pPr algn="l"/>
            <a:r>
              <a:rPr sz="1200" b="1" i="0">
                <a:solidFill>
                  <a:srgbClr val="1A2744"/>
                </a:solidFill>
                <a:latin typeface="Consolas"/>
              </a:rPr>
              <a:t>10:45</a:t>
            </a:r>
          </a:p>
        </p:txBody>
      </p:sp>
      <p:sp>
        <p:nvSpPr>
          <p:cNvPr id="19" name="TextBox 18"/>
          <p:cNvSpPr txBox="1"/>
          <p:nvPr/>
        </p:nvSpPr>
        <p:spPr>
          <a:xfrm>
            <a:off x="2194560" y="2569464"/>
            <a:ext cx="7772400" cy="329184"/>
          </a:xfrm>
          <a:prstGeom prst="rect">
            <a:avLst/>
          </a:prstGeom>
          <a:noFill/>
        </p:spPr>
        <p:txBody>
          <a:bodyPr wrap="square" lIns="45720" rIns="45720" tIns="18288" bIns="18288" anchor="ctr">
            <a:spAutoFit/>
          </a:bodyPr>
          <a:lstStyle/>
          <a:p>
            <a:pPr algn="l"/>
            <a:r>
              <a:rPr sz="1400" b="1" i="0">
                <a:solidFill>
                  <a:srgbClr val="1A1A1A"/>
                </a:solidFill>
                <a:latin typeface="Calibri"/>
              </a:rPr>
              <a:t>Program Access doctrine</a:t>
            </a:r>
          </a:p>
        </p:txBody>
      </p:sp>
      <p:sp>
        <p:nvSpPr>
          <p:cNvPr id="20" name="TextBox 19"/>
          <p:cNvSpPr txBox="1"/>
          <p:nvPr/>
        </p:nvSpPr>
        <p:spPr>
          <a:xfrm>
            <a:off x="10058400" y="2569464"/>
            <a:ext cx="1828800" cy="329184"/>
          </a:xfrm>
          <a:prstGeom prst="rect">
            <a:avLst/>
          </a:prstGeom>
          <a:noFill/>
        </p:spPr>
        <p:txBody>
          <a:bodyPr wrap="square" lIns="45720" rIns="45720" tIns="18288" bIns="18288" anchor="ctr">
            <a:spAutoFit/>
          </a:bodyPr>
          <a:lstStyle/>
          <a:p>
            <a:pPr algn="r"/>
            <a:r>
              <a:rPr sz="1100" b="0" i="0">
                <a:solidFill>
                  <a:srgbClr val="6B6659"/>
                </a:solidFill>
                <a:latin typeface="Consolas"/>
              </a:rPr>
              <a:t>Slides 19–22</a:t>
            </a:r>
          </a:p>
        </p:txBody>
      </p:sp>
      <p:sp>
        <p:nvSpPr>
          <p:cNvPr id="21" name="TextBox 20"/>
          <p:cNvSpPr txBox="1"/>
          <p:nvPr/>
        </p:nvSpPr>
        <p:spPr>
          <a:xfrm>
            <a:off x="822960" y="2953512"/>
            <a:ext cx="1371600" cy="329184"/>
          </a:xfrm>
          <a:prstGeom prst="rect">
            <a:avLst/>
          </a:prstGeom>
          <a:noFill/>
        </p:spPr>
        <p:txBody>
          <a:bodyPr wrap="square" lIns="45720" rIns="45720" tIns="18288" bIns="18288" anchor="ctr">
            <a:spAutoFit/>
          </a:bodyPr>
          <a:lstStyle/>
          <a:p>
            <a:pPr algn="l"/>
            <a:r>
              <a:rPr sz="1200" b="1" i="0">
                <a:solidFill>
                  <a:srgbClr val="1A2744"/>
                </a:solidFill>
                <a:latin typeface="Consolas"/>
              </a:rPr>
              <a:t>11:30</a:t>
            </a:r>
          </a:p>
        </p:txBody>
      </p:sp>
      <p:sp>
        <p:nvSpPr>
          <p:cNvPr id="22" name="TextBox 21"/>
          <p:cNvSpPr txBox="1"/>
          <p:nvPr/>
        </p:nvSpPr>
        <p:spPr>
          <a:xfrm>
            <a:off x="2194560" y="2953512"/>
            <a:ext cx="7772400" cy="329184"/>
          </a:xfrm>
          <a:prstGeom prst="rect">
            <a:avLst/>
          </a:prstGeom>
          <a:noFill/>
        </p:spPr>
        <p:txBody>
          <a:bodyPr wrap="square" lIns="45720" rIns="45720" tIns="18288" bIns="18288" anchor="ctr">
            <a:spAutoFit/>
          </a:bodyPr>
          <a:lstStyle/>
          <a:p>
            <a:pPr algn="l"/>
            <a:r>
              <a:rPr sz="1400" b="1" i="0">
                <a:solidFill>
                  <a:srgbClr val="1A1A1A"/>
                </a:solidFill>
                <a:latin typeface="Calibri"/>
              </a:rPr>
              <a:t>ANSI A117.1 (1961) deep-dive</a:t>
            </a:r>
          </a:p>
        </p:txBody>
      </p:sp>
      <p:sp>
        <p:nvSpPr>
          <p:cNvPr id="23" name="TextBox 22"/>
          <p:cNvSpPr txBox="1"/>
          <p:nvPr/>
        </p:nvSpPr>
        <p:spPr>
          <a:xfrm>
            <a:off x="10058400" y="2953512"/>
            <a:ext cx="1828800" cy="329184"/>
          </a:xfrm>
          <a:prstGeom prst="rect">
            <a:avLst/>
          </a:prstGeom>
          <a:noFill/>
        </p:spPr>
        <p:txBody>
          <a:bodyPr wrap="square" lIns="45720" rIns="45720" tIns="18288" bIns="18288" anchor="ctr">
            <a:spAutoFit/>
          </a:bodyPr>
          <a:lstStyle/>
          <a:p>
            <a:pPr algn="r"/>
            <a:r>
              <a:rPr sz="1100" b="0" i="0">
                <a:solidFill>
                  <a:srgbClr val="6B6659"/>
                </a:solidFill>
                <a:latin typeface="Consolas"/>
              </a:rPr>
              <a:t>Slides 23–25</a:t>
            </a:r>
          </a:p>
        </p:txBody>
      </p:sp>
      <p:sp>
        <p:nvSpPr>
          <p:cNvPr id="24" name="Rectangle 23"/>
          <p:cNvSpPr/>
          <p:nvPr/>
        </p:nvSpPr>
        <p:spPr>
          <a:xfrm>
            <a:off x="640080" y="3337560"/>
            <a:ext cx="10972800" cy="329184"/>
          </a:xfrm>
          <a:prstGeom prst="rect">
            <a:avLst/>
          </a:prstGeom>
          <a:solidFill>
            <a:srgbClr val="E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337560"/>
            <a:ext cx="1371600" cy="329184"/>
          </a:xfrm>
          <a:prstGeom prst="rect">
            <a:avLst/>
          </a:prstGeom>
          <a:noFill/>
        </p:spPr>
        <p:txBody>
          <a:bodyPr wrap="square" lIns="45720" rIns="45720" tIns="18288" bIns="18288" anchor="ctr">
            <a:spAutoFit/>
          </a:bodyPr>
          <a:lstStyle/>
          <a:p>
            <a:pPr algn="l"/>
            <a:r>
              <a:rPr sz="1200" b="1" i="0">
                <a:solidFill>
                  <a:srgbClr val="6B6659"/>
                </a:solidFill>
                <a:latin typeface="Consolas"/>
              </a:rPr>
              <a:t>12:00</a:t>
            </a:r>
          </a:p>
        </p:txBody>
      </p:sp>
      <p:sp>
        <p:nvSpPr>
          <p:cNvPr id="26" name="TextBox 25"/>
          <p:cNvSpPr txBox="1"/>
          <p:nvPr/>
        </p:nvSpPr>
        <p:spPr>
          <a:xfrm>
            <a:off x="2194560" y="3337560"/>
            <a:ext cx="7315200" cy="329184"/>
          </a:xfrm>
          <a:prstGeom prst="rect">
            <a:avLst/>
          </a:prstGeom>
          <a:noFill/>
        </p:spPr>
        <p:txBody>
          <a:bodyPr wrap="square" lIns="45720" rIns="45720" tIns="18288" bIns="18288" anchor="ctr">
            <a:spAutoFit/>
          </a:bodyPr>
          <a:lstStyle/>
          <a:p>
            <a:pPr algn="l"/>
            <a:r>
              <a:rPr sz="1300" b="0" i="1">
                <a:solidFill>
                  <a:srgbClr val="6B6659"/>
                </a:solidFill>
                <a:latin typeface="Calibri"/>
              </a:rPr>
              <a:t>Lunch</a:t>
            </a:r>
          </a:p>
        </p:txBody>
      </p:sp>
      <p:sp>
        <p:nvSpPr>
          <p:cNvPr id="27" name="TextBox 26"/>
          <p:cNvSpPr txBox="1"/>
          <p:nvPr/>
        </p:nvSpPr>
        <p:spPr>
          <a:xfrm>
            <a:off x="822960" y="3721608"/>
            <a:ext cx="1371600" cy="329184"/>
          </a:xfrm>
          <a:prstGeom prst="rect">
            <a:avLst/>
          </a:prstGeom>
          <a:noFill/>
        </p:spPr>
        <p:txBody>
          <a:bodyPr wrap="square" lIns="45720" rIns="45720" tIns="18288" bIns="18288" anchor="ctr">
            <a:spAutoFit/>
          </a:bodyPr>
          <a:lstStyle/>
          <a:p>
            <a:pPr algn="l"/>
            <a:r>
              <a:rPr sz="1200" b="1" i="0">
                <a:solidFill>
                  <a:srgbClr val="1A2744"/>
                </a:solidFill>
                <a:latin typeface="Consolas"/>
              </a:rPr>
              <a:t>1:00</a:t>
            </a:r>
          </a:p>
        </p:txBody>
      </p:sp>
      <p:sp>
        <p:nvSpPr>
          <p:cNvPr id="28" name="TextBox 27"/>
          <p:cNvSpPr txBox="1"/>
          <p:nvPr/>
        </p:nvSpPr>
        <p:spPr>
          <a:xfrm>
            <a:off x="2194560" y="3721608"/>
            <a:ext cx="7772400" cy="329184"/>
          </a:xfrm>
          <a:prstGeom prst="rect">
            <a:avLst/>
          </a:prstGeom>
          <a:noFill/>
        </p:spPr>
        <p:txBody>
          <a:bodyPr wrap="square" lIns="45720" rIns="45720" tIns="18288" bIns="18288" anchor="ctr">
            <a:spAutoFit/>
          </a:bodyPr>
          <a:lstStyle/>
          <a:p>
            <a:pPr algn="l"/>
            <a:r>
              <a:rPr sz="1400" b="1" i="0">
                <a:solidFill>
                  <a:srgbClr val="1A1A1A"/>
                </a:solidFill>
                <a:latin typeface="Calibri"/>
              </a:rPr>
              <a:t>UFAS · 1991 ADA · 2010 ADA</a:t>
            </a:r>
          </a:p>
        </p:txBody>
      </p:sp>
      <p:sp>
        <p:nvSpPr>
          <p:cNvPr id="29" name="TextBox 28"/>
          <p:cNvSpPr txBox="1"/>
          <p:nvPr/>
        </p:nvSpPr>
        <p:spPr>
          <a:xfrm>
            <a:off x="10058400" y="3721608"/>
            <a:ext cx="1828800" cy="329184"/>
          </a:xfrm>
          <a:prstGeom prst="rect">
            <a:avLst/>
          </a:prstGeom>
          <a:noFill/>
        </p:spPr>
        <p:txBody>
          <a:bodyPr wrap="square" lIns="45720" rIns="45720" tIns="18288" bIns="18288" anchor="ctr">
            <a:spAutoFit/>
          </a:bodyPr>
          <a:lstStyle/>
          <a:p>
            <a:pPr algn="r"/>
            <a:r>
              <a:rPr sz="1100" b="0" i="0">
                <a:solidFill>
                  <a:srgbClr val="6B6659"/>
                </a:solidFill>
                <a:latin typeface="Consolas"/>
              </a:rPr>
              <a:t>Slides 26–38</a:t>
            </a:r>
          </a:p>
        </p:txBody>
      </p:sp>
      <p:sp>
        <p:nvSpPr>
          <p:cNvPr id="30" name="Rectangle 29"/>
          <p:cNvSpPr/>
          <p:nvPr/>
        </p:nvSpPr>
        <p:spPr>
          <a:xfrm>
            <a:off x="640080" y="4105656"/>
            <a:ext cx="10972800" cy="329184"/>
          </a:xfrm>
          <a:prstGeom prst="rect">
            <a:avLst/>
          </a:prstGeom>
          <a:solidFill>
            <a:srgbClr val="E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105656"/>
            <a:ext cx="1371600" cy="329184"/>
          </a:xfrm>
          <a:prstGeom prst="rect">
            <a:avLst/>
          </a:prstGeom>
          <a:noFill/>
        </p:spPr>
        <p:txBody>
          <a:bodyPr wrap="square" lIns="45720" rIns="45720" tIns="18288" bIns="18288" anchor="ctr">
            <a:spAutoFit/>
          </a:bodyPr>
          <a:lstStyle/>
          <a:p>
            <a:pPr algn="l"/>
            <a:r>
              <a:rPr sz="1200" b="1" i="0">
                <a:solidFill>
                  <a:srgbClr val="6B6659"/>
                </a:solidFill>
                <a:latin typeface="Consolas"/>
              </a:rPr>
              <a:t>2:30</a:t>
            </a:r>
          </a:p>
        </p:txBody>
      </p:sp>
      <p:sp>
        <p:nvSpPr>
          <p:cNvPr id="32" name="TextBox 31"/>
          <p:cNvSpPr txBox="1"/>
          <p:nvPr/>
        </p:nvSpPr>
        <p:spPr>
          <a:xfrm>
            <a:off x="2194560" y="4105656"/>
            <a:ext cx="7315200" cy="329184"/>
          </a:xfrm>
          <a:prstGeom prst="rect">
            <a:avLst/>
          </a:prstGeom>
          <a:noFill/>
        </p:spPr>
        <p:txBody>
          <a:bodyPr wrap="square" lIns="45720" rIns="45720" tIns="18288" bIns="18288" anchor="ctr">
            <a:spAutoFit/>
          </a:bodyPr>
          <a:lstStyle/>
          <a:p>
            <a:pPr algn="l"/>
            <a:r>
              <a:rPr sz="1300" b="0" i="1">
                <a:solidFill>
                  <a:srgbClr val="6B6659"/>
                </a:solidFill>
                <a:latin typeface="Calibri"/>
              </a:rPr>
              <a:t>Break</a:t>
            </a:r>
          </a:p>
        </p:txBody>
      </p:sp>
      <p:sp>
        <p:nvSpPr>
          <p:cNvPr id="33" name="TextBox 32"/>
          <p:cNvSpPr txBox="1"/>
          <p:nvPr/>
        </p:nvSpPr>
        <p:spPr>
          <a:xfrm>
            <a:off x="822960" y="4489704"/>
            <a:ext cx="1371600" cy="329184"/>
          </a:xfrm>
          <a:prstGeom prst="rect">
            <a:avLst/>
          </a:prstGeom>
          <a:noFill/>
        </p:spPr>
        <p:txBody>
          <a:bodyPr wrap="square" lIns="45720" rIns="45720" tIns="18288" bIns="18288" anchor="ctr">
            <a:spAutoFit/>
          </a:bodyPr>
          <a:lstStyle/>
          <a:p>
            <a:pPr algn="l"/>
            <a:r>
              <a:rPr sz="1200" b="1" i="0">
                <a:solidFill>
                  <a:srgbClr val="1A2744"/>
                </a:solidFill>
                <a:latin typeface="Consolas"/>
              </a:rPr>
              <a:t>2:45</a:t>
            </a:r>
          </a:p>
        </p:txBody>
      </p:sp>
      <p:sp>
        <p:nvSpPr>
          <p:cNvPr id="34" name="TextBox 33"/>
          <p:cNvSpPr txBox="1"/>
          <p:nvPr/>
        </p:nvSpPr>
        <p:spPr>
          <a:xfrm>
            <a:off x="2194560" y="4489704"/>
            <a:ext cx="7772400" cy="329184"/>
          </a:xfrm>
          <a:prstGeom prst="rect">
            <a:avLst/>
          </a:prstGeom>
          <a:noFill/>
        </p:spPr>
        <p:txBody>
          <a:bodyPr wrap="square" lIns="45720" rIns="45720" tIns="18288" bIns="18288" anchor="ctr">
            <a:spAutoFit/>
          </a:bodyPr>
          <a:lstStyle/>
          <a:p>
            <a:pPr algn="l"/>
            <a:r>
              <a:rPr sz="1400" b="1" i="0">
                <a:solidFill>
                  <a:srgbClr val="1A1A1A"/>
                </a:solidFill>
                <a:latin typeface="Calibri"/>
              </a:rPr>
              <a:t>Measurements reference + CTE deep-dives</a:t>
            </a:r>
          </a:p>
        </p:txBody>
      </p:sp>
      <p:sp>
        <p:nvSpPr>
          <p:cNvPr id="35" name="TextBox 34"/>
          <p:cNvSpPr txBox="1"/>
          <p:nvPr/>
        </p:nvSpPr>
        <p:spPr>
          <a:xfrm>
            <a:off x="10058400" y="4489704"/>
            <a:ext cx="1828800" cy="329184"/>
          </a:xfrm>
          <a:prstGeom prst="rect">
            <a:avLst/>
          </a:prstGeom>
          <a:noFill/>
        </p:spPr>
        <p:txBody>
          <a:bodyPr wrap="square" lIns="45720" rIns="45720" tIns="18288" bIns="18288" anchor="ctr">
            <a:spAutoFit/>
          </a:bodyPr>
          <a:lstStyle/>
          <a:p>
            <a:pPr algn="r"/>
            <a:r>
              <a:rPr sz="1100" b="0" i="0">
                <a:solidFill>
                  <a:srgbClr val="6B6659"/>
                </a:solidFill>
                <a:latin typeface="Consolas"/>
              </a:rPr>
              <a:t>Slides 39–50</a:t>
            </a:r>
          </a:p>
        </p:txBody>
      </p:sp>
      <p:sp>
        <p:nvSpPr>
          <p:cNvPr id="36" name="TextBox 35"/>
          <p:cNvSpPr txBox="1"/>
          <p:nvPr/>
        </p:nvSpPr>
        <p:spPr>
          <a:xfrm>
            <a:off x="822960" y="4873752"/>
            <a:ext cx="1371600" cy="329184"/>
          </a:xfrm>
          <a:prstGeom prst="rect">
            <a:avLst/>
          </a:prstGeom>
          <a:noFill/>
        </p:spPr>
        <p:txBody>
          <a:bodyPr wrap="square" lIns="45720" rIns="45720" tIns="18288" bIns="18288" anchor="ctr">
            <a:spAutoFit/>
          </a:bodyPr>
          <a:lstStyle/>
          <a:p>
            <a:pPr algn="l"/>
            <a:r>
              <a:rPr sz="1200" b="1" i="0">
                <a:solidFill>
                  <a:srgbClr val="1A2744"/>
                </a:solidFill>
                <a:latin typeface="Consolas"/>
              </a:rPr>
              <a:t>3:45</a:t>
            </a:r>
          </a:p>
        </p:txBody>
      </p:sp>
      <p:sp>
        <p:nvSpPr>
          <p:cNvPr id="37" name="TextBox 36"/>
          <p:cNvSpPr txBox="1"/>
          <p:nvPr/>
        </p:nvSpPr>
        <p:spPr>
          <a:xfrm>
            <a:off x="2194560" y="4873752"/>
            <a:ext cx="7772400" cy="329184"/>
          </a:xfrm>
          <a:prstGeom prst="rect">
            <a:avLst/>
          </a:prstGeom>
          <a:noFill/>
        </p:spPr>
        <p:txBody>
          <a:bodyPr wrap="square" lIns="45720" rIns="45720" tIns="18288" bIns="18288" anchor="ctr">
            <a:spAutoFit/>
          </a:bodyPr>
          <a:lstStyle/>
          <a:p>
            <a:pPr algn="l"/>
            <a:r>
              <a:rPr sz="1400" b="1" i="0">
                <a:solidFill>
                  <a:srgbClr val="1A1A1A"/>
                </a:solidFill>
                <a:latin typeface="Calibri"/>
              </a:rPr>
              <a:t>Two reviewer rules: element-by-element &amp; corrective = 2010 ADA</a:t>
            </a:r>
          </a:p>
        </p:txBody>
      </p:sp>
      <p:sp>
        <p:nvSpPr>
          <p:cNvPr id="38" name="TextBox 37"/>
          <p:cNvSpPr txBox="1"/>
          <p:nvPr/>
        </p:nvSpPr>
        <p:spPr>
          <a:xfrm>
            <a:off x="10058400" y="4873752"/>
            <a:ext cx="1828800" cy="329184"/>
          </a:xfrm>
          <a:prstGeom prst="rect">
            <a:avLst/>
          </a:prstGeom>
          <a:noFill/>
        </p:spPr>
        <p:txBody>
          <a:bodyPr wrap="square" lIns="45720" rIns="45720" tIns="18288" bIns="18288" anchor="ctr">
            <a:spAutoFit/>
          </a:bodyPr>
          <a:lstStyle/>
          <a:p>
            <a:pPr algn="r"/>
            <a:r>
              <a:rPr sz="1100" b="0" i="0">
                <a:solidFill>
                  <a:srgbClr val="6B6659"/>
                </a:solidFill>
                <a:latin typeface="Consolas"/>
              </a:rPr>
              <a:t>Slides 51–54</a:t>
            </a:r>
          </a:p>
        </p:txBody>
      </p:sp>
      <p:sp>
        <p:nvSpPr>
          <p:cNvPr id="39" name="TextBox 38"/>
          <p:cNvSpPr txBox="1"/>
          <p:nvPr/>
        </p:nvSpPr>
        <p:spPr>
          <a:xfrm>
            <a:off x="822960" y="5257800"/>
            <a:ext cx="1371600" cy="329184"/>
          </a:xfrm>
          <a:prstGeom prst="rect">
            <a:avLst/>
          </a:prstGeom>
          <a:noFill/>
        </p:spPr>
        <p:txBody>
          <a:bodyPr wrap="square" lIns="45720" rIns="45720" tIns="18288" bIns="18288" anchor="ctr">
            <a:spAutoFit/>
          </a:bodyPr>
          <a:lstStyle/>
          <a:p>
            <a:pPr algn="l"/>
            <a:r>
              <a:rPr sz="1200" b="1" i="0">
                <a:solidFill>
                  <a:srgbClr val="1A2744"/>
                </a:solidFill>
                <a:latin typeface="Consolas"/>
              </a:rPr>
              <a:t>4:15</a:t>
            </a:r>
          </a:p>
        </p:txBody>
      </p:sp>
      <p:sp>
        <p:nvSpPr>
          <p:cNvPr id="40" name="TextBox 39"/>
          <p:cNvSpPr txBox="1"/>
          <p:nvPr/>
        </p:nvSpPr>
        <p:spPr>
          <a:xfrm>
            <a:off x="2194560" y="5257800"/>
            <a:ext cx="7772400" cy="329184"/>
          </a:xfrm>
          <a:prstGeom prst="rect">
            <a:avLst/>
          </a:prstGeom>
          <a:noFill/>
        </p:spPr>
        <p:txBody>
          <a:bodyPr wrap="square" lIns="45720" rIns="45720" tIns="18288" bIns="18288" anchor="ctr">
            <a:spAutoFit/>
          </a:bodyPr>
          <a:lstStyle/>
          <a:p>
            <a:pPr algn="l"/>
            <a:r>
              <a:rPr sz="1400" b="1" i="0">
                <a:solidFill>
                  <a:srgbClr val="1A1A1A"/>
                </a:solidFill>
                <a:latin typeface="Calibri"/>
              </a:rPr>
              <a:t>Writing findings + case studies</a:t>
            </a:r>
          </a:p>
        </p:txBody>
      </p:sp>
      <p:sp>
        <p:nvSpPr>
          <p:cNvPr id="41" name="TextBox 40"/>
          <p:cNvSpPr txBox="1"/>
          <p:nvPr/>
        </p:nvSpPr>
        <p:spPr>
          <a:xfrm>
            <a:off x="10058400" y="5257800"/>
            <a:ext cx="1828800" cy="329184"/>
          </a:xfrm>
          <a:prstGeom prst="rect">
            <a:avLst/>
          </a:prstGeom>
          <a:noFill/>
        </p:spPr>
        <p:txBody>
          <a:bodyPr wrap="square" lIns="45720" rIns="45720" tIns="18288" bIns="18288" anchor="ctr">
            <a:spAutoFit/>
          </a:bodyPr>
          <a:lstStyle/>
          <a:p>
            <a:pPr algn="r"/>
            <a:r>
              <a:rPr sz="1100" b="0" i="0">
                <a:solidFill>
                  <a:srgbClr val="6B6659"/>
                </a:solidFill>
                <a:latin typeface="Consolas"/>
              </a:rPr>
              <a:t>Slides 55–61</a:t>
            </a:r>
          </a:p>
        </p:txBody>
      </p:sp>
      <p:sp>
        <p:nvSpPr>
          <p:cNvPr id="42" name="TextBox 41"/>
          <p:cNvSpPr txBox="1"/>
          <p:nvPr/>
        </p:nvSpPr>
        <p:spPr>
          <a:xfrm>
            <a:off x="822960" y="5641848"/>
            <a:ext cx="1371600" cy="329184"/>
          </a:xfrm>
          <a:prstGeom prst="rect">
            <a:avLst/>
          </a:prstGeom>
          <a:noFill/>
        </p:spPr>
        <p:txBody>
          <a:bodyPr wrap="square" lIns="45720" rIns="45720" tIns="18288" bIns="18288" anchor="ctr">
            <a:spAutoFit/>
          </a:bodyPr>
          <a:lstStyle/>
          <a:p>
            <a:pPr algn="l"/>
            <a:r>
              <a:rPr sz="1200" b="1" i="0">
                <a:solidFill>
                  <a:srgbClr val="1A2744"/>
                </a:solidFill>
                <a:latin typeface="Consolas"/>
              </a:rPr>
              <a:t>5:00</a:t>
            </a:r>
          </a:p>
        </p:txBody>
      </p:sp>
      <p:sp>
        <p:nvSpPr>
          <p:cNvPr id="43" name="TextBox 42"/>
          <p:cNvSpPr txBox="1"/>
          <p:nvPr/>
        </p:nvSpPr>
        <p:spPr>
          <a:xfrm>
            <a:off x="2194560" y="5641848"/>
            <a:ext cx="7772400" cy="329184"/>
          </a:xfrm>
          <a:prstGeom prst="rect">
            <a:avLst/>
          </a:prstGeom>
          <a:noFill/>
        </p:spPr>
        <p:txBody>
          <a:bodyPr wrap="square" lIns="45720" rIns="45720" tIns="18288" bIns="18288" anchor="ctr">
            <a:spAutoFit/>
          </a:bodyPr>
          <a:lstStyle/>
          <a:p>
            <a:pPr algn="l"/>
            <a:r>
              <a:rPr sz="1400" b="1" i="0">
                <a:solidFill>
                  <a:srgbClr val="1A1A1A"/>
                </a:solidFill>
                <a:latin typeface="Calibri"/>
              </a:rPr>
              <a:t>Resources &amp; wrap-up</a:t>
            </a:r>
          </a:p>
        </p:txBody>
      </p:sp>
      <p:sp>
        <p:nvSpPr>
          <p:cNvPr id="44" name="TextBox 43"/>
          <p:cNvSpPr txBox="1"/>
          <p:nvPr/>
        </p:nvSpPr>
        <p:spPr>
          <a:xfrm>
            <a:off x="10058400" y="5641848"/>
            <a:ext cx="1828800" cy="329184"/>
          </a:xfrm>
          <a:prstGeom prst="rect">
            <a:avLst/>
          </a:prstGeom>
          <a:noFill/>
        </p:spPr>
        <p:txBody>
          <a:bodyPr wrap="square" lIns="45720" rIns="45720" tIns="18288" bIns="18288" anchor="ctr">
            <a:spAutoFit/>
          </a:bodyPr>
          <a:lstStyle/>
          <a:p>
            <a:pPr algn="r"/>
            <a:r>
              <a:rPr sz="1100" b="0" i="0">
                <a:solidFill>
                  <a:srgbClr val="6B6659"/>
                </a:solidFill>
                <a:latin typeface="Consolas"/>
              </a:rPr>
              <a:t>Slides 62–63</a:t>
            </a:r>
          </a:p>
        </p:txBody>
      </p:sp>
      <p:sp>
        <p:nvSpPr>
          <p:cNvPr id="45" name="TextBox 44"/>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46" name="TextBox 45"/>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03 / 63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04 · ORIENTATION</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Why this matters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457200"/>
          </a:xfrm>
          <a:prstGeom prst="rect">
            <a:avLst/>
          </a:prstGeom>
          <a:noFill/>
        </p:spPr>
        <p:txBody>
          <a:bodyPr wrap="square" lIns="45720" rIns="45720" tIns="18288" bIns="18288" anchor="t">
            <a:spAutoFit/>
          </a:bodyPr>
          <a:lstStyle/>
          <a:p>
            <a:pPr algn="l"/>
            <a:r>
              <a:rPr sz="1800" b="0" i="1">
                <a:solidFill>
                  <a:srgbClr val="1A2744"/>
                </a:solidFill>
                <a:latin typeface="Calibri"/>
              </a:rPr>
              <a:t>A facility barrier is not just a code issue — it is an exclusion from public education.</a:t>
            </a:r>
          </a:p>
        </p:txBody>
      </p:sp>
      <p:sp>
        <p:nvSpPr>
          <p:cNvPr id="10" name="Rectangle 9"/>
          <p:cNvSpPr/>
          <p:nvPr/>
        </p:nvSpPr>
        <p:spPr>
          <a:xfrm>
            <a:off x="502920" y="2103120"/>
            <a:ext cx="3657600" cy="40233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103120"/>
            <a:ext cx="3657600" cy="73152"/>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86000"/>
            <a:ext cx="3291840" cy="914400"/>
          </a:xfrm>
          <a:prstGeom prst="rect">
            <a:avLst/>
          </a:prstGeom>
          <a:noFill/>
        </p:spPr>
        <p:txBody>
          <a:bodyPr wrap="square" lIns="45720" rIns="45720" tIns="18288" bIns="18288" anchor="t">
            <a:spAutoFit/>
          </a:bodyPr>
          <a:lstStyle/>
          <a:p>
            <a:pPr algn="l"/>
            <a:r>
              <a:rPr sz="4400" b="1" i="0">
                <a:solidFill>
                  <a:srgbClr val="1A2744"/>
                </a:solidFill>
                <a:latin typeface="Georgia"/>
              </a:rPr>
              <a:t>1 in 4</a:t>
            </a:r>
          </a:p>
        </p:txBody>
      </p:sp>
      <p:sp>
        <p:nvSpPr>
          <p:cNvPr id="13" name="TextBox 12"/>
          <p:cNvSpPr txBox="1"/>
          <p:nvPr/>
        </p:nvSpPr>
        <p:spPr>
          <a:xfrm>
            <a:off x="685800" y="3383280"/>
            <a:ext cx="3291840" cy="914400"/>
          </a:xfrm>
          <a:prstGeom prst="rect">
            <a:avLst/>
          </a:prstGeom>
          <a:noFill/>
        </p:spPr>
        <p:txBody>
          <a:bodyPr wrap="square" lIns="45720" rIns="45720" tIns="18288" bIns="18288" anchor="t">
            <a:spAutoFit/>
          </a:bodyPr>
          <a:lstStyle/>
          <a:p>
            <a:pPr algn="l"/>
            <a:r>
              <a:rPr sz="1400" b="1" i="0">
                <a:solidFill>
                  <a:srgbClr val="1A1A1A"/>
                </a:solidFill>
                <a:latin typeface="Calibri"/>
              </a:rPr>
              <a:t>California adults reports a disability (CDC, 2024).</a:t>
            </a:r>
          </a:p>
        </p:txBody>
      </p:sp>
      <p:sp>
        <p:nvSpPr>
          <p:cNvPr id="14" name="TextBox 13"/>
          <p:cNvSpPr txBox="1"/>
          <p:nvPr/>
        </p:nvSpPr>
        <p:spPr>
          <a:xfrm>
            <a:off x="685800" y="4389120"/>
            <a:ext cx="3291840" cy="1645920"/>
          </a:xfrm>
          <a:prstGeom prst="rect">
            <a:avLst/>
          </a:prstGeom>
          <a:noFill/>
        </p:spPr>
        <p:txBody>
          <a:bodyPr wrap="square" lIns="45720" rIns="45720" tIns="18288" bIns="18288" anchor="t">
            <a:spAutoFit/>
          </a:bodyPr>
          <a:lstStyle/>
          <a:p>
            <a:pPr algn="l"/>
            <a:r>
              <a:rPr sz="1200" b="0" i="1">
                <a:solidFill>
                  <a:srgbClr val="6B6659"/>
                </a:solidFill>
                <a:latin typeface="Calibri"/>
              </a:rPr>
              <a:t>Every campus we review has students, parents, and staff who depend on access.</a:t>
            </a:r>
          </a:p>
        </p:txBody>
      </p:sp>
      <p:sp>
        <p:nvSpPr>
          <p:cNvPr id="15" name="Rectangle 14"/>
          <p:cNvSpPr/>
          <p:nvPr/>
        </p:nvSpPr>
        <p:spPr>
          <a:xfrm>
            <a:off x="4343400" y="2103120"/>
            <a:ext cx="3657600" cy="40233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2103120"/>
            <a:ext cx="3657600" cy="73152"/>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2286000"/>
            <a:ext cx="3291840" cy="914400"/>
          </a:xfrm>
          <a:prstGeom prst="rect">
            <a:avLst/>
          </a:prstGeom>
          <a:noFill/>
        </p:spPr>
        <p:txBody>
          <a:bodyPr wrap="square" lIns="45720" rIns="45720" tIns="18288" bIns="18288" anchor="t">
            <a:spAutoFit/>
          </a:bodyPr>
          <a:lstStyle/>
          <a:p>
            <a:pPr algn="l"/>
            <a:r>
              <a:rPr sz="4400" b="1" i="0">
                <a:solidFill>
                  <a:srgbClr val="1A2744"/>
                </a:solidFill>
                <a:latin typeface="Georgia"/>
              </a:rPr>
              <a:t>60+ yrs</a:t>
            </a:r>
          </a:p>
        </p:txBody>
      </p:sp>
      <p:sp>
        <p:nvSpPr>
          <p:cNvPr id="18" name="TextBox 17"/>
          <p:cNvSpPr txBox="1"/>
          <p:nvPr/>
        </p:nvSpPr>
        <p:spPr>
          <a:xfrm>
            <a:off x="4526280" y="3383280"/>
            <a:ext cx="3291840" cy="914400"/>
          </a:xfrm>
          <a:prstGeom prst="rect">
            <a:avLst/>
          </a:prstGeom>
          <a:noFill/>
        </p:spPr>
        <p:txBody>
          <a:bodyPr wrap="square" lIns="45720" rIns="45720" tIns="18288" bIns="18288" anchor="t">
            <a:spAutoFit/>
          </a:bodyPr>
          <a:lstStyle/>
          <a:p>
            <a:pPr algn="l"/>
            <a:r>
              <a:rPr sz="1400" b="1" i="0">
                <a:solidFill>
                  <a:srgbClr val="1A1A1A"/>
                </a:solidFill>
                <a:latin typeface="Calibri"/>
              </a:rPr>
              <a:t>of federal accessibility law — yet most CTE shops we visit predate it.</a:t>
            </a:r>
          </a:p>
        </p:txBody>
      </p:sp>
      <p:sp>
        <p:nvSpPr>
          <p:cNvPr id="19" name="TextBox 18"/>
          <p:cNvSpPr txBox="1"/>
          <p:nvPr/>
        </p:nvSpPr>
        <p:spPr>
          <a:xfrm>
            <a:off x="4526280" y="4389120"/>
            <a:ext cx="3291840" cy="1645920"/>
          </a:xfrm>
          <a:prstGeom prst="rect">
            <a:avLst/>
          </a:prstGeom>
          <a:noFill/>
        </p:spPr>
        <p:txBody>
          <a:bodyPr wrap="square" lIns="45720" rIns="45720" tIns="18288" bIns="18288" anchor="t">
            <a:spAutoFit/>
          </a:bodyPr>
          <a:lstStyle/>
          <a:p>
            <a:pPr algn="l"/>
            <a:r>
              <a:rPr sz="1200" b="0" i="1">
                <a:solidFill>
                  <a:srgbClr val="6B6659"/>
                </a:solidFill>
                <a:latin typeface="Calibri"/>
              </a:rPr>
              <a:t>California schools built between 1955 and 1990 dominate the CRR queue.</a:t>
            </a:r>
          </a:p>
        </p:txBody>
      </p:sp>
      <p:sp>
        <p:nvSpPr>
          <p:cNvPr id="20" name="Rectangle 19"/>
          <p:cNvSpPr/>
          <p:nvPr/>
        </p:nvSpPr>
        <p:spPr>
          <a:xfrm>
            <a:off x="8183880" y="2103120"/>
            <a:ext cx="3657600" cy="40233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80" y="2103120"/>
            <a:ext cx="3657600" cy="73152"/>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286000"/>
            <a:ext cx="3291840" cy="914400"/>
          </a:xfrm>
          <a:prstGeom prst="rect">
            <a:avLst/>
          </a:prstGeom>
          <a:noFill/>
        </p:spPr>
        <p:txBody>
          <a:bodyPr wrap="square" lIns="45720" rIns="45720" tIns="18288" bIns="18288" anchor="t">
            <a:spAutoFit/>
          </a:bodyPr>
          <a:lstStyle/>
          <a:p>
            <a:pPr algn="l"/>
            <a:r>
              <a:rPr sz="4400" b="1" i="0">
                <a:solidFill>
                  <a:srgbClr val="1A2744"/>
                </a:solidFill>
                <a:latin typeface="Georgia"/>
              </a:rPr>
              <a:t>$0</a:t>
            </a:r>
          </a:p>
        </p:txBody>
      </p:sp>
      <p:sp>
        <p:nvSpPr>
          <p:cNvPr id="23" name="TextBox 22"/>
          <p:cNvSpPr txBox="1"/>
          <p:nvPr/>
        </p:nvSpPr>
        <p:spPr>
          <a:xfrm>
            <a:off x="8366760" y="3383280"/>
            <a:ext cx="3291840" cy="914400"/>
          </a:xfrm>
          <a:prstGeom prst="rect">
            <a:avLst/>
          </a:prstGeom>
          <a:noFill/>
        </p:spPr>
        <p:txBody>
          <a:bodyPr wrap="square" lIns="45720" rIns="45720" tIns="18288" bIns="18288" anchor="t">
            <a:spAutoFit/>
          </a:bodyPr>
          <a:lstStyle/>
          <a:p>
            <a:pPr algn="l"/>
            <a:r>
              <a:rPr sz="1400" b="1" i="0">
                <a:solidFill>
                  <a:srgbClr val="1A1A1A"/>
                </a:solidFill>
                <a:latin typeface="Calibri"/>
              </a:rPr>
              <a:t>is the cost of getting the standard right the first time.</a:t>
            </a:r>
          </a:p>
        </p:txBody>
      </p:sp>
      <p:sp>
        <p:nvSpPr>
          <p:cNvPr id="24" name="TextBox 23"/>
          <p:cNvSpPr txBox="1"/>
          <p:nvPr/>
        </p:nvSpPr>
        <p:spPr>
          <a:xfrm>
            <a:off x="8366760" y="4389120"/>
            <a:ext cx="3291840" cy="1645920"/>
          </a:xfrm>
          <a:prstGeom prst="rect">
            <a:avLst/>
          </a:prstGeom>
          <a:noFill/>
        </p:spPr>
        <p:txBody>
          <a:bodyPr wrap="square" lIns="45720" rIns="45720" tIns="18288" bIns="18288" anchor="t">
            <a:spAutoFit/>
          </a:bodyPr>
          <a:lstStyle/>
          <a:p>
            <a:pPr algn="l"/>
            <a:r>
              <a:rPr sz="1200" b="0" i="1">
                <a:solidFill>
                  <a:srgbClr val="6B6659"/>
                </a:solidFill>
                <a:latin typeface="Calibri"/>
              </a:rPr>
              <a:t>Misapplying ANSI to a 2015 building, or 2010 ADA to a 1968 building, can invalidate the entire LOF.</a:t>
            </a:r>
          </a:p>
        </p:txBody>
      </p:sp>
      <p:sp>
        <p:nvSpPr>
          <p:cNvPr id="25" name="TextBox 24"/>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26" name="TextBox 25"/>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04 / 63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05 · ORIENTATION</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Your role as a CDE OEO reviewer</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5486400" cy="45720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17320"/>
            <a:ext cx="5486400" cy="457200"/>
          </a:xfrm>
          <a:prstGeom prst="rect">
            <a:avLst/>
          </a:prstGeom>
          <a:noFill/>
        </p:spPr>
        <p:txBody>
          <a:bodyPr wrap="square" lIns="45720" rIns="45720" tIns="18288" bIns="18288" anchor="ctr">
            <a:spAutoFit/>
          </a:bodyPr>
          <a:lstStyle/>
          <a:p>
            <a:pPr algn="ctr"/>
            <a:r>
              <a:rPr sz="1400" b="1" i="0">
                <a:solidFill>
                  <a:srgbClr val="FFFFFF"/>
                </a:solidFill>
                <a:latin typeface="Consolas"/>
              </a:rPr>
              <a:t>YOU DO</a:t>
            </a:r>
          </a:p>
        </p:txBody>
      </p:sp>
      <p:sp>
        <p:nvSpPr>
          <p:cNvPr id="11" name="Rectangle 10"/>
          <p:cNvSpPr/>
          <p:nvPr/>
        </p:nvSpPr>
        <p:spPr>
          <a:xfrm>
            <a:off x="6263640" y="1417320"/>
            <a:ext cx="5486400" cy="4572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417320"/>
            <a:ext cx="5486400" cy="457200"/>
          </a:xfrm>
          <a:prstGeom prst="rect">
            <a:avLst/>
          </a:prstGeom>
          <a:noFill/>
        </p:spPr>
        <p:txBody>
          <a:bodyPr wrap="square" lIns="45720" rIns="45720" tIns="18288" bIns="18288" anchor="ctr">
            <a:spAutoFit/>
          </a:bodyPr>
          <a:lstStyle/>
          <a:p>
            <a:pPr algn="ctr"/>
            <a:r>
              <a:rPr sz="1400" b="1" i="0">
                <a:solidFill>
                  <a:srgbClr val="FFFFFF"/>
                </a:solidFill>
                <a:latin typeface="Consolas"/>
              </a:rPr>
              <a:t>YOU DO NOT</a:t>
            </a:r>
          </a:p>
        </p:txBody>
      </p:sp>
      <p:sp>
        <p:nvSpPr>
          <p:cNvPr id="13" name="Rectangle 12"/>
          <p:cNvSpPr/>
          <p:nvPr/>
        </p:nvSpPr>
        <p:spPr>
          <a:xfrm>
            <a:off x="502920" y="1874519"/>
            <a:ext cx="5486400" cy="45720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965960"/>
            <a:ext cx="5212080" cy="4480560"/>
          </a:xfrm>
          <a:prstGeom prst="rect">
            <a:avLst/>
          </a:prstGeom>
          <a:noFill/>
        </p:spPr>
        <p:txBody>
          <a:bodyPr wrap="square" lIns="45720" rIns="45720">
            <a:spAutoFit/>
          </a:bodyPr>
          <a:lstStyle/>
          <a:p>
            <a:pPr algn="l">
              <a:spcAft>
                <a:spcPts val="600"/>
              </a:spcAft>
            </a:pPr>
            <a:r>
              <a:rPr sz="1300" b="0">
                <a:solidFill>
                  <a:srgbClr val="1A1A1A"/>
                </a:solidFill>
                <a:latin typeface="Calibri"/>
              </a:rPr>
              <a:t>•  Verify the LEA's self-assessment against documentation (blueprints, work orders, DSA approvals).</a:t>
            </a:r>
          </a:p>
          <a:p>
            <a:pPr algn="l">
              <a:spcAft>
                <a:spcPts val="600"/>
              </a:spcAft>
            </a:pPr>
            <a:r>
              <a:rPr sz="1300" b="0">
                <a:solidFill>
                  <a:srgbClr val="1A1A1A"/>
                </a:solidFill>
                <a:latin typeface="Calibri"/>
              </a:rPr>
              <a:t>•  Determine the applicable standard for each area by date.</a:t>
            </a:r>
          </a:p>
          <a:p>
            <a:pPr algn="l">
              <a:spcAft>
                <a:spcPts val="600"/>
              </a:spcAft>
            </a:pPr>
            <a:r>
              <a:rPr sz="1300" b="0">
                <a:solidFill>
                  <a:srgbClr val="1A1A1A"/>
                </a:solidFill>
                <a:latin typeface="Calibri"/>
              </a:rPr>
              <a:t>•  Compare measured field conditions to the applicable standard.</a:t>
            </a:r>
          </a:p>
          <a:p>
            <a:pPr algn="l">
              <a:spcAft>
                <a:spcPts val="600"/>
              </a:spcAft>
            </a:pPr>
            <a:r>
              <a:rPr sz="1300" b="0">
                <a:solidFill>
                  <a:srgbClr val="1A1A1A"/>
                </a:solidFill>
                <a:latin typeface="Calibri"/>
              </a:rPr>
              <a:t>•  Document violations with the controlling citation in the LOF.</a:t>
            </a:r>
          </a:p>
          <a:p>
            <a:pPr algn="l">
              <a:spcAft>
                <a:spcPts val="600"/>
              </a:spcAft>
            </a:pPr>
            <a:r>
              <a:rPr sz="1300" b="0">
                <a:solidFill>
                  <a:srgbClr val="1A1A1A"/>
                </a:solidFill>
                <a:latin typeface="Calibri"/>
              </a:rPr>
              <a:t>•  Issue corrective actions tied to that citation, with a 45-day deadline.</a:t>
            </a:r>
          </a:p>
          <a:p>
            <a:pPr algn="l">
              <a:spcAft>
                <a:spcPts val="600"/>
              </a:spcAft>
            </a:pPr>
            <a:r>
              <a:rPr sz="1300" b="0">
                <a:solidFill>
                  <a:srgbClr val="1A1A1A"/>
                </a:solidFill>
                <a:latin typeface="Calibri"/>
              </a:rPr>
              <a:t>•  Coordinate with the LEA's ADA/Title II and Section 504 coordinator.</a:t>
            </a:r>
          </a:p>
        </p:txBody>
      </p:sp>
      <p:sp>
        <p:nvSpPr>
          <p:cNvPr id="15" name="Rectangle 14"/>
          <p:cNvSpPr/>
          <p:nvPr/>
        </p:nvSpPr>
        <p:spPr>
          <a:xfrm>
            <a:off x="6263640" y="1874519"/>
            <a:ext cx="5486400" cy="45720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965960"/>
            <a:ext cx="5212080" cy="4480560"/>
          </a:xfrm>
          <a:prstGeom prst="rect">
            <a:avLst/>
          </a:prstGeom>
          <a:noFill/>
        </p:spPr>
        <p:txBody>
          <a:bodyPr wrap="square" lIns="45720" rIns="45720">
            <a:spAutoFit/>
          </a:bodyPr>
          <a:lstStyle/>
          <a:p>
            <a:pPr algn="l">
              <a:spcAft>
                <a:spcPts val="600"/>
              </a:spcAft>
            </a:pPr>
            <a:r>
              <a:rPr sz="1300" b="0">
                <a:solidFill>
                  <a:srgbClr val="1A1A1A"/>
                </a:solidFill>
                <a:latin typeface="Calibri"/>
              </a:rPr>
              <a:t>✕  Design fixes or recommend specific construction details (LEA hires the architect).</a:t>
            </a:r>
          </a:p>
          <a:p>
            <a:pPr algn="l">
              <a:spcAft>
                <a:spcPts val="600"/>
              </a:spcAft>
            </a:pPr>
            <a:r>
              <a:rPr sz="1300" b="0">
                <a:solidFill>
                  <a:srgbClr val="1A1A1A"/>
                </a:solidFill>
                <a:latin typeface="Calibri"/>
              </a:rPr>
              <a:t>✕  Apply a newer standard to an older building (you are not retroactive).</a:t>
            </a:r>
          </a:p>
          <a:p>
            <a:pPr algn="l">
              <a:spcAft>
                <a:spcPts val="600"/>
              </a:spcAft>
            </a:pPr>
            <a:r>
              <a:rPr sz="1300" b="0">
                <a:solidFill>
                  <a:srgbClr val="1A1A1A"/>
                </a:solidFill>
                <a:latin typeface="Calibri"/>
              </a:rPr>
              <a:t>✕  Issue findings against Program Access — there is no measurable standard to cite.</a:t>
            </a:r>
          </a:p>
          <a:p>
            <a:pPr algn="l">
              <a:spcAft>
                <a:spcPts val="600"/>
              </a:spcAft>
            </a:pPr>
            <a:r>
              <a:rPr sz="1300" b="0">
                <a:solidFill>
                  <a:srgbClr val="1A1A1A"/>
                </a:solidFill>
                <a:latin typeface="Calibri"/>
              </a:rPr>
              <a:t>✕  Replace OCR enforcement — your LOF triggers corrective action, not litigation.</a:t>
            </a:r>
          </a:p>
          <a:p>
            <a:pPr algn="l">
              <a:spcAft>
                <a:spcPts val="600"/>
              </a:spcAft>
            </a:pPr>
            <a:r>
              <a:rPr sz="1300" b="0">
                <a:solidFill>
                  <a:srgbClr val="1A1A1A"/>
                </a:solidFill>
                <a:latin typeface="Calibri"/>
              </a:rPr>
              <a:t>✕  Interpret the standard yourself when text is ambiguous — escalate to your lead.</a:t>
            </a:r>
          </a:p>
          <a:p>
            <a:pPr algn="l">
              <a:spcAft>
                <a:spcPts val="600"/>
              </a:spcAft>
            </a:pPr>
            <a:r>
              <a:rPr sz="1300" b="0">
                <a:solidFill>
                  <a:srgbClr val="1A1A1A"/>
                </a:solidFill>
                <a:latin typeface="Calibri"/>
              </a:rPr>
              <a:t>✕  Sign off without DSA-approved date evidence in the file.</a:t>
            </a:r>
          </a:p>
        </p:txBody>
      </p:sp>
      <p:sp>
        <p:nvSpPr>
          <p:cNvPr id="17" name="TextBox 16"/>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8" name="TextBox 17"/>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05 / 63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06 · LEGAL FOUNDATIONS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Section 504 of the Rehabilitation Act (1973)</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5943600" cy="365760"/>
          </a:xfrm>
          <a:prstGeom prst="rect">
            <a:avLst/>
          </a:prstGeom>
          <a:noFill/>
        </p:spPr>
        <p:txBody>
          <a:bodyPr wrap="square" lIns="45720" rIns="45720" tIns="18288" bIns="18288" anchor="t">
            <a:spAutoFit/>
          </a:bodyPr>
          <a:lstStyle/>
          <a:p>
            <a:pPr algn="l"/>
            <a:r>
              <a:rPr sz="1500" b="0" i="1">
                <a:solidFill>
                  <a:srgbClr val="6B6659"/>
                </a:solidFill>
                <a:latin typeface="Calibri"/>
              </a:rPr>
              <a:t>The original federal civil-rights statute on disability.</a:t>
            </a:r>
          </a:p>
        </p:txBody>
      </p:sp>
      <p:sp>
        <p:nvSpPr>
          <p:cNvPr id="10" name="TextBox 9"/>
          <p:cNvSpPr txBox="1"/>
          <p:nvPr/>
        </p:nvSpPr>
        <p:spPr>
          <a:xfrm>
            <a:off x="502920" y="1874519"/>
            <a:ext cx="5943600" cy="4572000"/>
          </a:xfrm>
          <a:prstGeom prst="rect">
            <a:avLst/>
          </a:prstGeom>
          <a:noFill/>
        </p:spPr>
        <p:txBody>
          <a:bodyPr wrap="square" lIns="45720" rIns="45720">
            <a:spAutoFit/>
          </a:bodyPr>
          <a:lstStyle/>
          <a:p>
            <a:pPr algn="l">
              <a:spcAft>
                <a:spcPts val="800"/>
              </a:spcAft>
            </a:pPr>
            <a:r>
              <a:rPr sz="1300" b="1">
                <a:solidFill>
                  <a:srgbClr val="1A1A1A"/>
                </a:solidFill>
                <a:latin typeface="Calibri"/>
              </a:rPr>
              <a:t>•  29 U.S.C. § 794.</a:t>
            </a:r>
            <a:r>
              <a:rPr sz="1300">
                <a:solidFill>
                  <a:srgbClr val="1A1A1A"/>
                </a:solidFill>
                <a:latin typeface="Calibri"/>
              </a:rPr>
              <a:t>  Prohibits discrimination on the basis of disability by any program receiving federal financial assistance.</a:t>
            </a:r>
          </a:p>
          <a:p>
            <a:pPr algn="l">
              <a:spcAft>
                <a:spcPts val="800"/>
              </a:spcAft>
            </a:pPr>
            <a:r>
              <a:rPr sz="1300" b="1">
                <a:solidFill>
                  <a:srgbClr val="1A1A1A"/>
                </a:solidFill>
                <a:latin typeface="Calibri"/>
              </a:rPr>
              <a:t>•  34 CFR Part 104.</a:t>
            </a:r>
            <a:r>
              <a:rPr sz="1300">
                <a:solidFill>
                  <a:srgbClr val="1A1A1A"/>
                </a:solidFill>
                <a:latin typeface="Calibri"/>
              </a:rPr>
              <a:t>  U.S. Dept. of Education's implementing regulation — the rule book for K-12.</a:t>
            </a:r>
          </a:p>
          <a:p>
            <a:pPr algn="l">
              <a:spcAft>
                <a:spcPts val="800"/>
              </a:spcAft>
            </a:pPr>
            <a:r>
              <a:rPr sz="1300" b="1">
                <a:solidFill>
                  <a:srgbClr val="1A1A1A"/>
                </a:solidFill>
                <a:latin typeface="Calibri"/>
              </a:rPr>
              <a:t>•  § 104.22.</a:t>
            </a:r>
            <a:r>
              <a:rPr sz="1300">
                <a:solidFill>
                  <a:srgbClr val="1A1A1A"/>
                </a:solidFill>
                <a:latin typeface="Calibri"/>
              </a:rPr>
              <a:t>  Program accessibility for existing facilities (built or altered on/before June 3, 1977).</a:t>
            </a:r>
          </a:p>
          <a:p>
            <a:pPr algn="l">
              <a:spcAft>
                <a:spcPts val="800"/>
              </a:spcAft>
            </a:pPr>
            <a:r>
              <a:rPr sz="1300" b="1">
                <a:solidFill>
                  <a:srgbClr val="1A1A1A"/>
                </a:solidFill>
                <a:latin typeface="Calibri"/>
              </a:rPr>
              <a:t>•  § 104.23.</a:t>
            </a:r>
            <a:r>
              <a:rPr sz="1300">
                <a:solidFill>
                  <a:srgbClr val="1A1A1A"/>
                </a:solidFill>
                <a:latin typeface="Calibri"/>
              </a:rPr>
              <a:t>  New construction and alteration accessibility (built or altered after June 3, 1977).</a:t>
            </a:r>
          </a:p>
          <a:p>
            <a:pPr algn="l">
              <a:spcAft>
                <a:spcPts val="800"/>
              </a:spcAft>
            </a:pPr>
            <a:r>
              <a:rPr sz="1300" b="1">
                <a:solidFill>
                  <a:srgbClr val="1A1A1A"/>
                </a:solidFill>
                <a:latin typeface="Calibri"/>
              </a:rPr>
              <a:t>•  Why it matters.</a:t>
            </a:r>
            <a:r>
              <a:rPr sz="1300">
                <a:solidFill>
                  <a:srgbClr val="1A1A1A"/>
                </a:solidFill>
                <a:latin typeface="Calibri"/>
              </a:rPr>
              <a:t>  Federal funds flow to every CA LEA — Section 504 is the umbrella under which ANSI, UFAS, 1991 ADA, and 2010 ADA are sequentially incorporated.</a:t>
            </a:r>
          </a:p>
        </p:txBody>
      </p:sp>
      <p:sp>
        <p:nvSpPr>
          <p:cNvPr id="11" name="Rectangle 10"/>
          <p:cNvSpPr/>
          <p:nvPr/>
        </p:nvSpPr>
        <p:spPr>
          <a:xfrm>
            <a:off x="6766560" y="1417320"/>
            <a:ext cx="4937760" cy="48463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66560" y="1417320"/>
            <a:ext cx="493776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1417320"/>
            <a:ext cx="493776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504 IMPLEMENTATION TIMELINE</a:t>
            </a:r>
          </a:p>
        </p:txBody>
      </p:sp>
      <p:sp>
        <p:nvSpPr>
          <p:cNvPr id="14" name="Oval 13"/>
          <p:cNvSpPr/>
          <p:nvPr/>
        </p:nvSpPr>
        <p:spPr>
          <a:xfrm>
            <a:off x="6949440" y="2039112"/>
            <a:ext cx="164592" cy="164592"/>
          </a:xfrm>
          <a:prstGeom prst="ellipse">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965960"/>
            <a:ext cx="1828800" cy="320040"/>
          </a:xfrm>
          <a:prstGeom prst="rect">
            <a:avLst/>
          </a:prstGeom>
          <a:noFill/>
        </p:spPr>
        <p:txBody>
          <a:bodyPr wrap="square" lIns="45720" rIns="45720" tIns="18288" bIns="18288" anchor="t">
            <a:spAutoFit/>
          </a:bodyPr>
          <a:lstStyle/>
          <a:p>
            <a:pPr algn="l"/>
            <a:r>
              <a:rPr sz="1100" b="1" i="0">
                <a:solidFill>
                  <a:srgbClr val="1A2744"/>
                </a:solidFill>
                <a:latin typeface="Consolas"/>
              </a:rPr>
              <a:t>Sept 26, 1973</a:t>
            </a:r>
          </a:p>
        </p:txBody>
      </p:sp>
      <p:sp>
        <p:nvSpPr>
          <p:cNvPr id="16" name="TextBox 15"/>
          <p:cNvSpPr txBox="1"/>
          <p:nvPr/>
        </p:nvSpPr>
        <p:spPr>
          <a:xfrm>
            <a:off x="8961120" y="1965960"/>
            <a:ext cx="2743200" cy="320040"/>
          </a:xfrm>
          <a:prstGeom prst="rect">
            <a:avLst/>
          </a:prstGeom>
          <a:noFill/>
        </p:spPr>
        <p:txBody>
          <a:bodyPr wrap="square" lIns="45720" rIns="45720" tIns="18288" bIns="18288" anchor="t">
            <a:spAutoFit/>
          </a:bodyPr>
          <a:lstStyle/>
          <a:p>
            <a:pPr algn="l"/>
            <a:r>
              <a:rPr sz="1200" b="0" i="0">
                <a:solidFill>
                  <a:srgbClr val="1A1A1A"/>
                </a:solidFill>
                <a:latin typeface="Calibri"/>
              </a:rPr>
              <a:t>Rehabilitation Act signed</a:t>
            </a:r>
          </a:p>
        </p:txBody>
      </p:sp>
      <p:sp>
        <p:nvSpPr>
          <p:cNvPr id="17" name="Oval 16"/>
          <p:cNvSpPr/>
          <p:nvPr/>
        </p:nvSpPr>
        <p:spPr>
          <a:xfrm>
            <a:off x="6949440" y="2587752"/>
            <a:ext cx="164592" cy="164592"/>
          </a:xfrm>
          <a:prstGeom prst="ellipse">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514600"/>
            <a:ext cx="1828800" cy="320040"/>
          </a:xfrm>
          <a:prstGeom prst="rect">
            <a:avLst/>
          </a:prstGeom>
          <a:noFill/>
        </p:spPr>
        <p:txBody>
          <a:bodyPr wrap="square" lIns="45720" rIns="45720" tIns="18288" bIns="18288" anchor="t">
            <a:spAutoFit/>
          </a:bodyPr>
          <a:lstStyle/>
          <a:p>
            <a:pPr algn="l"/>
            <a:r>
              <a:rPr sz="1100" b="1" i="0">
                <a:solidFill>
                  <a:srgbClr val="1A2744"/>
                </a:solidFill>
                <a:latin typeface="Consolas"/>
              </a:rPr>
              <a:t>May 4, 1977</a:t>
            </a:r>
          </a:p>
        </p:txBody>
      </p:sp>
      <p:sp>
        <p:nvSpPr>
          <p:cNvPr id="19" name="TextBox 18"/>
          <p:cNvSpPr txBox="1"/>
          <p:nvPr/>
        </p:nvSpPr>
        <p:spPr>
          <a:xfrm>
            <a:off x="8961120" y="2514600"/>
            <a:ext cx="2743200" cy="320040"/>
          </a:xfrm>
          <a:prstGeom prst="rect">
            <a:avLst/>
          </a:prstGeom>
          <a:noFill/>
        </p:spPr>
        <p:txBody>
          <a:bodyPr wrap="square" lIns="45720" rIns="45720" tIns="18288" bIns="18288" anchor="t">
            <a:spAutoFit/>
          </a:bodyPr>
          <a:lstStyle/>
          <a:p>
            <a:pPr algn="l"/>
            <a:r>
              <a:rPr sz="1200" b="0" i="0">
                <a:solidFill>
                  <a:srgbClr val="1A1A1A"/>
                </a:solidFill>
                <a:latin typeface="Calibri"/>
              </a:rPr>
              <a:t>DHEW issues § 504 regulations</a:t>
            </a:r>
          </a:p>
        </p:txBody>
      </p:sp>
      <p:sp>
        <p:nvSpPr>
          <p:cNvPr id="20" name="Oval 19"/>
          <p:cNvSpPr/>
          <p:nvPr/>
        </p:nvSpPr>
        <p:spPr>
          <a:xfrm>
            <a:off x="6949440" y="3136391"/>
            <a:ext cx="164592" cy="164592"/>
          </a:xfrm>
          <a:prstGeom prst="ellipse">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063239"/>
            <a:ext cx="1828800" cy="320040"/>
          </a:xfrm>
          <a:prstGeom prst="rect">
            <a:avLst/>
          </a:prstGeom>
          <a:noFill/>
        </p:spPr>
        <p:txBody>
          <a:bodyPr wrap="square" lIns="45720" rIns="45720" tIns="18288" bIns="18288" anchor="t">
            <a:spAutoFit/>
          </a:bodyPr>
          <a:lstStyle/>
          <a:p>
            <a:pPr algn="l"/>
            <a:r>
              <a:rPr sz="1100" b="1" i="0">
                <a:solidFill>
                  <a:srgbClr val="1A2744"/>
                </a:solidFill>
                <a:latin typeface="Consolas"/>
              </a:rPr>
              <a:t>June 3, 1977</a:t>
            </a:r>
          </a:p>
        </p:txBody>
      </p:sp>
      <p:sp>
        <p:nvSpPr>
          <p:cNvPr id="22" name="TextBox 21"/>
          <p:cNvSpPr txBox="1"/>
          <p:nvPr/>
        </p:nvSpPr>
        <p:spPr>
          <a:xfrm>
            <a:off x="8961120" y="3063239"/>
            <a:ext cx="2743200" cy="320040"/>
          </a:xfrm>
          <a:prstGeom prst="rect">
            <a:avLst/>
          </a:prstGeom>
          <a:noFill/>
        </p:spPr>
        <p:txBody>
          <a:bodyPr wrap="square" lIns="45720" rIns="45720" tIns="18288" bIns="18288" anchor="t">
            <a:spAutoFit/>
          </a:bodyPr>
          <a:lstStyle/>
          <a:p>
            <a:pPr algn="l"/>
            <a:r>
              <a:rPr sz="1200" b="0" i="0">
                <a:solidFill>
                  <a:srgbClr val="1A1A1A"/>
                </a:solidFill>
                <a:latin typeface="Calibri"/>
              </a:rPr>
              <a:t>Existing facilities cutoff date</a:t>
            </a:r>
          </a:p>
        </p:txBody>
      </p:sp>
      <p:sp>
        <p:nvSpPr>
          <p:cNvPr id="23" name="Oval 22"/>
          <p:cNvSpPr/>
          <p:nvPr/>
        </p:nvSpPr>
        <p:spPr>
          <a:xfrm>
            <a:off x="6949440" y="3685031"/>
            <a:ext cx="164592" cy="164592"/>
          </a:xfrm>
          <a:prstGeom prst="ellipse">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611879"/>
            <a:ext cx="1828800" cy="320040"/>
          </a:xfrm>
          <a:prstGeom prst="rect">
            <a:avLst/>
          </a:prstGeom>
          <a:noFill/>
        </p:spPr>
        <p:txBody>
          <a:bodyPr wrap="square" lIns="45720" rIns="45720" tIns="18288" bIns="18288" anchor="t">
            <a:spAutoFit/>
          </a:bodyPr>
          <a:lstStyle/>
          <a:p>
            <a:pPr algn="l"/>
            <a:r>
              <a:rPr sz="1100" b="1" i="0">
                <a:solidFill>
                  <a:srgbClr val="1A2744"/>
                </a:solidFill>
                <a:latin typeface="Consolas"/>
              </a:rPr>
              <a:t>June 4, 1977</a:t>
            </a:r>
          </a:p>
        </p:txBody>
      </p:sp>
      <p:sp>
        <p:nvSpPr>
          <p:cNvPr id="25" name="TextBox 24"/>
          <p:cNvSpPr txBox="1"/>
          <p:nvPr/>
        </p:nvSpPr>
        <p:spPr>
          <a:xfrm>
            <a:off x="8961120" y="3611879"/>
            <a:ext cx="2743200" cy="320040"/>
          </a:xfrm>
          <a:prstGeom prst="rect">
            <a:avLst/>
          </a:prstGeom>
          <a:noFill/>
        </p:spPr>
        <p:txBody>
          <a:bodyPr wrap="square" lIns="45720" rIns="45720" tIns="18288" bIns="18288" anchor="t">
            <a:spAutoFit/>
          </a:bodyPr>
          <a:lstStyle/>
          <a:p>
            <a:pPr algn="l"/>
            <a:r>
              <a:rPr sz="1200" b="0" i="0">
                <a:solidFill>
                  <a:srgbClr val="1A1A1A"/>
                </a:solidFill>
                <a:latin typeface="Calibri"/>
              </a:rPr>
              <a:t>ANSI A117.1-1961 (R1971) becomes the standard for new construction</a:t>
            </a:r>
          </a:p>
        </p:txBody>
      </p:sp>
      <p:sp>
        <p:nvSpPr>
          <p:cNvPr id="26" name="Oval 25"/>
          <p:cNvSpPr/>
          <p:nvPr/>
        </p:nvSpPr>
        <p:spPr>
          <a:xfrm>
            <a:off x="6949440" y="4233672"/>
            <a:ext cx="164592" cy="164592"/>
          </a:xfrm>
          <a:prstGeom prst="ellipse">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160520"/>
            <a:ext cx="1828800" cy="320040"/>
          </a:xfrm>
          <a:prstGeom prst="rect">
            <a:avLst/>
          </a:prstGeom>
          <a:noFill/>
        </p:spPr>
        <p:txBody>
          <a:bodyPr wrap="square" lIns="45720" rIns="45720" tIns="18288" bIns="18288" anchor="t">
            <a:spAutoFit/>
          </a:bodyPr>
          <a:lstStyle/>
          <a:p>
            <a:pPr algn="l"/>
            <a:r>
              <a:rPr sz="1100" b="1" i="0">
                <a:solidFill>
                  <a:srgbClr val="1A2744"/>
                </a:solidFill>
                <a:latin typeface="Consolas"/>
              </a:rPr>
              <a:t>Jan 18, 1991</a:t>
            </a:r>
          </a:p>
        </p:txBody>
      </p:sp>
      <p:sp>
        <p:nvSpPr>
          <p:cNvPr id="28" name="TextBox 27"/>
          <p:cNvSpPr txBox="1"/>
          <p:nvPr/>
        </p:nvSpPr>
        <p:spPr>
          <a:xfrm>
            <a:off x="8961120" y="4160520"/>
            <a:ext cx="2743200" cy="320040"/>
          </a:xfrm>
          <a:prstGeom prst="rect">
            <a:avLst/>
          </a:prstGeom>
          <a:noFill/>
        </p:spPr>
        <p:txBody>
          <a:bodyPr wrap="square" lIns="45720" rIns="45720" tIns="18288" bIns="18288" anchor="t">
            <a:spAutoFit/>
          </a:bodyPr>
          <a:lstStyle/>
          <a:p>
            <a:pPr algn="l"/>
            <a:r>
              <a:rPr sz="1200" b="0" i="0">
                <a:solidFill>
                  <a:srgbClr val="1A1A1A"/>
                </a:solidFill>
                <a:latin typeface="Calibri"/>
              </a:rPr>
              <a:t>UFAS replaces ANSI for new construction</a:t>
            </a:r>
          </a:p>
        </p:txBody>
      </p:sp>
      <p:sp>
        <p:nvSpPr>
          <p:cNvPr id="29" name="Oval 28"/>
          <p:cNvSpPr/>
          <p:nvPr/>
        </p:nvSpPr>
        <p:spPr>
          <a:xfrm>
            <a:off x="6949440" y="4782312"/>
            <a:ext cx="164592" cy="164592"/>
          </a:xfrm>
          <a:prstGeom prst="ellipse">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4709160"/>
            <a:ext cx="1828800" cy="320040"/>
          </a:xfrm>
          <a:prstGeom prst="rect">
            <a:avLst/>
          </a:prstGeom>
          <a:noFill/>
        </p:spPr>
        <p:txBody>
          <a:bodyPr wrap="square" lIns="45720" rIns="45720" tIns="18288" bIns="18288" anchor="t">
            <a:spAutoFit/>
          </a:bodyPr>
          <a:lstStyle/>
          <a:p>
            <a:pPr algn="l"/>
            <a:r>
              <a:rPr sz="1100" b="1" i="0">
                <a:solidFill>
                  <a:srgbClr val="1A2744"/>
                </a:solidFill>
                <a:latin typeface="Consolas"/>
              </a:rPr>
              <a:t>Jan 27, 1992</a:t>
            </a:r>
          </a:p>
        </p:txBody>
      </p:sp>
      <p:sp>
        <p:nvSpPr>
          <p:cNvPr id="31" name="TextBox 30"/>
          <p:cNvSpPr txBox="1"/>
          <p:nvPr/>
        </p:nvSpPr>
        <p:spPr>
          <a:xfrm>
            <a:off x="8961120" y="4709160"/>
            <a:ext cx="2743200" cy="320040"/>
          </a:xfrm>
          <a:prstGeom prst="rect">
            <a:avLst/>
          </a:prstGeom>
          <a:noFill/>
        </p:spPr>
        <p:txBody>
          <a:bodyPr wrap="square" lIns="45720" rIns="45720" tIns="18288" bIns="18288" anchor="t">
            <a:spAutoFit/>
          </a:bodyPr>
          <a:lstStyle/>
          <a:p>
            <a:pPr algn="l"/>
            <a:r>
              <a:rPr sz="1200" b="0" i="0">
                <a:solidFill>
                  <a:srgbClr val="1A1A1A"/>
                </a:solidFill>
                <a:latin typeface="Calibri"/>
              </a:rPr>
              <a:t>1991 ADA enters the chain</a:t>
            </a:r>
          </a:p>
        </p:txBody>
      </p:sp>
      <p:sp>
        <p:nvSpPr>
          <p:cNvPr id="32" name="Oval 31"/>
          <p:cNvSpPr/>
          <p:nvPr/>
        </p:nvSpPr>
        <p:spPr>
          <a:xfrm>
            <a:off x="6949440" y="5330952"/>
            <a:ext cx="164592" cy="164592"/>
          </a:xfrm>
          <a:prstGeom prst="ellipse">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0" y="5257800"/>
            <a:ext cx="1828800" cy="320040"/>
          </a:xfrm>
          <a:prstGeom prst="rect">
            <a:avLst/>
          </a:prstGeom>
          <a:noFill/>
        </p:spPr>
        <p:txBody>
          <a:bodyPr wrap="square" lIns="45720" rIns="45720" tIns="18288" bIns="18288" anchor="t">
            <a:spAutoFit/>
          </a:bodyPr>
          <a:lstStyle/>
          <a:p>
            <a:pPr algn="l"/>
            <a:r>
              <a:rPr sz="1100" b="1" i="0">
                <a:solidFill>
                  <a:srgbClr val="1A2744"/>
                </a:solidFill>
                <a:latin typeface="Consolas"/>
              </a:rPr>
              <a:t>Mar 15, 2012</a:t>
            </a:r>
          </a:p>
        </p:txBody>
      </p:sp>
      <p:sp>
        <p:nvSpPr>
          <p:cNvPr id="34" name="TextBox 33"/>
          <p:cNvSpPr txBox="1"/>
          <p:nvPr/>
        </p:nvSpPr>
        <p:spPr>
          <a:xfrm>
            <a:off x="8961120" y="5257800"/>
            <a:ext cx="2743200" cy="320040"/>
          </a:xfrm>
          <a:prstGeom prst="rect">
            <a:avLst/>
          </a:prstGeom>
          <a:noFill/>
        </p:spPr>
        <p:txBody>
          <a:bodyPr wrap="square" lIns="45720" rIns="45720" tIns="18288" bIns="18288" anchor="t">
            <a:spAutoFit/>
          </a:bodyPr>
          <a:lstStyle/>
          <a:p>
            <a:pPr algn="l"/>
            <a:r>
              <a:rPr sz="1200" b="0" i="0">
                <a:solidFill>
                  <a:srgbClr val="1A1A1A"/>
                </a:solidFill>
                <a:latin typeface="Calibri"/>
              </a:rPr>
              <a:t>2010 ADA becomes the default</a:t>
            </a:r>
          </a:p>
        </p:txBody>
      </p:sp>
      <p:sp>
        <p:nvSpPr>
          <p:cNvPr id="35" name="TextBox 34"/>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36" name="TextBox 35"/>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06 / 63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07 · LEGAL FOUNDATIONS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ADA Title II (1990) — Public Entities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Title II reaches every state and local government program — including public schools — regardless of federal funding.</a:t>
            </a:r>
          </a:p>
        </p:txBody>
      </p:sp>
      <p:sp>
        <p:nvSpPr>
          <p:cNvPr id="10" name="TextBox 9"/>
          <p:cNvSpPr txBox="1"/>
          <p:nvPr/>
        </p:nvSpPr>
        <p:spPr>
          <a:xfrm>
            <a:off x="502920" y="1920240"/>
            <a:ext cx="10972800" cy="4114800"/>
          </a:xfrm>
          <a:prstGeom prst="rect">
            <a:avLst/>
          </a:prstGeom>
          <a:noFill/>
        </p:spPr>
        <p:txBody>
          <a:bodyPr wrap="square" lIns="45720" rIns="45720">
            <a:spAutoFit/>
          </a:bodyPr>
          <a:lstStyle/>
          <a:p>
            <a:pPr algn="l">
              <a:spcAft>
                <a:spcPts val="600"/>
              </a:spcAft>
            </a:pPr>
            <a:r>
              <a:rPr sz="1400" b="1">
                <a:solidFill>
                  <a:srgbClr val="1A1A1A"/>
                </a:solidFill>
                <a:latin typeface="Calibri"/>
              </a:rPr>
              <a:t>•  42 U.S.C. § 12131 et seq.</a:t>
            </a:r>
            <a:r>
              <a:rPr sz="1400">
                <a:solidFill>
                  <a:srgbClr val="1A1A1A"/>
                </a:solidFill>
                <a:latin typeface="Calibri"/>
              </a:rPr>
              <a:t>  Prohibits discrimination by public entities. CA public schools and county offices of education are 'public entities.'</a:t>
            </a:r>
          </a:p>
          <a:p>
            <a:pPr algn="l">
              <a:spcAft>
                <a:spcPts val="600"/>
              </a:spcAft>
            </a:pPr>
            <a:r>
              <a:rPr sz="1400" b="1">
                <a:solidFill>
                  <a:srgbClr val="1A1A1A"/>
                </a:solidFill>
                <a:latin typeface="Calibri"/>
              </a:rPr>
              <a:t>•  28 CFR Part 35.</a:t>
            </a:r>
            <a:r>
              <a:rPr sz="1400">
                <a:solidFill>
                  <a:srgbClr val="1A1A1A"/>
                </a:solidFill>
                <a:latin typeface="Calibri"/>
              </a:rPr>
              <a:t>  DOJ implementing regulation.</a:t>
            </a:r>
          </a:p>
          <a:p>
            <a:pPr algn="l">
              <a:spcAft>
                <a:spcPts val="600"/>
              </a:spcAft>
            </a:pPr>
            <a:r>
              <a:rPr sz="1400" b="1">
                <a:solidFill>
                  <a:srgbClr val="1A1A1A"/>
                </a:solidFill>
                <a:latin typeface="Calibri"/>
              </a:rPr>
              <a:t>•  § 35.150.</a:t>
            </a:r>
            <a:r>
              <a:rPr sz="1400">
                <a:solidFill>
                  <a:srgbClr val="1A1A1A"/>
                </a:solidFill>
                <a:latin typeface="Calibri"/>
              </a:rPr>
              <a:t>  Existing facilities — program accessibility (mirrors § 104.22).</a:t>
            </a:r>
          </a:p>
          <a:p>
            <a:pPr algn="l">
              <a:spcAft>
                <a:spcPts val="600"/>
              </a:spcAft>
            </a:pPr>
            <a:r>
              <a:rPr sz="1400" b="1">
                <a:solidFill>
                  <a:srgbClr val="1A1A1A"/>
                </a:solidFill>
                <a:latin typeface="Calibri"/>
              </a:rPr>
              <a:t>•  § 35.151.</a:t>
            </a:r>
            <a:r>
              <a:rPr sz="1400">
                <a:solidFill>
                  <a:srgbClr val="1A1A1A"/>
                </a:solidFill>
                <a:latin typeface="Calibri"/>
              </a:rPr>
              <a:t>  New construction and alterations — adopts UFAS, 1991 ADA, and 2010 ADA as the design standards.</a:t>
            </a:r>
          </a:p>
          <a:p>
            <a:pPr algn="l">
              <a:spcAft>
                <a:spcPts val="600"/>
              </a:spcAft>
            </a:pPr>
            <a:r>
              <a:rPr sz="1400" b="1">
                <a:solidFill>
                  <a:srgbClr val="1A1A1A"/>
                </a:solidFill>
                <a:latin typeface="Calibri"/>
              </a:rPr>
              <a:t>•  Standards incorporated.</a:t>
            </a:r>
            <a:r>
              <a:rPr sz="1400">
                <a:solidFill>
                  <a:srgbClr val="1A1A1A"/>
                </a:solidFill>
                <a:latin typeface="Calibri"/>
              </a:rPr>
              <a:t>  Title II does NOT have its own dimensional code — it borrows from the date-controlled chain we'll cover next.</a:t>
            </a:r>
          </a:p>
          <a:p>
            <a:pPr algn="l">
              <a:spcAft>
                <a:spcPts val="600"/>
              </a:spcAft>
            </a:pPr>
            <a:r>
              <a:rPr sz="1400" b="1">
                <a:solidFill>
                  <a:srgbClr val="1A1A1A"/>
                </a:solidFill>
                <a:latin typeface="Calibri"/>
              </a:rPr>
              <a:t>•  Dual coverage.</a:t>
            </a:r>
            <a:r>
              <a:rPr sz="1400">
                <a:solidFill>
                  <a:srgbClr val="1A1A1A"/>
                </a:solidFill>
                <a:latin typeface="Calibri"/>
              </a:rPr>
              <a:t>  K-12 facilities are covered by both § 504 and Title II. Both citations appear on every CRR 20 finding.</a:t>
            </a:r>
          </a:p>
        </p:txBody>
      </p:sp>
      <p:sp>
        <p:nvSpPr>
          <p:cNvPr id="11" name="Rectangle 10"/>
          <p:cNvSpPr/>
          <p:nvPr/>
        </p:nvSpPr>
        <p:spPr>
          <a:xfrm>
            <a:off x="502920" y="5760720"/>
            <a:ext cx="11247120" cy="640080"/>
          </a:xfrm>
          <a:prstGeom prst="rect">
            <a:avLst/>
          </a:prstGeom>
          <a:solidFill>
            <a:srgbClr val="FEE2E2"/>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760720"/>
            <a:ext cx="10972800" cy="640080"/>
          </a:xfrm>
          <a:prstGeom prst="rect">
            <a:avLst/>
          </a:prstGeom>
          <a:noFill/>
        </p:spPr>
        <p:txBody>
          <a:bodyPr wrap="square" lIns="45720" rIns="45720" tIns="18288" bIns="18288" anchor="ctr">
            <a:spAutoFit/>
          </a:bodyPr>
          <a:lstStyle/>
          <a:p>
            <a:pPr algn="l"/>
            <a:r>
              <a:rPr sz="1400" b="1" i="0">
                <a:solidFill>
                  <a:srgbClr val="B91C1C"/>
                </a:solidFill>
                <a:latin typeface="Calibri"/>
              </a:rPr>
              <a:t>Reviewer rule: cite both authorities. "28 CFR § 35.151(a); 34 CFR § 104.23(a)" — every time.</a:t>
            </a:r>
          </a:p>
        </p:txBody>
      </p:sp>
      <p:sp>
        <p:nvSpPr>
          <p:cNvPr id="13" name="TextBox 12"/>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4" name="TextBox 13"/>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07 / 63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08 · LEGAL FOUNDATIONS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OCR and DOJ enforcement — the bigger context</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5486400" cy="48463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17320"/>
            <a:ext cx="548640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548640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U.S. DEPT. OF EDUCATION — OCR</a:t>
            </a:r>
          </a:p>
        </p:txBody>
      </p:sp>
      <p:sp>
        <p:nvSpPr>
          <p:cNvPr id="12" name="TextBox 11"/>
          <p:cNvSpPr txBox="1"/>
          <p:nvPr/>
        </p:nvSpPr>
        <p:spPr>
          <a:xfrm>
            <a:off x="685800" y="1920240"/>
            <a:ext cx="5212080" cy="4389120"/>
          </a:xfrm>
          <a:prstGeom prst="rect">
            <a:avLst/>
          </a:prstGeom>
          <a:noFill/>
        </p:spPr>
        <p:txBody>
          <a:bodyPr wrap="square" lIns="45720" rIns="45720">
            <a:spAutoFit/>
          </a:bodyPr>
          <a:lstStyle/>
          <a:p>
            <a:pPr algn="l">
              <a:spcAft>
                <a:spcPts val="800"/>
              </a:spcAft>
            </a:pPr>
            <a:r>
              <a:rPr sz="1300" b="0">
                <a:solidFill>
                  <a:srgbClr val="1A1A1A"/>
                </a:solidFill>
                <a:latin typeface="Calibri"/>
              </a:rPr>
              <a:t>•  Enforces § 504 in K-12 and higher education.</a:t>
            </a:r>
          </a:p>
          <a:p>
            <a:pPr algn="l">
              <a:spcAft>
                <a:spcPts val="800"/>
              </a:spcAft>
            </a:pPr>
            <a:r>
              <a:rPr sz="1300" b="0">
                <a:solidFill>
                  <a:srgbClr val="1A1A1A"/>
                </a:solidFill>
                <a:latin typeface="Calibri"/>
              </a:rPr>
              <a:t>•  Investigates individual and systemic complaints.</a:t>
            </a:r>
          </a:p>
          <a:p>
            <a:pPr algn="l">
              <a:spcAft>
                <a:spcPts val="800"/>
              </a:spcAft>
            </a:pPr>
            <a:r>
              <a:rPr sz="1300" b="0">
                <a:solidFill>
                  <a:srgbClr val="1A1A1A"/>
                </a:solidFill>
                <a:latin typeface="Calibri"/>
              </a:rPr>
              <a:t>•  Resolution typically a Resolution Agreement with corrective action plan.</a:t>
            </a:r>
          </a:p>
          <a:p>
            <a:pPr algn="l">
              <a:spcAft>
                <a:spcPts val="800"/>
              </a:spcAft>
            </a:pPr>
            <a:r>
              <a:rPr sz="1300" b="0">
                <a:solidFill>
                  <a:srgbClr val="1A1A1A"/>
                </a:solidFill>
                <a:latin typeface="Calibri"/>
              </a:rPr>
              <a:t>•  Can refer to DOJ for litigation.</a:t>
            </a:r>
          </a:p>
          <a:p>
            <a:pPr algn="l">
              <a:spcAft>
                <a:spcPts val="800"/>
              </a:spcAft>
            </a:pPr>
            <a:r>
              <a:rPr sz="1300" b="0">
                <a:solidFill>
                  <a:srgbClr val="1A1A1A"/>
                </a:solidFill>
                <a:latin typeface="Calibri"/>
              </a:rPr>
              <a:t>•  Maintains list of open and closed K-12 access cases — publicly searchable.</a:t>
            </a:r>
          </a:p>
          <a:p>
            <a:pPr algn="l">
              <a:spcAft>
                <a:spcPts val="800"/>
              </a:spcAft>
            </a:pPr>
            <a:r>
              <a:rPr sz="1300" b="0">
                <a:solidFill>
                  <a:srgbClr val="1A1A1A"/>
                </a:solidFill>
                <a:latin typeface="Calibri"/>
              </a:rPr>
              <a:t>•  CDE LOFs sit in the OCR file when complaints overlap.</a:t>
            </a:r>
          </a:p>
        </p:txBody>
      </p:sp>
      <p:sp>
        <p:nvSpPr>
          <p:cNvPr id="13" name="Rectangle 12"/>
          <p:cNvSpPr/>
          <p:nvPr/>
        </p:nvSpPr>
        <p:spPr>
          <a:xfrm>
            <a:off x="6263640" y="1417320"/>
            <a:ext cx="5486400" cy="48463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417320"/>
            <a:ext cx="548640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417320"/>
            <a:ext cx="548640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U.S. DEPT. OF JUSTICE — DOJ</a:t>
            </a:r>
          </a:p>
        </p:txBody>
      </p:sp>
      <p:sp>
        <p:nvSpPr>
          <p:cNvPr id="16" name="TextBox 15"/>
          <p:cNvSpPr txBox="1"/>
          <p:nvPr/>
        </p:nvSpPr>
        <p:spPr>
          <a:xfrm>
            <a:off x="6446520" y="1920240"/>
            <a:ext cx="5212080" cy="4389120"/>
          </a:xfrm>
          <a:prstGeom prst="rect">
            <a:avLst/>
          </a:prstGeom>
          <a:noFill/>
        </p:spPr>
        <p:txBody>
          <a:bodyPr wrap="square" lIns="45720" rIns="45720">
            <a:spAutoFit/>
          </a:bodyPr>
          <a:lstStyle/>
          <a:p>
            <a:pPr algn="l">
              <a:spcAft>
                <a:spcPts val="800"/>
              </a:spcAft>
            </a:pPr>
            <a:r>
              <a:rPr sz="1300" b="0">
                <a:solidFill>
                  <a:srgbClr val="1A1A1A"/>
                </a:solidFill>
                <a:latin typeface="Calibri"/>
              </a:rPr>
              <a:t>•  Enforces ADA Title II — including the 1991 and 2010 Standards.</a:t>
            </a:r>
          </a:p>
          <a:p>
            <a:pPr algn="l">
              <a:spcAft>
                <a:spcPts val="800"/>
              </a:spcAft>
            </a:pPr>
            <a:r>
              <a:rPr sz="1300" b="0">
                <a:solidFill>
                  <a:srgbClr val="1A1A1A"/>
                </a:solidFill>
                <a:latin typeface="Calibri"/>
              </a:rPr>
              <a:t>•  Publishes the 2010 Standards (28 CFR Part 35 Appendix B).</a:t>
            </a:r>
          </a:p>
          <a:p>
            <a:pPr algn="l">
              <a:spcAft>
                <a:spcPts val="800"/>
              </a:spcAft>
            </a:pPr>
            <a:r>
              <a:rPr sz="1300" b="0">
                <a:solidFill>
                  <a:srgbClr val="1A1A1A"/>
                </a:solidFill>
                <a:latin typeface="Calibri"/>
              </a:rPr>
              <a:t>•  Issues binding guidance ('Technical Assistance').</a:t>
            </a:r>
          </a:p>
          <a:p>
            <a:pPr algn="l">
              <a:spcAft>
                <a:spcPts val="800"/>
              </a:spcAft>
            </a:pPr>
            <a:r>
              <a:rPr sz="1300" b="0">
                <a:solidFill>
                  <a:srgbClr val="1A1A1A"/>
                </a:solidFill>
                <a:latin typeface="Calibri"/>
              </a:rPr>
              <a:t>•  Can sue public entities, intervene in private suits.</a:t>
            </a:r>
          </a:p>
          <a:p>
            <a:pPr algn="l">
              <a:spcAft>
                <a:spcPts val="800"/>
              </a:spcAft>
            </a:pPr>
            <a:r>
              <a:rPr sz="1300" b="0">
                <a:solidFill>
                  <a:srgbClr val="1A1A1A"/>
                </a:solidFill>
                <a:latin typeface="Calibri"/>
              </a:rPr>
              <a:t>•  Settlement agreements often impose 2010 ADA standards across a portfolio.</a:t>
            </a:r>
          </a:p>
          <a:p>
            <a:pPr algn="l">
              <a:spcAft>
                <a:spcPts val="800"/>
              </a:spcAft>
            </a:pPr>
            <a:r>
              <a:rPr sz="1300" b="0">
                <a:solidFill>
                  <a:srgbClr val="1A1A1A"/>
                </a:solidFill>
                <a:latin typeface="Calibri"/>
              </a:rPr>
              <a:t>•  Project Civic Access has produced 250+ K-12 settlement agreements.</a:t>
            </a:r>
          </a:p>
        </p:txBody>
      </p:sp>
      <p:sp>
        <p:nvSpPr>
          <p:cNvPr id="17" name="TextBox 16"/>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8" name="TextBox 17"/>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08 / 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09 · LEGAL FOUNDATIONS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CDE OEO — your authority to review</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411480"/>
          </a:xfrm>
          <a:prstGeom prst="rect">
            <a:avLst/>
          </a:prstGeom>
          <a:noFill/>
        </p:spPr>
        <p:txBody>
          <a:bodyPr wrap="square" lIns="45720" rIns="45720" tIns="18288" bIns="18288" anchor="t">
            <a:spAutoFit/>
          </a:bodyPr>
          <a:lstStyle/>
          <a:p>
            <a:pPr algn="l"/>
            <a:r>
              <a:rPr sz="1500" b="0" i="1">
                <a:solidFill>
                  <a:srgbClr val="6B6659"/>
                </a:solidFill>
                <a:latin typeface="Calibri"/>
              </a:rPr>
              <a:t>California Department of Education · Office of Equal Opportunity</a:t>
            </a:r>
          </a:p>
        </p:txBody>
      </p:sp>
      <p:sp>
        <p:nvSpPr>
          <p:cNvPr id="10" name="TextBox 9"/>
          <p:cNvSpPr txBox="1"/>
          <p:nvPr/>
        </p:nvSpPr>
        <p:spPr>
          <a:xfrm>
            <a:off x="502920" y="1920240"/>
            <a:ext cx="10972800" cy="4572000"/>
          </a:xfrm>
          <a:prstGeom prst="rect">
            <a:avLst/>
          </a:prstGeom>
          <a:noFill/>
        </p:spPr>
        <p:txBody>
          <a:bodyPr wrap="square" lIns="45720" rIns="45720">
            <a:spAutoFit/>
          </a:bodyPr>
          <a:lstStyle/>
          <a:p>
            <a:pPr algn="l">
              <a:spcAft>
                <a:spcPts val="800"/>
              </a:spcAft>
            </a:pPr>
            <a:r>
              <a:rPr sz="1400" b="1">
                <a:solidFill>
                  <a:srgbClr val="1A1A1A"/>
                </a:solidFill>
                <a:latin typeface="Calibri"/>
              </a:rPr>
              <a:t>•  Federal subrecipient monitoring.</a:t>
            </a:r>
            <a:r>
              <a:rPr sz="1400">
                <a:solidFill>
                  <a:srgbClr val="1A1A1A"/>
                </a:solidFill>
                <a:latin typeface="Calibri"/>
              </a:rPr>
              <a:t>  CDE distributes federal Perkins V CTE funds and is required to monitor subrecipients (LEAs) for civil-rights compliance under 34 CFR § 100.7 (Title VI), § 104.61 (§ 504), and § 106.71 (Title IX).</a:t>
            </a:r>
          </a:p>
          <a:p>
            <a:pPr algn="l">
              <a:spcAft>
                <a:spcPts val="800"/>
              </a:spcAft>
            </a:pPr>
            <a:r>
              <a:rPr sz="1400" b="1">
                <a:solidFill>
                  <a:srgbClr val="1A1A1A"/>
                </a:solidFill>
                <a:latin typeface="Calibri"/>
              </a:rPr>
              <a:t>•  California Education Code § 220 et seq.</a:t>
            </a:r>
            <a:r>
              <a:rPr sz="1400">
                <a:solidFill>
                  <a:srgbClr val="1A1A1A"/>
                </a:solidFill>
                <a:latin typeface="Calibri"/>
              </a:rPr>
              <a:t>  State-law parallel that gives CDE authority to investigate equity issues.</a:t>
            </a:r>
          </a:p>
          <a:p>
            <a:pPr algn="l">
              <a:spcAft>
                <a:spcPts val="800"/>
              </a:spcAft>
            </a:pPr>
            <a:r>
              <a:rPr sz="1400" b="1">
                <a:solidFill>
                  <a:srgbClr val="1A1A1A"/>
                </a:solidFill>
                <a:latin typeface="Calibri"/>
              </a:rPr>
              <a:t>•  CRR program.</a:t>
            </a:r>
            <a:r>
              <a:rPr sz="1400">
                <a:solidFill>
                  <a:srgbClr val="1A1A1A"/>
                </a:solidFill>
                <a:latin typeface="Calibri"/>
              </a:rPr>
              <a:t>  Three-year on-site review cycle covering all civil-rights authorities. CRR 20 = Accessible Facilities. CRR 21 = CTE Facility Site Selection. Both touch building accessibility.</a:t>
            </a:r>
          </a:p>
          <a:p>
            <a:pPr algn="l">
              <a:spcAft>
                <a:spcPts val="800"/>
              </a:spcAft>
            </a:pPr>
            <a:r>
              <a:rPr sz="1400" b="1">
                <a:solidFill>
                  <a:srgbClr val="1A1A1A"/>
                </a:solidFill>
                <a:latin typeface="Calibri"/>
              </a:rPr>
              <a:t>•  Outputs.</a:t>
            </a:r>
            <a:r>
              <a:rPr sz="1400">
                <a:solidFill>
                  <a:srgbClr val="1A1A1A"/>
                </a:solidFill>
                <a:latin typeface="Calibri"/>
              </a:rPr>
              <a:t>  Letter of Findings (LOF), Voluntary Compliance Plan (VCP) with 45-day corrective-action deadlines, and a follow-up evidence review.</a:t>
            </a:r>
          </a:p>
          <a:p>
            <a:pPr algn="l">
              <a:spcAft>
                <a:spcPts val="800"/>
              </a:spcAft>
            </a:pPr>
            <a:r>
              <a:rPr sz="1400" b="1">
                <a:solidFill>
                  <a:srgbClr val="1A1A1A"/>
                </a:solidFill>
                <a:latin typeface="Calibri"/>
              </a:rPr>
              <a:t>•  Enforcement path.</a:t>
            </a:r>
            <a:r>
              <a:rPr sz="1400">
                <a:solidFill>
                  <a:srgbClr val="1A1A1A"/>
                </a:solidFill>
                <a:latin typeface="Calibri"/>
              </a:rPr>
              <a:t>  Persistent non-compliance can result in CDE withholding Perkins funds; serious cases referred to OCR or DOJ.</a:t>
            </a:r>
          </a:p>
        </p:txBody>
      </p:sp>
      <p:sp>
        <p:nvSpPr>
          <p:cNvPr id="11" name="TextBox 10"/>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2" name="TextBox 11"/>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09 / 63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10 · LEGAL FOUNDATIONS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CRR 20 and CRR 21 at a glance</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5486400" cy="5029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17320"/>
            <a:ext cx="5486400" cy="5029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5486400" cy="502920"/>
          </a:xfrm>
          <a:prstGeom prst="rect">
            <a:avLst/>
          </a:prstGeom>
          <a:noFill/>
        </p:spPr>
        <p:txBody>
          <a:bodyPr wrap="square" lIns="45720" rIns="45720" tIns="18288" bIns="18288" anchor="ctr">
            <a:spAutoFit/>
          </a:bodyPr>
          <a:lstStyle/>
          <a:p>
            <a:pPr algn="ctr"/>
            <a:r>
              <a:rPr sz="1500" b="1" i="0">
                <a:solidFill>
                  <a:srgbClr val="FFFFFF"/>
                </a:solidFill>
                <a:latin typeface="Georgia"/>
              </a:rPr>
              <a:t>CRR 20 — Accessible Facilities</a:t>
            </a:r>
          </a:p>
        </p:txBody>
      </p:sp>
      <p:sp>
        <p:nvSpPr>
          <p:cNvPr id="12" name="TextBox 11"/>
          <p:cNvSpPr txBox="1"/>
          <p:nvPr/>
        </p:nvSpPr>
        <p:spPr>
          <a:xfrm>
            <a:off x="685800" y="2057400"/>
            <a:ext cx="5212080" cy="4297680"/>
          </a:xfrm>
          <a:prstGeom prst="rect">
            <a:avLst/>
          </a:prstGeom>
          <a:noFill/>
        </p:spPr>
        <p:txBody>
          <a:bodyPr wrap="square" lIns="45720" rIns="45720">
            <a:spAutoFit/>
          </a:bodyPr>
          <a:lstStyle/>
          <a:p>
            <a:pPr algn="l">
              <a:spcAft>
                <a:spcPts val="600"/>
              </a:spcAft>
            </a:pPr>
            <a:r>
              <a:rPr sz="1200" b="1">
                <a:solidFill>
                  <a:srgbClr val="1A1A1A"/>
                </a:solidFill>
                <a:latin typeface="Calibri"/>
              </a:rPr>
              <a:t>•  Cycle.</a:t>
            </a:r>
            <a:r>
              <a:rPr sz="1200">
                <a:solidFill>
                  <a:srgbClr val="1A1A1A"/>
                </a:solidFill>
                <a:latin typeface="Calibri"/>
              </a:rPr>
              <a:t>  2025–26 (current).</a:t>
            </a:r>
          </a:p>
          <a:p>
            <a:pPr algn="l">
              <a:spcAft>
                <a:spcPts val="600"/>
              </a:spcAft>
            </a:pPr>
            <a:r>
              <a:rPr sz="1200" b="1">
                <a:solidFill>
                  <a:srgbClr val="1A1A1A"/>
                </a:solidFill>
                <a:latin typeface="Calibri"/>
              </a:rPr>
              <a:t>•  Authorities.</a:t>
            </a:r>
            <a:r>
              <a:rPr sz="1200">
                <a:solidFill>
                  <a:srgbClr val="1A1A1A"/>
                </a:solidFill>
                <a:latin typeface="Calibri"/>
              </a:rPr>
              <a:t>  34 CFR § 104.22 &amp; § 104.23; 28 CFR § 35.151; 28 CFR Part 36 App. D.</a:t>
            </a:r>
          </a:p>
          <a:p>
            <a:pPr algn="l">
              <a:spcAft>
                <a:spcPts val="600"/>
              </a:spcAft>
            </a:pPr>
            <a:r>
              <a:rPr sz="1200" b="1">
                <a:solidFill>
                  <a:srgbClr val="1A1A1A"/>
                </a:solidFill>
                <a:latin typeface="Calibri"/>
              </a:rPr>
              <a:t>•  Scope.</a:t>
            </a:r>
            <a:r>
              <a:rPr sz="1200">
                <a:solidFill>
                  <a:srgbClr val="1A1A1A"/>
                </a:solidFill>
                <a:latin typeface="Calibri"/>
              </a:rPr>
              <a:t>  Buildings and facilities used to deliver CTE — and the common-use areas that serve them (restrooms, drinking fountains, parking, paths of travel).</a:t>
            </a:r>
          </a:p>
          <a:p>
            <a:pPr algn="l">
              <a:spcAft>
                <a:spcPts val="600"/>
              </a:spcAft>
            </a:pPr>
            <a:r>
              <a:rPr sz="1200" b="1">
                <a:solidFill>
                  <a:srgbClr val="1A1A1A"/>
                </a:solidFill>
                <a:latin typeface="Calibri"/>
              </a:rPr>
              <a:t>•  Evidence.</a:t>
            </a:r>
            <a:r>
              <a:rPr sz="1200">
                <a:solidFill>
                  <a:srgbClr val="1A1A1A"/>
                </a:solidFill>
                <a:latin typeface="Calibri"/>
              </a:rPr>
              <a:t>  Site plans, DSA-approved blueprints, alteration/modification records, work orders, completed Facilities Review Packet.</a:t>
            </a:r>
          </a:p>
          <a:p>
            <a:pPr algn="l">
              <a:spcAft>
                <a:spcPts val="600"/>
              </a:spcAft>
            </a:pPr>
            <a:r>
              <a:rPr sz="1200" b="1">
                <a:solidFill>
                  <a:srgbClr val="1A1A1A"/>
                </a:solidFill>
                <a:latin typeface="Calibri"/>
              </a:rPr>
              <a:t>•  Output.</a:t>
            </a:r>
            <a:r>
              <a:rPr sz="1200">
                <a:solidFill>
                  <a:srgbClr val="1A1A1A"/>
                </a:solidFill>
                <a:latin typeface="Calibri"/>
              </a:rPr>
              <a:t>  18-row findings table → CRR boilerplate + LOF cover letter (Word).</a:t>
            </a:r>
          </a:p>
        </p:txBody>
      </p:sp>
      <p:sp>
        <p:nvSpPr>
          <p:cNvPr id="13" name="Rectangle 12"/>
          <p:cNvSpPr/>
          <p:nvPr/>
        </p:nvSpPr>
        <p:spPr>
          <a:xfrm>
            <a:off x="6263640" y="1417320"/>
            <a:ext cx="5486400" cy="5029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417320"/>
            <a:ext cx="5486400" cy="5029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417320"/>
            <a:ext cx="5486400" cy="502920"/>
          </a:xfrm>
          <a:prstGeom prst="rect">
            <a:avLst/>
          </a:prstGeom>
          <a:noFill/>
        </p:spPr>
        <p:txBody>
          <a:bodyPr wrap="square" lIns="45720" rIns="45720" tIns="18288" bIns="18288" anchor="ctr">
            <a:spAutoFit/>
          </a:bodyPr>
          <a:lstStyle/>
          <a:p>
            <a:pPr algn="ctr"/>
            <a:r>
              <a:rPr sz="1500" b="1" i="0">
                <a:solidFill>
                  <a:srgbClr val="FFFFFF"/>
                </a:solidFill>
                <a:latin typeface="Georgia"/>
              </a:rPr>
              <a:t>CRR 21 — CTE Facility Site Selection</a:t>
            </a:r>
          </a:p>
        </p:txBody>
      </p:sp>
      <p:sp>
        <p:nvSpPr>
          <p:cNvPr id="16" name="TextBox 15"/>
          <p:cNvSpPr txBox="1"/>
          <p:nvPr/>
        </p:nvSpPr>
        <p:spPr>
          <a:xfrm>
            <a:off x="6446520" y="2057400"/>
            <a:ext cx="5212080" cy="4297680"/>
          </a:xfrm>
          <a:prstGeom prst="rect">
            <a:avLst/>
          </a:prstGeom>
          <a:noFill/>
        </p:spPr>
        <p:txBody>
          <a:bodyPr wrap="square" lIns="45720" rIns="45720">
            <a:spAutoFit/>
          </a:bodyPr>
          <a:lstStyle/>
          <a:p>
            <a:pPr algn="l">
              <a:spcAft>
                <a:spcPts val="600"/>
              </a:spcAft>
            </a:pPr>
            <a:r>
              <a:rPr sz="1200" b="1">
                <a:solidFill>
                  <a:srgbClr val="1A1A1A"/>
                </a:solidFill>
                <a:latin typeface="Calibri"/>
              </a:rPr>
              <a:t>•  Cycle.</a:t>
            </a:r>
            <a:r>
              <a:rPr sz="1200">
                <a:solidFill>
                  <a:srgbClr val="1A1A1A"/>
                </a:solidFill>
                <a:latin typeface="Calibri"/>
              </a:rPr>
              <a:t>  2024–25 (most recent prior cycle).</a:t>
            </a:r>
          </a:p>
          <a:p>
            <a:pPr algn="l">
              <a:spcAft>
                <a:spcPts val="600"/>
              </a:spcAft>
            </a:pPr>
            <a:r>
              <a:rPr sz="1200" b="1">
                <a:solidFill>
                  <a:srgbClr val="1A1A1A"/>
                </a:solidFill>
                <a:latin typeface="Calibri"/>
              </a:rPr>
              <a:t>•  Authorities.</a:t>
            </a:r>
            <a:r>
              <a:rPr sz="1200">
                <a:solidFill>
                  <a:srgbClr val="1A1A1A"/>
                </a:solidFill>
                <a:latin typeface="Calibri"/>
              </a:rPr>
              <a:t>  Same Section 504 + Title II chain, plus 34 CFR § 100.3 (Title VI siting analysis).</a:t>
            </a:r>
          </a:p>
          <a:p>
            <a:pPr algn="l">
              <a:spcAft>
                <a:spcPts val="600"/>
              </a:spcAft>
            </a:pPr>
            <a:r>
              <a:rPr sz="1200" b="1">
                <a:solidFill>
                  <a:srgbClr val="1A1A1A"/>
                </a:solidFill>
                <a:latin typeface="Calibri"/>
              </a:rPr>
              <a:t>•  Scope.</a:t>
            </a:r>
            <a:r>
              <a:rPr sz="1200">
                <a:solidFill>
                  <a:srgbClr val="1A1A1A"/>
                </a:solidFill>
                <a:latin typeface="Calibri"/>
              </a:rPr>
              <a:t>  Where CTE programs are located — does siting create disparate impact by disability, race, language, or sex?</a:t>
            </a:r>
          </a:p>
          <a:p>
            <a:pPr algn="l">
              <a:spcAft>
                <a:spcPts val="600"/>
              </a:spcAft>
            </a:pPr>
            <a:r>
              <a:rPr sz="1200" b="1">
                <a:solidFill>
                  <a:srgbClr val="1A1A1A"/>
                </a:solidFill>
                <a:latin typeface="Calibri"/>
              </a:rPr>
              <a:t>•  Evidence.</a:t>
            </a:r>
            <a:r>
              <a:rPr sz="1200">
                <a:solidFill>
                  <a:srgbClr val="1A1A1A"/>
                </a:solidFill>
                <a:latin typeface="Calibri"/>
              </a:rPr>
              <a:t>  Maps showing CTE locations, student demographics before/after modifications, route accessibility.</a:t>
            </a:r>
          </a:p>
          <a:p>
            <a:pPr algn="l">
              <a:spcAft>
                <a:spcPts val="600"/>
              </a:spcAft>
            </a:pPr>
            <a:r>
              <a:rPr sz="1200" b="1">
                <a:solidFill>
                  <a:srgbClr val="1A1A1A"/>
                </a:solidFill>
                <a:latin typeface="Calibri"/>
              </a:rPr>
              <a:t>•  Overlap.</a:t>
            </a:r>
            <a:r>
              <a:rPr sz="1200">
                <a:solidFill>
                  <a:srgbClr val="1A1A1A"/>
                </a:solidFill>
                <a:latin typeface="Calibri"/>
              </a:rPr>
              <a:t>  Same five accessibility standards, same self-assessment, same 18-area LOF table — only the narrative framing changes.</a:t>
            </a:r>
          </a:p>
        </p:txBody>
      </p:sp>
      <p:sp>
        <p:nvSpPr>
          <p:cNvPr id="17" name="TextBox 16"/>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8" name="TextBox 17"/>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10 / 63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11 · THE STANDARDS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The five standards at a glance</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Each standard governs a specific date window. Pick the wrong window — pick the wrong standard.</a:t>
            </a:r>
          </a:p>
        </p:txBody>
      </p:sp>
      <p:sp>
        <p:nvSpPr>
          <p:cNvPr id="10" name="Rectangle 9"/>
          <p:cNvSpPr/>
          <p:nvPr/>
        </p:nvSpPr>
        <p:spPr>
          <a:xfrm>
            <a:off x="502920" y="1874519"/>
            <a:ext cx="260604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874519"/>
            <a:ext cx="260604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STANDARD</a:t>
            </a:r>
          </a:p>
        </p:txBody>
      </p:sp>
      <p:sp>
        <p:nvSpPr>
          <p:cNvPr id="12" name="Rectangle 11"/>
          <p:cNvSpPr/>
          <p:nvPr/>
        </p:nvSpPr>
        <p:spPr>
          <a:xfrm>
            <a:off x="3108960" y="1874519"/>
            <a:ext cx="210312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1874519"/>
            <a:ext cx="210312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DATE WINDOW</a:t>
            </a:r>
          </a:p>
        </p:txBody>
      </p:sp>
      <p:sp>
        <p:nvSpPr>
          <p:cNvPr id="14" name="Rectangle 13"/>
          <p:cNvSpPr/>
          <p:nvPr/>
        </p:nvSpPr>
        <p:spPr>
          <a:xfrm>
            <a:off x="5212080" y="1874519"/>
            <a:ext cx="338328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1874519"/>
            <a:ext cx="338328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AUTHORITY</a:t>
            </a:r>
          </a:p>
        </p:txBody>
      </p:sp>
      <p:sp>
        <p:nvSpPr>
          <p:cNvPr id="16" name="Rectangle 15"/>
          <p:cNvSpPr/>
          <p:nvPr/>
        </p:nvSpPr>
        <p:spPr>
          <a:xfrm>
            <a:off x="8595360" y="1874519"/>
            <a:ext cx="146304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874519"/>
            <a:ext cx="146304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FINDINGS?</a:t>
            </a:r>
          </a:p>
        </p:txBody>
      </p:sp>
      <p:sp>
        <p:nvSpPr>
          <p:cNvPr id="18" name="Rectangle 17"/>
          <p:cNvSpPr/>
          <p:nvPr/>
        </p:nvSpPr>
        <p:spPr>
          <a:xfrm>
            <a:off x="10058400" y="1874519"/>
            <a:ext cx="201168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0" y="1874519"/>
            <a:ext cx="201168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TAG</a:t>
            </a:r>
          </a:p>
        </p:txBody>
      </p:sp>
      <p:sp>
        <p:nvSpPr>
          <p:cNvPr id="20" name="Rectangle 19"/>
          <p:cNvSpPr/>
          <p:nvPr/>
        </p:nvSpPr>
        <p:spPr>
          <a:xfrm>
            <a:off x="502920" y="2240280"/>
            <a:ext cx="260604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108960" y="2240280"/>
            <a:ext cx="210312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80" y="2240280"/>
            <a:ext cx="338328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0" y="2240280"/>
            <a:ext cx="146304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58400" y="2240280"/>
            <a:ext cx="201168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240280"/>
            <a:ext cx="2606040" cy="676656"/>
          </a:xfrm>
          <a:prstGeom prst="rect">
            <a:avLst/>
          </a:prstGeom>
          <a:noFill/>
        </p:spPr>
        <p:txBody>
          <a:bodyPr wrap="square" lIns="45720" rIns="45720" tIns="18288" bIns="18288" anchor="ctr">
            <a:spAutoFit/>
          </a:bodyPr>
          <a:lstStyle/>
          <a:p>
            <a:pPr algn="l"/>
            <a:r>
              <a:rPr sz="1200" b="1" i="0">
                <a:solidFill>
                  <a:srgbClr val="1A2744"/>
                </a:solidFill>
                <a:latin typeface="Calibri"/>
              </a:rPr>
              <a:t>Program Access</a:t>
            </a:r>
          </a:p>
        </p:txBody>
      </p:sp>
      <p:sp>
        <p:nvSpPr>
          <p:cNvPr id="26" name="TextBox 25"/>
          <p:cNvSpPr txBox="1"/>
          <p:nvPr/>
        </p:nvSpPr>
        <p:spPr>
          <a:xfrm>
            <a:off x="3200400" y="2240280"/>
            <a:ext cx="2103120" cy="676656"/>
          </a:xfrm>
          <a:prstGeom prst="rect">
            <a:avLst/>
          </a:prstGeom>
          <a:noFill/>
        </p:spPr>
        <p:txBody>
          <a:bodyPr wrap="square" lIns="45720" rIns="45720" tIns="18288" bIns="18288" anchor="ctr">
            <a:spAutoFit/>
          </a:bodyPr>
          <a:lstStyle/>
          <a:p>
            <a:pPr algn="l"/>
            <a:r>
              <a:rPr sz="1000" b="0" i="0">
                <a:solidFill>
                  <a:srgbClr val="1A1A1A"/>
                </a:solidFill>
                <a:latin typeface="Consolas"/>
              </a:rPr>
              <a:t>≤ June 3, 1977</a:t>
            </a:r>
          </a:p>
        </p:txBody>
      </p:sp>
      <p:sp>
        <p:nvSpPr>
          <p:cNvPr id="27" name="TextBox 26"/>
          <p:cNvSpPr txBox="1"/>
          <p:nvPr/>
        </p:nvSpPr>
        <p:spPr>
          <a:xfrm>
            <a:off x="5303520" y="2240280"/>
            <a:ext cx="3383280" cy="676656"/>
          </a:xfrm>
          <a:prstGeom prst="rect">
            <a:avLst/>
          </a:prstGeom>
          <a:noFill/>
        </p:spPr>
        <p:txBody>
          <a:bodyPr wrap="square" lIns="45720" rIns="45720" tIns="18288" bIns="18288" anchor="ctr">
            <a:spAutoFit/>
          </a:bodyPr>
          <a:lstStyle/>
          <a:p>
            <a:pPr algn="l"/>
            <a:r>
              <a:rPr sz="1000" b="0" i="0">
                <a:solidFill>
                  <a:srgbClr val="1A1A1A"/>
                </a:solidFill>
                <a:latin typeface="Consolas"/>
              </a:rPr>
              <a:t>34 CFR § 104.22  ·  28 CFR § 35.150</a:t>
            </a:r>
          </a:p>
        </p:txBody>
      </p:sp>
      <p:sp>
        <p:nvSpPr>
          <p:cNvPr id="28" name="TextBox 27"/>
          <p:cNvSpPr txBox="1"/>
          <p:nvPr/>
        </p:nvSpPr>
        <p:spPr>
          <a:xfrm>
            <a:off x="8595360" y="2240280"/>
            <a:ext cx="1463040" cy="676656"/>
          </a:xfrm>
          <a:prstGeom prst="rect">
            <a:avLst/>
          </a:prstGeom>
          <a:noFill/>
        </p:spPr>
        <p:txBody>
          <a:bodyPr wrap="square" lIns="45720" rIns="45720" tIns="18288" bIns="18288" anchor="ctr">
            <a:spAutoFit/>
          </a:bodyPr>
          <a:lstStyle/>
          <a:p>
            <a:pPr algn="ctr"/>
            <a:r>
              <a:rPr sz="1200" b="1" i="0">
                <a:solidFill>
                  <a:srgbClr val="B91C1C"/>
                </a:solidFill>
                <a:latin typeface="Calibri"/>
              </a:rPr>
              <a:t>Never</a:t>
            </a:r>
          </a:p>
        </p:txBody>
      </p:sp>
      <p:sp>
        <p:nvSpPr>
          <p:cNvPr id="29" name="Rectangle 28"/>
          <p:cNvSpPr/>
          <p:nvPr/>
        </p:nvSpPr>
        <p:spPr>
          <a:xfrm>
            <a:off x="10424160" y="2450592"/>
            <a:ext cx="1280160" cy="256032"/>
          </a:xfrm>
          <a:prstGeom prst="rect">
            <a:avLst/>
          </a:prstGeom>
          <a:solidFill>
            <a:srgbClr val="E5E7EB"/>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24160" y="2450592"/>
            <a:ext cx="128016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PA</a:t>
            </a:r>
          </a:p>
        </p:txBody>
      </p:sp>
      <p:sp>
        <p:nvSpPr>
          <p:cNvPr id="31" name="Rectangle 30"/>
          <p:cNvSpPr/>
          <p:nvPr/>
        </p:nvSpPr>
        <p:spPr>
          <a:xfrm>
            <a:off x="502920" y="2953512"/>
            <a:ext cx="2606040" cy="676656"/>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08960" y="2953512"/>
            <a:ext cx="2103120" cy="676656"/>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12080" y="2953512"/>
            <a:ext cx="3383280" cy="676656"/>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595360" y="2953512"/>
            <a:ext cx="1463040" cy="676656"/>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058400" y="2953512"/>
            <a:ext cx="2011680" cy="676656"/>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2953512"/>
            <a:ext cx="2606040" cy="676656"/>
          </a:xfrm>
          <a:prstGeom prst="rect">
            <a:avLst/>
          </a:prstGeom>
          <a:noFill/>
        </p:spPr>
        <p:txBody>
          <a:bodyPr wrap="square" lIns="45720" rIns="45720" tIns="18288" bIns="18288" anchor="ctr">
            <a:spAutoFit/>
          </a:bodyPr>
          <a:lstStyle/>
          <a:p>
            <a:pPr algn="l"/>
            <a:r>
              <a:rPr sz="1200" b="1" i="0">
                <a:solidFill>
                  <a:srgbClr val="1A2744"/>
                </a:solidFill>
                <a:latin typeface="Calibri"/>
              </a:rPr>
              <a:t>ANSI A117.1 (1961)</a:t>
            </a:r>
          </a:p>
        </p:txBody>
      </p:sp>
      <p:sp>
        <p:nvSpPr>
          <p:cNvPr id="37" name="TextBox 36"/>
          <p:cNvSpPr txBox="1"/>
          <p:nvPr/>
        </p:nvSpPr>
        <p:spPr>
          <a:xfrm>
            <a:off x="3200400" y="2953512"/>
            <a:ext cx="2103120" cy="676656"/>
          </a:xfrm>
          <a:prstGeom prst="rect">
            <a:avLst/>
          </a:prstGeom>
          <a:noFill/>
        </p:spPr>
        <p:txBody>
          <a:bodyPr wrap="square" lIns="45720" rIns="45720" tIns="18288" bIns="18288" anchor="ctr">
            <a:spAutoFit/>
          </a:bodyPr>
          <a:lstStyle/>
          <a:p>
            <a:pPr algn="l"/>
            <a:r>
              <a:rPr sz="1000" b="0" i="0">
                <a:solidFill>
                  <a:srgbClr val="1A1A1A"/>
                </a:solidFill>
                <a:latin typeface="Consolas"/>
              </a:rPr>
              <a:t>June 4, 1977 – Jan 17, 1991</a:t>
            </a:r>
          </a:p>
        </p:txBody>
      </p:sp>
      <p:sp>
        <p:nvSpPr>
          <p:cNvPr id="38" name="TextBox 37"/>
          <p:cNvSpPr txBox="1"/>
          <p:nvPr/>
        </p:nvSpPr>
        <p:spPr>
          <a:xfrm>
            <a:off x="5303520" y="2953512"/>
            <a:ext cx="3383280" cy="676656"/>
          </a:xfrm>
          <a:prstGeom prst="rect">
            <a:avLst/>
          </a:prstGeom>
          <a:noFill/>
        </p:spPr>
        <p:txBody>
          <a:bodyPr wrap="square" lIns="45720" rIns="45720" tIns="18288" bIns="18288" anchor="ctr">
            <a:spAutoFit/>
          </a:bodyPr>
          <a:lstStyle/>
          <a:p>
            <a:pPr algn="l"/>
            <a:r>
              <a:rPr sz="1000" b="0" i="0">
                <a:solidFill>
                  <a:srgbClr val="1A1A1A"/>
                </a:solidFill>
                <a:latin typeface="Consolas"/>
              </a:rPr>
              <a:t>34 CFR § 104.23(a)</a:t>
            </a:r>
          </a:p>
        </p:txBody>
      </p:sp>
      <p:sp>
        <p:nvSpPr>
          <p:cNvPr id="39" name="TextBox 38"/>
          <p:cNvSpPr txBox="1"/>
          <p:nvPr/>
        </p:nvSpPr>
        <p:spPr>
          <a:xfrm>
            <a:off x="8595360" y="2953512"/>
            <a:ext cx="1463040" cy="676656"/>
          </a:xfrm>
          <a:prstGeom prst="rect">
            <a:avLst/>
          </a:prstGeom>
          <a:noFill/>
        </p:spPr>
        <p:txBody>
          <a:bodyPr wrap="square" lIns="45720" rIns="45720" tIns="18288" bIns="18288" anchor="ctr">
            <a:spAutoFit/>
          </a:bodyPr>
          <a:lstStyle/>
          <a:p>
            <a:pPr algn="ctr"/>
            <a:r>
              <a:rPr sz="1200" b="1" i="0">
                <a:solidFill>
                  <a:srgbClr val="166534"/>
                </a:solidFill>
                <a:latin typeface="Calibri"/>
              </a:rPr>
              <a:t>Yes</a:t>
            </a:r>
          </a:p>
        </p:txBody>
      </p:sp>
      <p:sp>
        <p:nvSpPr>
          <p:cNvPr id="40" name="Rectangle 39"/>
          <p:cNvSpPr/>
          <p:nvPr/>
        </p:nvSpPr>
        <p:spPr>
          <a:xfrm>
            <a:off x="10424160" y="3163824"/>
            <a:ext cx="1280160" cy="256032"/>
          </a:xfrm>
          <a:prstGeom prst="rect">
            <a:avLst/>
          </a:prstGeom>
          <a:solidFill>
            <a:srgbClr val="FEF9C3"/>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24160" y="3163824"/>
            <a:ext cx="1280160" cy="256032"/>
          </a:xfrm>
          <a:prstGeom prst="rect">
            <a:avLst/>
          </a:prstGeom>
          <a:noFill/>
        </p:spPr>
        <p:txBody>
          <a:bodyPr wrap="square" lIns="45720" rIns="45720" tIns="18288" bIns="18288" anchor="ctr">
            <a:spAutoFit/>
          </a:bodyPr>
          <a:lstStyle/>
          <a:p>
            <a:pPr algn="ctr"/>
            <a:r>
              <a:rPr sz="1000" b="1" i="0">
                <a:solidFill>
                  <a:srgbClr val="713F12"/>
                </a:solidFill>
                <a:latin typeface="Consolas"/>
              </a:rPr>
              <a:t>ANSI</a:t>
            </a:r>
          </a:p>
        </p:txBody>
      </p:sp>
      <p:sp>
        <p:nvSpPr>
          <p:cNvPr id="42" name="Rectangle 41"/>
          <p:cNvSpPr/>
          <p:nvPr/>
        </p:nvSpPr>
        <p:spPr>
          <a:xfrm>
            <a:off x="502920" y="3666744"/>
            <a:ext cx="260604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108960" y="3666744"/>
            <a:ext cx="210312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212080" y="3666744"/>
            <a:ext cx="338328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595360" y="3666744"/>
            <a:ext cx="146304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058400" y="3666744"/>
            <a:ext cx="201168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3666744"/>
            <a:ext cx="2606040" cy="676656"/>
          </a:xfrm>
          <a:prstGeom prst="rect">
            <a:avLst/>
          </a:prstGeom>
          <a:noFill/>
        </p:spPr>
        <p:txBody>
          <a:bodyPr wrap="square" lIns="45720" rIns="45720" tIns="18288" bIns="18288" anchor="ctr">
            <a:spAutoFit/>
          </a:bodyPr>
          <a:lstStyle/>
          <a:p>
            <a:pPr algn="l"/>
            <a:r>
              <a:rPr sz="1200" b="1" i="0">
                <a:solidFill>
                  <a:srgbClr val="1A2744"/>
                </a:solidFill>
                <a:latin typeface="Calibri"/>
              </a:rPr>
              <a:t>UFAS</a:t>
            </a:r>
          </a:p>
        </p:txBody>
      </p:sp>
      <p:sp>
        <p:nvSpPr>
          <p:cNvPr id="48" name="TextBox 47"/>
          <p:cNvSpPr txBox="1"/>
          <p:nvPr/>
        </p:nvSpPr>
        <p:spPr>
          <a:xfrm>
            <a:off x="3200400" y="3666744"/>
            <a:ext cx="2103120" cy="676656"/>
          </a:xfrm>
          <a:prstGeom prst="rect">
            <a:avLst/>
          </a:prstGeom>
          <a:noFill/>
        </p:spPr>
        <p:txBody>
          <a:bodyPr wrap="square" lIns="45720" rIns="45720" tIns="18288" bIns="18288" anchor="ctr">
            <a:spAutoFit/>
          </a:bodyPr>
          <a:lstStyle/>
          <a:p>
            <a:pPr algn="l"/>
            <a:r>
              <a:rPr sz="1000" b="0" i="0">
                <a:solidFill>
                  <a:srgbClr val="1A1A1A"/>
                </a:solidFill>
                <a:latin typeface="Consolas"/>
              </a:rPr>
              <a:t>Jan 18, 1991 – Jan 26, 1992</a:t>
            </a:r>
          </a:p>
        </p:txBody>
      </p:sp>
      <p:sp>
        <p:nvSpPr>
          <p:cNvPr id="49" name="TextBox 48"/>
          <p:cNvSpPr txBox="1"/>
          <p:nvPr/>
        </p:nvSpPr>
        <p:spPr>
          <a:xfrm>
            <a:off x="5303520" y="3666744"/>
            <a:ext cx="3383280" cy="676656"/>
          </a:xfrm>
          <a:prstGeom prst="rect">
            <a:avLst/>
          </a:prstGeom>
          <a:noFill/>
        </p:spPr>
        <p:txBody>
          <a:bodyPr wrap="square" lIns="45720" rIns="45720" tIns="18288" bIns="18288" anchor="ctr">
            <a:spAutoFit/>
          </a:bodyPr>
          <a:lstStyle/>
          <a:p>
            <a:pPr algn="l"/>
            <a:r>
              <a:rPr sz="1000" b="0" i="0">
                <a:solidFill>
                  <a:srgbClr val="1A1A1A"/>
                </a:solidFill>
                <a:latin typeface="Consolas"/>
              </a:rPr>
              <a:t>28 CFR § 35.151(a); 41 CFR 101-19.6 App.A</a:t>
            </a:r>
          </a:p>
        </p:txBody>
      </p:sp>
      <p:sp>
        <p:nvSpPr>
          <p:cNvPr id="50" name="TextBox 49"/>
          <p:cNvSpPr txBox="1"/>
          <p:nvPr/>
        </p:nvSpPr>
        <p:spPr>
          <a:xfrm>
            <a:off x="8595360" y="3666744"/>
            <a:ext cx="1463040" cy="676656"/>
          </a:xfrm>
          <a:prstGeom prst="rect">
            <a:avLst/>
          </a:prstGeom>
          <a:noFill/>
        </p:spPr>
        <p:txBody>
          <a:bodyPr wrap="square" lIns="45720" rIns="45720" tIns="18288" bIns="18288" anchor="ctr">
            <a:spAutoFit/>
          </a:bodyPr>
          <a:lstStyle/>
          <a:p>
            <a:pPr algn="ctr"/>
            <a:r>
              <a:rPr sz="1200" b="1" i="0">
                <a:solidFill>
                  <a:srgbClr val="166534"/>
                </a:solidFill>
                <a:latin typeface="Calibri"/>
              </a:rPr>
              <a:t>Yes</a:t>
            </a:r>
          </a:p>
        </p:txBody>
      </p:sp>
      <p:sp>
        <p:nvSpPr>
          <p:cNvPr id="51" name="Rectangle 50"/>
          <p:cNvSpPr/>
          <p:nvPr/>
        </p:nvSpPr>
        <p:spPr>
          <a:xfrm>
            <a:off x="10424160" y="3877056"/>
            <a:ext cx="1280160" cy="256032"/>
          </a:xfrm>
          <a:prstGeom prst="rect">
            <a:avLst/>
          </a:prstGeom>
          <a:solidFill>
            <a:srgbClr val="DBEAFE"/>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424160" y="3877056"/>
            <a:ext cx="1280160" cy="256032"/>
          </a:xfrm>
          <a:prstGeom prst="rect">
            <a:avLst/>
          </a:prstGeom>
          <a:noFill/>
        </p:spPr>
        <p:txBody>
          <a:bodyPr wrap="square" lIns="45720" rIns="45720" tIns="18288" bIns="18288" anchor="ctr">
            <a:spAutoFit/>
          </a:bodyPr>
          <a:lstStyle/>
          <a:p>
            <a:pPr algn="ctr"/>
            <a:r>
              <a:rPr sz="1000" b="1" i="0">
                <a:solidFill>
                  <a:srgbClr val="1E3A8A"/>
                </a:solidFill>
                <a:latin typeface="Consolas"/>
              </a:rPr>
              <a:t>UFAS</a:t>
            </a:r>
          </a:p>
        </p:txBody>
      </p:sp>
      <p:sp>
        <p:nvSpPr>
          <p:cNvPr id="53" name="Rectangle 52"/>
          <p:cNvSpPr/>
          <p:nvPr/>
        </p:nvSpPr>
        <p:spPr>
          <a:xfrm>
            <a:off x="502920" y="4379976"/>
            <a:ext cx="2606040" cy="676656"/>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108960" y="4379976"/>
            <a:ext cx="2103120" cy="676656"/>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212080" y="4379976"/>
            <a:ext cx="3383280" cy="676656"/>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595360" y="4379976"/>
            <a:ext cx="1463040" cy="676656"/>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058400" y="4379976"/>
            <a:ext cx="2011680" cy="676656"/>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4360" y="4379976"/>
            <a:ext cx="2606040" cy="676656"/>
          </a:xfrm>
          <a:prstGeom prst="rect">
            <a:avLst/>
          </a:prstGeom>
          <a:noFill/>
        </p:spPr>
        <p:txBody>
          <a:bodyPr wrap="square" lIns="45720" rIns="45720" tIns="18288" bIns="18288" anchor="ctr">
            <a:spAutoFit/>
          </a:bodyPr>
          <a:lstStyle/>
          <a:p>
            <a:pPr algn="l"/>
            <a:r>
              <a:rPr sz="1200" b="1" i="0">
                <a:solidFill>
                  <a:srgbClr val="1A2744"/>
                </a:solidFill>
                <a:latin typeface="Calibri"/>
              </a:rPr>
              <a:t>1991 ADA / ADAAG</a:t>
            </a:r>
          </a:p>
        </p:txBody>
      </p:sp>
      <p:sp>
        <p:nvSpPr>
          <p:cNvPr id="59" name="TextBox 58"/>
          <p:cNvSpPr txBox="1"/>
          <p:nvPr/>
        </p:nvSpPr>
        <p:spPr>
          <a:xfrm>
            <a:off x="3200400" y="4379976"/>
            <a:ext cx="2103120" cy="676656"/>
          </a:xfrm>
          <a:prstGeom prst="rect">
            <a:avLst/>
          </a:prstGeom>
          <a:noFill/>
        </p:spPr>
        <p:txBody>
          <a:bodyPr wrap="square" lIns="45720" rIns="45720" tIns="18288" bIns="18288" anchor="ctr">
            <a:spAutoFit/>
          </a:bodyPr>
          <a:lstStyle/>
          <a:p>
            <a:pPr algn="l"/>
            <a:r>
              <a:rPr sz="1000" b="0" i="0">
                <a:solidFill>
                  <a:srgbClr val="1A1A1A"/>
                </a:solidFill>
                <a:latin typeface="Consolas"/>
              </a:rPr>
              <a:t>Jan 27, 1992 – Sep 14, 2010 (and overlap to Mar 14, 2012)</a:t>
            </a:r>
          </a:p>
        </p:txBody>
      </p:sp>
      <p:sp>
        <p:nvSpPr>
          <p:cNvPr id="60" name="TextBox 59"/>
          <p:cNvSpPr txBox="1"/>
          <p:nvPr/>
        </p:nvSpPr>
        <p:spPr>
          <a:xfrm>
            <a:off x="5303520" y="4379976"/>
            <a:ext cx="3383280" cy="676656"/>
          </a:xfrm>
          <a:prstGeom prst="rect">
            <a:avLst/>
          </a:prstGeom>
          <a:noFill/>
        </p:spPr>
        <p:txBody>
          <a:bodyPr wrap="square" lIns="45720" rIns="45720" tIns="18288" bIns="18288" anchor="ctr">
            <a:spAutoFit/>
          </a:bodyPr>
          <a:lstStyle/>
          <a:p>
            <a:pPr algn="l"/>
            <a:r>
              <a:rPr sz="1000" b="0" i="0">
                <a:solidFill>
                  <a:srgbClr val="1A1A1A"/>
                </a:solidFill>
                <a:latin typeface="Consolas"/>
              </a:rPr>
              <a:t>28 CFR Pt 36 App. D</a:t>
            </a:r>
          </a:p>
        </p:txBody>
      </p:sp>
      <p:sp>
        <p:nvSpPr>
          <p:cNvPr id="61" name="TextBox 60"/>
          <p:cNvSpPr txBox="1"/>
          <p:nvPr/>
        </p:nvSpPr>
        <p:spPr>
          <a:xfrm>
            <a:off x="8595360" y="4379976"/>
            <a:ext cx="1463040" cy="676656"/>
          </a:xfrm>
          <a:prstGeom prst="rect">
            <a:avLst/>
          </a:prstGeom>
          <a:noFill/>
        </p:spPr>
        <p:txBody>
          <a:bodyPr wrap="square" lIns="45720" rIns="45720" tIns="18288" bIns="18288" anchor="ctr">
            <a:spAutoFit/>
          </a:bodyPr>
          <a:lstStyle/>
          <a:p>
            <a:pPr algn="ctr"/>
            <a:r>
              <a:rPr sz="1200" b="1" i="0">
                <a:solidFill>
                  <a:srgbClr val="166534"/>
                </a:solidFill>
                <a:latin typeface="Calibri"/>
              </a:rPr>
              <a:t>Yes</a:t>
            </a:r>
          </a:p>
        </p:txBody>
      </p:sp>
      <p:sp>
        <p:nvSpPr>
          <p:cNvPr id="62" name="Rectangle 61"/>
          <p:cNvSpPr/>
          <p:nvPr/>
        </p:nvSpPr>
        <p:spPr>
          <a:xfrm>
            <a:off x="10424160" y="4590288"/>
            <a:ext cx="1280160" cy="256032"/>
          </a:xfrm>
          <a:prstGeom prst="rect">
            <a:avLst/>
          </a:prstGeom>
          <a:solidFill>
            <a:srgbClr val="D1FAE5"/>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424160" y="4590288"/>
            <a:ext cx="1280160" cy="256032"/>
          </a:xfrm>
          <a:prstGeom prst="rect">
            <a:avLst/>
          </a:prstGeom>
          <a:noFill/>
        </p:spPr>
        <p:txBody>
          <a:bodyPr wrap="square" lIns="45720" rIns="45720" tIns="18288" bIns="18288" anchor="ctr">
            <a:spAutoFit/>
          </a:bodyPr>
          <a:lstStyle/>
          <a:p>
            <a:pPr algn="ctr"/>
            <a:r>
              <a:rPr sz="1000" b="1" i="0">
                <a:solidFill>
                  <a:srgbClr val="064E3B"/>
                </a:solidFill>
                <a:latin typeface="Consolas"/>
              </a:rPr>
              <a:t>ADA 1991</a:t>
            </a:r>
          </a:p>
        </p:txBody>
      </p:sp>
      <p:sp>
        <p:nvSpPr>
          <p:cNvPr id="64" name="Rectangle 63"/>
          <p:cNvSpPr/>
          <p:nvPr/>
        </p:nvSpPr>
        <p:spPr>
          <a:xfrm>
            <a:off x="502920" y="5093208"/>
            <a:ext cx="260604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108960" y="5093208"/>
            <a:ext cx="210312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212080" y="5093208"/>
            <a:ext cx="338328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595360" y="5093208"/>
            <a:ext cx="146304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058400" y="5093208"/>
            <a:ext cx="2011680" cy="676656"/>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94360" y="5093208"/>
            <a:ext cx="2606040" cy="676656"/>
          </a:xfrm>
          <a:prstGeom prst="rect">
            <a:avLst/>
          </a:prstGeom>
          <a:noFill/>
        </p:spPr>
        <p:txBody>
          <a:bodyPr wrap="square" lIns="45720" rIns="45720" tIns="18288" bIns="18288" anchor="ctr">
            <a:spAutoFit/>
          </a:bodyPr>
          <a:lstStyle/>
          <a:p>
            <a:pPr algn="l"/>
            <a:r>
              <a:rPr sz="1200" b="1" i="0">
                <a:solidFill>
                  <a:srgbClr val="1A2744"/>
                </a:solidFill>
                <a:latin typeface="Calibri"/>
              </a:rPr>
              <a:t>2010 ADA</a:t>
            </a:r>
          </a:p>
        </p:txBody>
      </p:sp>
      <p:sp>
        <p:nvSpPr>
          <p:cNvPr id="70" name="TextBox 69"/>
          <p:cNvSpPr txBox="1"/>
          <p:nvPr/>
        </p:nvSpPr>
        <p:spPr>
          <a:xfrm>
            <a:off x="3200400" y="5093208"/>
            <a:ext cx="2103120" cy="676656"/>
          </a:xfrm>
          <a:prstGeom prst="rect">
            <a:avLst/>
          </a:prstGeom>
          <a:noFill/>
        </p:spPr>
        <p:txBody>
          <a:bodyPr wrap="square" lIns="45720" rIns="45720" tIns="18288" bIns="18288" anchor="ctr">
            <a:spAutoFit/>
          </a:bodyPr>
          <a:lstStyle/>
          <a:p>
            <a:pPr algn="l"/>
            <a:r>
              <a:rPr sz="1000" b="0" i="0">
                <a:solidFill>
                  <a:srgbClr val="1A1A1A"/>
                </a:solidFill>
                <a:latin typeface="Consolas"/>
              </a:rPr>
              <a:t>≥ Mar 15, 2012</a:t>
            </a:r>
          </a:p>
        </p:txBody>
      </p:sp>
      <p:sp>
        <p:nvSpPr>
          <p:cNvPr id="71" name="TextBox 70"/>
          <p:cNvSpPr txBox="1"/>
          <p:nvPr/>
        </p:nvSpPr>
        <p:spPr>
          <a:xfrm>
            <a:off x="5303520" y="5093208"/>
            <a:ext cx="3383280" cy="676656"/>
          </a:xfrm>
          <a:prstGeom prst="rect">
            <a:avLst/>
          </a:prstGeom>
          <a:noFill/>
        </p:spPr>
        <p:txBody>
          <a:bodyPr wrap="square" lIns="45720" rIns="45720" tIns="18288" bIns="18288" anchor="ctr">
            <a:spAutoFit/>
          </a:bodyPr>
          <a:lstStyle/>
          <a:p>
            <a:pPr algn="l"/>
            <a:r>
              <a:rPr sz="1000" b="0" i="0">
                <a:solidFill>
                  <a:srgbClr val="1A1A1A"/>
                </a:solidFill>
                <a:latin typeface="Consolas"/>
              </a:rPr>
              <a:t>28 CFR Pt 35 App. B</a:t>
            </a:r>
          </a:p>
        </p:txBody>
      </p:sp>
      <p:sp>
        <p:nvSpPr>
          <p:cNvPr id="72" name="TextBox 71"/>
          <p:cNvSpPr txBox="1"/>
          <p:nvPr/>
        </p:nvSpPr>
        <p:spPr>
          <a:xfrm>
            <a:off x="8595360" y="5093208"/>
            <a:ext cx="1463040" cy="676656"/>
          </a:xfrm>
          <a:prstGeom prst="rect">
            <a:avLst/>
          </a:prstGeom>
          <a:noFill/>
        </p:spPr>
        <p:txBody>
          <a:bodyPr wrap="square" lIns="45720" rIns="45720" tIns="18288" bIns="18288" anchor="ctr">
            <a:spAutoFit/>
          </a:bodyPr>
          <a:lstStyle/>
          <a:p>
            <a:pPr algn="ctr"/>
            <a:r>
              <a:rPr sz="1200" b="1" i="0">
                <a:solidFill>
                  <a:srgbClr val="166534"/>
                </a:solidFill>
                <a:latin typeface="Calibri"/>
              </a:rPr>
              <a:t>Yes</a:t>
            </a:r>
          </a:p>
        </p:txBody>
      </p:sp>
      <p:sp>
        <p:nvSpPr>
          <p:cNvPr id="73" name="Rectangle 72"/>
          <p:cNvSpPr/>
          <p:nvPr/>
        </p:nvSpPr>
        <p:spPr>
          <a:xfrm>
            <a:off x="10424160" y="5303520"/>
            <a:ext cx="1280160" cy="256032"/>
          </a:xfrm>
          <a:prstGeom prst="rect">
            <a:avLst/>
          </a:prstGeom>
          <a:solidFill>
            <a:srgbClr val="FEE2E2"/>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424160" y="5303520"/>
            <a:ext cx="1280160" cy="256032"/>
          </a:xfrm>
          <a:prstGeom prst="rect">
            <a:avLst/>
          </a:prstGeom>
          <a:noFill/>
        </p:spPr>
        <p:txBody>
          <a:bodyPr wrap="square" lIns="45720" rIns="45720" tIns="18288" bIns="18288" anchor="ctr">
            <a:spAutoFit/>
          </a:bodyPr>
          <a:lstStyle/>
          <a:p>
            <a:pPr algn="ctr"/>
            <a:r>
              <a:rPr sz="1000" b="1" i="0">
                <a:solidFill>
                  <a:srgbClr val="7F1D1D"/>
                </a:solidFill>
                <a:latin typeface="Consolas"/>
              </a:rPr>
              <a:t>ADA 2010</a:t>
            </a:r>
          </a:p>
        </p:txBody>
      </p:sp>
      <p:sp>
        <p:nvSpPr>
          <p:cNvPr id="75" name="TextBox 74"/>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76" name="TextBox 75"/>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11 / 63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12 · THE STANDARDS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Why construction date controls the standard</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Accessibility law is not retroactive. The standard in force when a building was built or last altered governs forever — unless and until the building is altered again.</a:t>
            </a:r>
          </a:p>
        </p:txBody>
      </p:sp>
      <p:sp>
        <p:nvSpPr>
          <p:cNvPr id="10" name="Rectangle 9"/>
          <p:cNvSpPr/>
          <p:nvPr/>
        </p:nvSpPr>
        <p:spPr>
          <a:xfrm>
            <a:off x="502920" y="1965960"/>
            <a:ext cx="5486400" cy="2103120"/>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965960"/>
            <a:ext cx="164592" cy="21031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103120"/>
            <a:ext cx="5029200" cy="457200"/>
          </a:xfrm>
          <a:prstGeom prst="rect">
            <a:avLst/>
          </a:prstGeom>
          <a:noFill/>
        </p:spPr>
        <p:txBody>
          <a:bodyPr wrap="square" lIns="45720" rIns="45720" tIns="18288" bIns="18288" anchor="t">
            <a:spAutoFit/>
          </a:bodyPr>
          <a:lstStyle/>
          <a:p>
            <a:pPr algn="l"/>
            <a:r>
              <a:rPr sz="1400" b="1" i="0">
                <a:solidFill>
                  <a:srgbClr val="1A2744"/>
                </a:solidFill>
                <a:latin typeface="Calibri"/>
              </a:rPr>
              <a:t>Built in 1965 · never altered</a:t>
            </a:r>
          </a:p>
        </p:txBody>
      </p:sp>
      <p:sp>
        <p:nvSpPr>
          <p:cNvPr id="13" name="TextBox 12"/>
          <p:cNvSpPr txBox="1"/>
          <p:nvPr/>
        </p:nvSpPr>
        <p:spPr>
          <a:xfrm>
            <a:off x="822960" y="2606040"/>
            <a:ext cx="5029200" cy="1371600"/>
          </a:xfrm>
          <a:prstGeom prst="rect">
            <a:avLst/>
          </a:prstGeom>
          <a:noFill/>
        </p:spPr>
        <p:txBody>
          <a:bodyPr wrap="square" lIns="45720" rIns="45720" tIns="18288" bIns="18288" anchor="t">
            <a:spAutoFit/>
          </a:bodyPr>
          <a:lstStyle/>
          <a:p>
            <a:pPr algn="l"/>
            <a:r>
              <a:rPr sz="1200" b="0" i="0">
                <a:solidFill>
                  <a:srgbClr val="1A1A1A"/>
                </a:solidFill>
                <a:latin typeface="Calibri"/>
              </a:rPr>
              <a:t>Program Access only.  Barriers can exist legally — what matters is whether the program as a whole is accessible.</a:t>
            </a:r>
          </a:p>
        </p:txBody>
      </p:sp>
      <p:sp>
        <p:nvSpPr>
          <p:cNvPr id="14" name="Rectangle 13"/>
          <p:cNvSpPr/>
          <p:nvPr/>
        </p:nvSpPr>
        <p:spPr>
          <a:xfrm>
            <a:off x="6172200" y="1965960"/>
            <a:ext cx="5486400" cy="2103120"/>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965960"/>
            <a:ext cx="164592" cy="2103120"/>
          </a:xfrm>
          <a:prstGeom prst="rect">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2103120"/>
            <a:ext cx="5029200" cy="457200"/>
          </a:xfrm>
          <a:prstGeom prst="rect">
            <a:avLst/>
          </a:prstGeom>
          <a:noFill/>
        </p:spPr>
        <p:txBody>
          <a:bodyPr wrap="square" lIns="45720" rIns="45720" tIns="18288" bIns="18288" anchor="t">
            <a:spAutoFit/>
          </a:bodyPr>
          <a:lstStyle/>
          <a:p>
            <a:pPr algn="l"/>
            <a:r>
              <a:rPr sz="1400" b="1" i="0">
                <a:solidFill>
                  <a:srgbClr val="1A2744"/>
                </a:solidFill>
                <a:latin typeface="Calibri"/>
              </a:rPr>
              <a:t>Built in 1985 · never altered</a:t>
            </a:r>
          </a:p>
        </p:txBody>
      </p:sp>
      <p:sp>
        <p:nvSpPr>
          <p:cNvPr id="17" name="TextBox 16"/>
          <p:cNvSpPr txBox="1"/>
          <p:nvPr/>
        </p:nvSpPr>
        <p:spPr>
          <a:xfrm>
            <a:off x="6492240" y="2606040"/>
            <a:ext cx="5029200" cy="1371600"/>
          </a:xfrm>
          <a:prstGeom prst="rect">
            <a:avLst/>
          </a:prstGeom>
          <a:noFill/>
        </p:spPr>
        <p:txBody>
          <a:bodyPr wrap="square" lIns="45720" rIns="45720" tIns="18288" bIns="18288" anchor="t">
            <a:spAutoFit/>
          </a:bodyPr>
          <a:lstStyle/>
          <a:p>
            <a:pPr algn="l"/>
            <a:r>
              <a:rPr sz="1200" b="0" i="0">
                <a:solidFill>
                  <a:srgbClr val="1A1A1A"/>
                </a:solidFill>
                <a:latin typeface="Calibri"/>
              </a:rPr>
              <a:t>ANSI A117.1 (1961 R1971).  Cite ANSI sections only.  2010 ADA is not retroactive.</a:t>
            </a:r>
          </a:p>
        </p:txBody>
      </p:sp>
      <p:sp>
        <p:nvSpPr>
          <p:cNvPr id="18" name="Rectangle 17"/>
          <p:cNvSpPr/>
          <p:nvPr/>
        </p:nvSpPr>
        <p:spPr>
          <a:xfrm>
            <a:off x="502920" y="4206240"/>
            <a:ext cx="5486400" cy="2103120"/>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4206240"/>
            <a:ext cx="164592" cy="2103120"/>
          </a:xfrm>
          <a:prstGeom prst="rect">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343400"/>
            <a:ext cx="5029200" cy="457200"/>
          </a:xfrm>
          <a:prstGeom prst="rect">
            <a:avLst/>
          </a:prstGeom>
          <a:noFill/>
        </p:spPr>
        <p:txBody>
          <a:bodyPr wrap="square" lIns="45720" rIns="45720" tIns="18288" bIns="18288" anchor="t">
            <a:spAutoFit/>
          </a:bodyPr>
          <a:lstStyle/>
          <a:p>
            <a:pPr algn="l"/>
            <a:r>
              <a:rPr sz="1400" b="1" i="0">
                <a:solidFill>
                  <a:srgbClr val="1A2744"/>
                </a:solidFill>
                <a:latin typeface="Calibri"/>
              </a:rPr>
              <a:t>Built in 1995 · re-roofed in 2018</a:t>
            </a:r>
          </a:p>
        </p:txBody>
      </p:sp>
      <p:sp>
        <p:nvSpPr>
          <p:cNvPr id="21" name="TextBox 20"/>
          <p:cNvSpPr txBox="1"/>
          <p:nvPr/>
        </p:nvSpPr>
        <p:spPr>
          <a:xfrm>
            <a:off x="822960" y="4846320"/>
            <a:ext cx="5029200" cy="1371600"/>
          </a:xfrm>
          <a:prstGeom prst="rect">
            <a:avLst/>
          </a:prstGeom>
          <a:noFill/>
        </p:spPr>
        <p:txBody>
          <a:bodyPr wrap="square" lIns="45720" rIns="45720" tIns="18288" bIns="18288" anchor="t">
            <a:spAutoFit/>
          </a:bodyPr>
          <a:lstStyle/>
          <a:p>
            <a:pPr algn="l"/>
            <a:r>
              <a:rPr sz="1200" b="0" i="0">
                <a:solidFill>
                  <a:srgbClr val="1A1A1A"/>
                </a:solidFill>
                <a:latin typeface="Calibri"/>
              </a:rPr>
              <a:t>1991 ADA / ADAAG governs the building.  Re-roofing is not an 'accessibility-affecting' alteration, so it does not bump up the standard.</a:t>
            </a:r>
          </a:p>
        </p:txBody>
      </p:sp>
      <p:sp>
        <p:nvSpPr>
          <p:cNvPr id="22" name="Rectangle 21"/>
          <p:cNvSpPr/>
          <p:nvPr/>
        </p:nvSpPr>
        <p:spPr>
          <a:xfrm>
            <a:off x="6172200" y="4206240"/>
            <a:ext cx="5486400" cy="2103120"/>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4206240"/>
            <a:ext cx="164592" cy="210312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4343400"/>
            <a:ext cx="5029200" cy="457200"/>
          </a:xfrm>
          <a:prstGeom prst="rect">
            <a:avLst/>
          </a:prstGeom>
          <a:noFill/>
        </p:spPr>
        <p:txBody>
          <a:bodyPr wrap="square" lIns="45720" rIns="45720" tIns="18288" bIns="18288" anchor="t">
            <a:spAutoFit/>
          </a:bodyPr>
          <a:lstStyle/>
          <a:p>
            <a:pPr algn="l"/>
            <a:r>
              <a:rPr sz="1400" b="1" i="0">
                <a:solidFill>
                  <a:srgbClr val="1A2744"/>
                </a:solidFill>
                <a:latin typeface="Calibri"/>
              </a:rPr>
              <a:t>Built in 1968 · restrooms gutted and rebuilt in 2019</a:t>
            </a:r>
          </a:p>
        </p:txBody>
      </p:sp>
      <p:sp>
        <p:nvSpPr>
          <p:cNvPr id="25" name="TextBox 24"/>
          <p:cNvSpPr txBox="1"/>
          <p:nvPr/>
        </p:nvSpPr>
        <p:spPr>
          <a:xfrm>
            <a:off x="6492240" y="4846320"/>
            <a:ext cx="5029200" cy="1371600"/>
          </a:xfrm>
          <a:prstGeom prst="rect">
            <a:avLst/>
          </a:prstGeom>
          <a:noFill/>
        </p:spPr>
        <p:txBody>
          <a:bodyPr wrap="square" lIns="45720" rIns="45720" tIns="18288" bIns="18288" anchor="t">
            <a:spAutoFit/>
          </a:bodyPr>
          <a:lstStyle/>
          <a:p>
            <a:pPr algn="l"/>
            <a:r>
              <a:rPr sz="1200" b="0" i="0">
                <a:solidFill>
                  <a:srgbClr val="1A1A1A"/>
                </a:solidFill>
                <a:latin typeface="Calibri"/>
              </a:rPr>
              <a:t>Original building stays Program Access.  Altered restrooms are evaluated under 2010 ADA.</a:t>
            </a:r>
          </a:p>
        </p:txBody>
      </p:sp>
      <p:sp>
        <p:nvSpPr>
          <p:cNvPr id="26" name="TextBox 25"/>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27" name="TextBox 26"/>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12 / 63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13 · DECISION TREE</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Standard determination — the decision tree</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Use this every time. If you cannot answer the date question, you cannot issue a finding.</a:t>
            </a:r>
          </a:p>
        </p:txBody>
      </p:sp>
      <p:sp>
        <p:nvSpPr>
          <p:cNvPr id="10" name="Diamond 9"/>
          <p:cNvSpPr/>
          <p:nvPr/>
        </p:nvSpPr>
        <p:spPr>
          <a:xfrm>
            <a:off x="4846320" y="1920240"/>
            <a:ext cx="2468880" cy="914400"/>
          </a:xfrm>
          <a:prstGeom prst="diamond">
            <a:avLst/>
          </a:prstGeom>
          <a:solidFill>
            <a:srgbClr val="1A2744"/>
          </a:solidFill>
          <a:ln w="19050">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C8A84B"/>
                </a:solidFill>
                <a:latin typeface="Calibri"/>
              </a:rPr>
              <a:t>Was this element altered after construction?</a:t>
            </a:r>
          </a:p>
        </p:txBody>
      </p:sp>
      <p:sp>
        <p:nvSpPr>
          <p:cNvPr id="11" name="Diamond 10"/>
          <p:cNvSpPr/>
          <p:nvPr/>
        </p:nvSpPr>
        <p:spPr>
          <a:xfrm>
            <a:off x="1645920" y="3383280"/>
            <a:ext cx="2468880" cy="914400"/>
          </a:xfrm>
          <a:prstGeom prst="diamond">
            <a:avLst/>
          </a:prstGeom>
          <a:solidFill>
            <a:srgbClr val="1A2744"/>
          </a:solidFill>
          <a:ln w="19050">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C8A84B"/>
                </a:solidFill>
                <a:latin typeface="Calibri"/>
              </a:rPr>
              <a:t>Use ORIGINAL construction date</a:t>
            </a:r>
          </a:p>
        </p:txBody>
      </p:sp>
      <p:sp>
        <p:nvSpPr>
          <p:cNvPr id="12" name="Diamond 11"/>
          <p:cNvSpPr/>
          <p:nvPr/>
        </p:nvSpPr>
        <p:spPr>
          <a:xfrm>
            <a:off x="8046720" y="3383280"/>
            <a:ext cx="2468880" cy="914400"/>
          </a:xfrm>
          <a:prstGeom prst="diamond">
            <a:avLst/>
          </a:prstGeom>
          <a:solidFill>
            <a:srgbClr val="1A2744"/>
          </a:solidFill>
          <a:ln w="19050">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C8A84B"/>
                </a:solidFill>
                <a:latin typeface="Calibri"/>
              </a:rPr>
              <a:t>Use ALTERATION / ADA-mod date</a:t>
            </a:r>
          </a:p>
        </p:txBody>
      </p:sp>
      <p:cxnSp>
        <p:nvCxnSpPr>
          <p:cNvPr id="13" name="Connector 12"/>
          <p:cNvCxnSpPr/>
          <p:nvPr/>
        </p:nvCxnSpPr>
        <p:spPr>
          <a:xfrm flipH="1">
            <a:off x="2880360" y="2834640"/>
            <a:ext cx="3200400" cy="548640"/>
          </a:xfrm>
          <a:prstGeom prst="line">
            <a:avLst/>
          </a:prstGeom>
          <a:ln w="15875">
            <a:solidFill>
              <a:srgbClr val="6B665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06240" y="2971800"/>
            <a:ext cx="548640" cy="274320"/>
          </a:xfrm>
          <a:prstGeom prst="rect">
            <a:avLst/>
          </a:prstGeom>
          <a:noFill/>
        </p:spPr>
        <p:txBody>
          <a:bodyPr wrap="square" lIns="45720" rIns="45720" tIns="18288" bIns="18288" anchor="ctr">
            <a:spAutoFit/>
          </a:bodyPr>
          <a:lstStyle/>
          <a:p>
            <a:pPr algn="ctr"/>
            <a:r>
              <a:rPr sz="1000" b="1" i="0">
                <a:solidFill>
                  <a:srgbClr val="1A2744"/>
                </a:solidFill>
                <a:latin typeface="Consolas"/>
              </a:rPr>
              <a:t>NO</a:t>
            </a:r>
          </a:p>
        </p:txBody>
      </p:sp>
      <p:cxnSp>
        <p:nvCxnSpPr>
          <p:cNvPr id="15" name="Connector 14"/>
          <p:cNvCxnSpPr/>
          <p:nvPr/>
        </p:nvCxnSpPr>
        <p:spPr>
          <a:xfrm>
            <a:off x="6080760" y="2834640"/>
            <a:ext cx="3200400" cy="548640"/>
          </a:xfrm>
          <a:prstGeom prst="line">
            <a:avLst/>
          </a:prstGeom>
          <a:ln w="15875">
            <a:solidFill>
              <a:srgbClr val="6B665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06640" y="2971800"/>
            <a:ext cx="548640" cy="274320"/>
          </a:xfrm>
          <a:prstGeom prst="rect">
            <a:avLst/>
          </a:prstGeom>
          <a:noFill/>
        </p:spPr>
        <p:txBody>
          <a:bodyPr wrap="square" lIns="45720" rIns="45720" tIns="18288" bIns="18288" anchor="ctr">
            <a:spAutoFit/>
          </a:bodyPr>
          <a:lstStyle/>
          <a:p>
            <a:pPr algn="ctr"/>
            <a:r>
              <a:rPr sz="1000" b="1" i="0">
                <a:solidFill>
                  <a:srgbClr val="1A2744"/>
                </a:solidFill>
                <a:latin typeface="Consolas"/>
              </a:rPr>
              <a:t>YES</a:t>
            </a:r>
          </a:p>
        </p:txBody>
      </p:sp>
      <p:sp>
        <p:nvSpPr>
          <p:cNvPr id="17" name="Rectangle 16"/>
          <p:cNvSpPr/>
          <p:nvPr/>
        </p:nvSpPr>
        <p:spPr>
          <a:xfrm>
            <a:off x="365760" y="4617720"/>
            <a:ext cx="2011680" cy="365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4617720"/>
            <a:ext cx="2011680" cy="365760"/>
          </a:xfrm>
          <a:prstGeom prst="rect">
            <a:avLst/>
          </a:prstGeom>
          <a:noFill/>
        </p:spPr>
        <p:txBody>
          <a:bodyPr wrap="square" lIns="45720" rIns="45720" tIns="18288" bIns="18288" anchor="ctr">
            <a:spAutoFit/>
          </a:bodyPr>
          <a:lstStyle/>
          <a:p>
            <a:pPr algn="ctr"/>
            <a:r>
              <a:rPr sz="1000" b="0" i="0">
                <a:solidFill>
                  <a:srgbClr val="1A1A1A"/>
                </a:solidFill>
                <a:latin typeface="Consolas"/>
              </a:rPr>
              <a:t>≤ Jun 3, 1977</a:t>
            </a:r>
          </a:p>
        </p:txBody>
      </p:sp>
      <p:sp>
        <p:nvSpPr>
          <p:cNvPr id="19" name="Rectangle 18"/>
          <p:cNvSpPr/>
          <p:nvPr/>
        </p:nvSpPr>
        <p:spPr>
          <a:xfrm>
            <a:off x="365760" y="5029200"/>
            <a:ext cx="2011680" cy="411480"/>
          </a:xfrm>
          <a:prstGeom prst="rect">
            <a:avLst/>
          </a:prstGeom>
          <a:solidFill>
            <a:srgbClr val="E5E7EB"/>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5029200"/>
            <a:ext cx="2011680" cy="411480"/>
          </a:xfrm>
          <a:prstGeom prst="rect">
            <a:avLst/>
          </a:prstGeom>
          <a:noFill/>
        </p:spPr>
        <p:txBody>
          <a:bodyPr wrap="square" lIns="45720" rIns="45720" tIns="18288" bIns="18288" anchor="ctr">
            <a:spAutoFit/>
          </a:bodyPr>
          <a:lstStyle/>
          <a:p>
            <a:pPr algn="ctr"/>
            <a:r>
              <a:rPr sz="1100" b="1" i="0">
                <a:solidFill>
                  <a:srgbClr val="374151"/>
                </a:solidFill>
                <a:latin typeface="Consolas"/>
              </a:rPr>
              <a:t>PROGRAM ACCESS</a:t>
            </a:r>
          </a:p>
        </p:txBody>
      </p:sp>
      <p:sp>
        <p:nvSpPr>
          <p:cNvPr id="21" name="Rectangle 20"/>
          <p:cNvSpPr/>
          <p:nvPr/>
        </p:nvSpPr>
        <p:spPr>
          <a:xfrm>
            <a:off x="2468880" y="4617720"/>
            <a:ext cx="2011680" cy="365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68880" y="4617720"/>
            <a:ext cx="2011680" cy="365760"/>
          </a:xfrm>
          <a:prstGeom prst="rect">
            <a:avLst/>
          </a:prstGeom>
          <a:noFill/>
        </p:spPr>
        <p:txBody>
          <a:bodyPr wrap="square" lIns="45720" rIns="45720" tIns="18288" bIns="18288" anchor="ctr">
            <a:spAutoFit/>
          </a:bodyPr>
          <a:lstStyle/>
          <a:p>
            <a:pPr algn="ctr"/>
            <a:r>
              <a:rPr sz="1000" b="0" i="0">
                <a:solidFill>
                  <a:srgbClr val="1A1A1A"/>
                </a:solidFill>
                <a:latin typeface="Consolas"/>
              </a:rPr>
              <a:t>Jun 4, 1977 – Jan 17, 1991</a:t>
            </a:r>
          </a:p>
        </p:txBody>
      </p:sp>
      <p:sp>
        <p:nvSpPr>
          <p:cNvPr id="23" name="Rectangle 22"/>
          <p:cNvSpPr/>
          <p:nvPr/>
        </p:nvSpPr>
        <p:spPr>
          <a:xfrm>
            <a:off x="2468880" y="5029200"/>
            <a:ext cx="2011680" cy="411480"/>
          </a:xfrm>
          <a:prstGeom prst="rect">
            <a:avLst/>
          </a:prstGeom>
          <a:solidFill>
            <a:srgbClr val="FEF9C3"/>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68880" y="5029200"/>
            <a:ext cx="2011680" cy="411480"/>
          </a:xfrm>
          <a:prstGeom prst="rect">
            <a:avLst/>
          </a:prstGeom>
          <a:noFill/>
        </p:spPr>
        <p:txBody>
          <a:bodyPr wrap="square" lIns="45720" rIns="45720" tIns="18288" bIns="18288" anchor="ctr">
            <a:spAutoFit/>
          </a:bodyPr>
          <a:lstStyle/>
          <a:p>
            <a:pPr algn="ctr"/>
            <a:r>
              <a:rPr sz="1100" b="1" i="0">
                <a:solidFill>
                  <a:srgbClr val="374151"/>
                </a:solidFill>
                <a:latin typeface="Consolas"/>
              </a:rPr>
              <a:t>ANSI A117.1</a:t>
            </a:r>
          </a:p>
        </p:txBody>
      </p:sp>
      <p:sp>
        <p:nvSpPr>
          <p:cNvPr id="25" name="Rectangle 24"/>
          <p:cNvSpPr/>
          <p:nvPr/>
        </p:nvSpPr>
        <p:spPr>
          <a:xfrm>
            <a:off x="4572000" y="4617720"/>
            <a:ext cx="2011680" cy="365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4617720"/>
            <a:ext cx="2011680" cy="365760"/>
          </a:xfrm>
          <a:prstGeom prst="rect">
            <a:avLst/>
          </a:prstGeom>
          <a:noFill/>
        </p:spPr>
        <p:txBody>
          <a:bodyPr wrap="square" lIns="45720" rIns="45720" tIns="18288" bIns="18288" anchor="ctr">
            <a:spAutoFit/>
          </a:bodyPr>
          <a:lstStyle/>
          <a:p>
            <a:pPr algn="ctr"/>
            <a:r>
              <a:rPr sz="1000" b="0" i="0">
                <a:solidFill>
                  <a:srgbClr val="1A1A1A"/>
                </a:solidFill>
                <a:latin typeface="Consolas"/>
              </a:rPr>
              <a:t>Jan 18 – Jan 26, 1992</a:t>
            </a:r>
          </a:p>
        </p:txBody>
      </p:sp>
      <p:sp>
        <p:nvSpPr>
          <p:cNvPr id="27" name="Rectangle 26"/>
          <p:cNvSpPr/>
          <p:nvPr/>
        </p:nvSpPr>
        <p:spPr>
          <a:xfrm>
            <a:off x="4572000" y="5029200"/>
            <a:ext cx="2011680" cy="411480"/>
          </a:xfrm>
          <a:prstGeom prst="rect">
            <a:avLst/>
          </a:prstGeom>
          <a:solidFill>
            <a:srgbClr val="DBEAF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5029200"/>
            <a:ext cx="2011680" cy="411480"/>
          </a:xfrm>
          <a:prstGeom prst="rect">
            <a:avLst/>
          </a:prstGeom>
          <a:noFill/>
        </p:spPr>
        <p:txBody>
          <a:bodyPr wrap="square" lIns="45720" rIns="45720" tIns="18288" bIns="18288" anchor="ctr">
            <a:spAutoFit/>
          </a:bodyPr>
          <a:lstStyle/>
          <a:p>
            <a:pPr algn="ctr"/>
            <a:r>
              <a:rPr sz="1100" b="1" i="0">
                <a:solidFill>
                  <a:srgbClr val="374151"/>
                </a:solidFill>
                <a:latin typeface="Consolas"/>
              </a:rPr>
              <a:t>UFAS</a:t>
            </a:r>
          </a:p>
        </p:txBody>
      </p:sp>
      <p:sp>
        <p:nvSpPr>
          <p:cNvPr id="29" name="Rectangle 28"/>
          <p:cNvSpPr/>
          <p:nvPr/>
        </p:nvSpPr>
        <p:spPr>
          <a:xfrm>
            <a:off x="6675120" y="4617720"/>
            <a:ext cx="2011680" cy="365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0" y="4617720"/>
            <a:ext cx="2011680" cy="365760"/>
          </a:xfrm>
          <a:prstGeom prst="rect">
            <a:avLst/>
          </a:prstGeom>
          <a:noFill/>
        </p:spPr>
        <p:txBody>
          <a:bodyPr wrap="square" lIns="45720" rIns="45720" tIns="18288" bIns="18288" anchor="ctr">
            <a:spAutoFit/>
          </a:bodyPr>
          <a:lstStyle/>
          <a:p>
            <a:pPr algn="ctr"/>
            <a:r>
              <a:rPr sz="1000" b="0" i="0">
                <a:solidFill>
                  <a:srgbClr val="1A1A1A"/>
                </a:solidFill>
                <a:latin typeface="Consolas"/>
              </a:rPr>
              <a:t>Jan 27, 1992 – Sep 14, 2010</a:t>
            </a:r>
          </a:p>
        </p:txBody>
      </p:sp>
      <p:sp>
        <p:nvSpPr>
          <p:cNvPr id="31" name="Rectangle 30"/>
          <p:cNvSpPr/>
          <p:nvPr/>
        </p:nvSpPr>
        <p:spPr>
          <a:xfrm>
            <a:off x="6675120" y="5029200"/>
            <a:ext cx="2011680" cy="411480"/>
          </a:xfrm>
          <a:prstGeom prst="rect">
            <a:avLst/>
          </a:prstGeom>
          <a:solidFill>
            <a:srgbClr val="D1FAE5"/>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75120" y="5029200"/>
            <a:ext cx="2011680" cy="411480"/>
          </a:xfrm>
          <a:prstGeom prst="rect">
            <a:avLst/>
          </a:prstGeom>
          <a:noFill/>
        </p:spPr>
        <p:txBody>
          <a:bodyPr wrap="square" lIns="45720" rIns="45720" tIns="18288" bIns="18288" anchor="ctr">
            <a:spAutoFit/>
          </a:bodyPr>
          <a:lstStyle/>
          <a:p>
            <a:pPr algn="ctr"/>
            <a:r>
              <a:rPr sz="1100" b="1" i="0">
                <a:solidFill>
                  <a:srgbClr val="374151"/>
                </a:solidFill>
                <a:latin typeface="Consolas"/>
              </a:rPr>
              <a:t>1991 ADA</a:t>
            </a:r>
          </a:p>
        </p:txBody>
      </p:sp>
      <p:sp>
        <p:nvSpPr>
          <p:cNvPr id="33" name="Rectangle 32"/>
          <p:cNvSpPr/>
          <p:nvPr/>
        </p:nvSpPr>
        <p:spPr>
          <a:xfrm>
            <a:off x="8778240" y="4617720"/>
            <a:ext cx="2011680" cy="365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0" y="4617720"/>
            <a:ext cx="2011680" cy="365760"/>
          </a:xfrm>
          <a:prstGeom prst="rect">
            <a:avLst/>
          </a:prstGeom>
          <a:noFill/>
        </p:spPr>
        <p:txBody>
          <a:bodyPr wrap="square" lIns="45720" rIns="45720" tIns="18288" bIns="18288" anchor="ctr">
            <a:spAutoFit/>
          </a:bodyPr>
          <a:lstStyle/>
          <a:p>
            <a:pPr algn="ctr"/>
            <a:r>
              <a:rPr sz="1000" b="0" i="0">
                <a:solidFill>
                  <a:srgbClr val="1A1A1A"/>
                </a:solidFill>
                <a:latin typeface="Consolas"/>
              </a:rPr>
              <a:t>Sep 15, 2010 – Mar 14, 2012</a:t>
            </a:r>
          </a:p>
        </p:txBody>
      </p:sp>
      <p:sp>
        <p:nvSpPr>
          <p:cNvPr id="35" name="Rectangle 34"/>
          <p:cNvSpPr/>
          <p:nvPr/>
        </p:nvSpPr>
        <p:spPr>
          <a:xfrm>
            <a:off x="8778240" y="5029200"/>
            <a:ext cx="2011680" cy="411480"/>
          </a:xfrm>
          <a:prstGeom prst="rect">
            <a:avLst/>
          </a:prstGeom>
          <a:solidFill>
            <a:srgbClr val="FEE2E2"/>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78240" y="5029200"/>
            <a:ext cx="2011680" cy="411480"/>
          </a:xfrm>
          <a:prstGeom prst="rect">
            <a:avLst/>
          </a:prstGeom>
          <a:noFill/>
        </p:spPr>
        <p:txBody>
          <a:bodyPr wrap="square" lIns="45720" rIns="45720" tIns="18288" bIns="18288" anchor="ctr">
            <a:spAutoFit/>
          </a:bodyPr>
          <a:lstStyle/>
          <a:p>
            <a:pPr algn="ctr"/>
            <a:r>
              <a:rPr sz="1100" b="1" i="0">
                <a:solidFill>
                  <a:srgbClr val="374151"/>
                </a:solidFill>
                <a:latin typeface="Consolas"/>
              </a:rPr>
              <a:t>1991 or 2010 ADA</a:t>
            </a:r>
          </a:p>
        </p:txBody>
      </p:sp>
      <p:sp>
        <p:nvSpPr>
          <p:cNvPr id="37" name="Rectangle 36"/>
          <p:cNvSpPr/>
          <p:nvPr/>
        </p:nvSpPr>
        <p:spPr>
          <a:xfrm>
            <a:off x="10881360" y="4617720"/>
            <a:ext cx="2011680" cy="365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81360" y="4617720"/>
            <a:ext cx="2011680" cy="365760"/>
          </a:xfrm>
          <a:prstGeom prst="rect">
            <a:avLst/>
          </a:prstGeom>
          <a:noFill/>
        </p:spPr>
        <p:txBody>
          <a:bodyPr wrap="square" lIns="45720" rIns="45720" tIns="18288" bIns="18288" anchor="ctr">
            <a:spAutoFit/>
          </a:bodyPr>
          <a:lstStyle/>
          <a:p>
            <a:pPr algn="ctr"/>
            <a:r>
              <a:rPr sz="1000" b="0" i="0">
                <a:solidFill>
                  <a:srgbClr val="1A1A1A"/>
                </a:solidFill>
                <a:latin typeface="Consolas"/>
              </a:rPr>
              <a:t>≥ Mar 15, 2012</a:t>
            </a:r>
          </a:p>
        </p:txBody>
      </p:sp>
      <p:sp>
        <p:nvSpPr>
          <p:cNvPr id="39" name="Rectangle 38"/>
          <p:cNvSpPr/>
          <p:nvPr/>
        </p:nvSpPr>
        <p:spPr>
          <a:xfrm>
            <a:off x="10881360" y="5029200"/>
            <a:ext cx="2011680" cy="411480"/>
          </a:xfrm>
          <a:prstGeom prst="rect">
            <a:avLst/>
          </a:prstGeom>
          <a:solidFill>
            <a:srgbClr val="FEE2E2"/>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881360" y="5029200"/>
            <a:ext cx="2011680" cy="411480"/>
          </a:xfrm>
          <a:prstGeom prst="rect">
            <a:avLst/>
          </a:prstGeom>
          <a:noFill/>
        </p:spPr>
        <p:txBody>
          <a:bodyPr wrap="square" lIns="45720" rIns="45720" tIns="18288" bIns="18288" anchor="ctr">
            <a:spAutoFit/>
          </a:bodyPr>
          <a:lstStyle/>
          <a:p>
            <a:pPr algn="ctr"/>
            <a:r>
              <a:rPr sz="1100" b="1" i="0">
                <a:solidFill>
                  <a:srgbClr val="374151"/>
                </a:solidFill>
                <a:latin typeface="Consolas"/>
              </a:rPr>
              <a:t>2010 ADA</a:t>
            </a:r>
          </a:p>
        </p:txBody>
      </p:sp>
      <p:sp>
        <p:nvSpPr>
          <p:cNvPr id="41" name="Rectangle 40"/>
          <p:cNvSpPr/>
          <p:nvPr/>
        </p:nvSpPr>
        <p:spPr>
          <a:xfrm>
            <a:off x="502920" y="5943600"/>
            <a:ext cx="11247120" cy="502920"/>
          </a:xfrm>
          <a:prstGeom prst="rect">
            <a:avLst/>
          </a:prstGeom>
          <a:solidFill>
            <a:srgbClr val="E8D08A"/>
          </a:solidFill>
          <a:ln w="9525">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5943600"/>
            <a:ext cx="11247120" cy="502920"/>
          </a:xfrm>
          <a:prstGeom prst="rect">
            <a:avLst/>
          </a:prstGeom>
          <a:noFill/>
        </p:spPr>
        <p:txBody>
          <a:bodyPr wrap="square" lIns="45720" rIns="45720" tIns="18288" bIns="18288" anchor="ctr">
            <a:spAutoFit/>
          </a:bodyPr>
          <a:lstStyle/>
          <a:p>
            <a:pPr algn="ctr"/>
            <a:r>
              <a:rPr sz="1300" b="1" i="0">
                <a:solidFill>
                  <a:srgbClr val="1A2744"/>
                </a:solidFill>
                <a:latin typeface="Calibri"/>
              </a:rPr>
              <a:t>Reviewer rule: If construction date is missing or disputed, request DSA-approved blueprints before issuing any finding.</a:t>
            </a:r>
          </a:p>
        </p:txBody>
      </p:sp>
      <p:sp>
        <p:nvSpPr>
          <p:cNvPr id="43" name="TextBox 42"/>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44" name="TextBox 43"/>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13 / 63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14 · DECISION TREE</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The six date windows — visualized</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300" b="0" i="1">
                <a:solidFill>
                  <a:srgbClr val="6B6659"/>
                </a:solidFill>
                <a:latin typeface="Calibri"/>
              </a:rPr>
              <a:t>Read left to right. Every facility falls into exactly one band based on its construction or last-alteration date.</a:t>
            </a:r>
          </a:p>
        </p:txBody>
      </p:sp>
      <p:sp>
        <p:nvSpPr>
          <p:cNvPr id="10" name="Rectangle 9"/>
          <p:cNvSpPr/>
          <p:nvPr/>
        </p:nvSpPr>
        <p:spPr>
          <a:xfrm>
            <a:off x="502920" y="2880360"/>
            <a:ext cx="11247120" cy="36576"/>
          </a:xfrm>
          <a:prstGeom prst="rect">
            <a:avLst/>
          </a:prstGeom>
          <a:solidFill>
            <a:srgbClr val="6B6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761488"/>
            <a:ext cx="13716" cy="118872"/>
          </a:xfrm>
          <a:prstGeom prst="rect">
            <a:avLst/>
          </a:prstGeom>
          <a:solidFill>
            <a:srgbClr val="6B6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2578608"/>
            <a:ext cx="548640" cy="228600"/>
          </a:xfrm>
          <a:prstGeom prst="rect">
            <a:avLst/>
          </a:prstGeom>
          <a:noFill/>
        </p:spPr>
        <p:txBody>
          <a:bodyPr wrap="square" lIns="45720" rIns="45720" tIns="18288" bIns="18288" anchor="t">
            <a:spAutoFit/>
          </a:bodyPr>
          <a:lstStyle/>
          <a:p>
            <a:pPr algn="ctr"/>
            <a:r>
              <a:rPr sz="900" b="0" i="0">
                <a:solidFill>
                  <a:srgbClr val="6B6659"/>
                </a:solidFill>
                <a:latin typeface="Consolas"/>
              </a:rPr>
              <a:t>1955</a:t>
            </a:r>
          </a:p>
        </p:txBody>
      </p:sp>
      <p:sp>
        <p:nvSpPr>
          <p:cNvPr id="13" name="Rectangle 12"/>
          <p:cNvSpPr/>
          <p:nvPr/>
        </p:nvSpPr>
        <p:spPr>
          <a:xfrm>
            <a:off x="3539642" y="2761488"/>
            <a:ext cx="13716" cy="118872"/>
          </a:xfrm>
          <a:prstGeom prst="rect">
            <a:avLst/>
          </a:prstGeom>
          <a:solidFill>
            <a:srgbClr val="6B6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65322" y="2578608"/>
            <a:ext cx="548640" cy="228600"/>
          </a:xfrm>
          <a:prstGeom prst="rect">
            <a:avLst/>
          </a:prstGeom>
          <a:noFill/>
        </p:spPr>
        <p:txBody>
          <a:bodyPr wrap="square" lIns="45720" rIns="45720" tIns="18288" bIns="18288" anchor="t">
            <a:spAutoFit/>
          </a:bodyPr>
          <a:lstStyle/>
          <a:p>
            <a:pPr algn="ctr"/>
            <a:r>
              <a:rPr sz="900" b="0" i="0">
                <a:solidFill>
                  <a:srgbClr val="6B6659"/>
                </a:solidFill>
                <a:latin typeface="Consolas"/>
              </a:rPr>
              <a:t>1977</a:t>
            </a:r>
          </a:p>
        </p:txBody>
      </p:sp>
      <p:sp>
        <p:nvSpPr>
          <p:cNvPr id="15" name="Rectangle 14"/>
          <p:cNvSpPr/>
          <p:nvPr/>
        </p:nvSpPr>
        <p:spPr>
          <a:xfrm>
            <a:off x="5564124" y="2761488"/>
            <a:ext cx="13716" cy="118872"/>
          </a:xfrm>
          <a:prstGeom prst="rect">
            <a:avLst/>
          </a:prstGeom>
          <a:solidFill>
            <a:srgbClr val="6B6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89804" y="2578608"/>
            <a:ext cx="548640" cy="228600"/>
          </a:xfrm>
          <a:prstGeom prst="rect">
            <a:avLst/>
          </a:prstGeom>
          <a:noFill/>
        </p:spPr>
        <p:txBody>
          <a:bodyPr wrap="square" lIns="45720" rIns="45720" tIns="18288" bIns="18288" anchor="t">
            <a:spAutoFit/>
          </a:bodyPr>
          <a:lstStyle/>
          <a:p>
            <a:pPr algn="ctr"/>
            <a:r>
              <a:rPr sz="900" b="0" i="0">
                <a:solidFill>
                  <a:srgbClr val="6B6659"/>
                </a:solidFill>
                <a:latin typeface="Consolas"/>
              </a:rPr>
              <a:t>1991</a:t>
            </a:r>
          </a:p>
        </p:txBody>
      </p:sp>
      <p:sp>
        <p:nvSpPr>
          <p:cNvPr id="17" name="Rectangle 16"/>
          <p:cNvSpPr/>
          <p:nvPr/>
        </p:nvSpPr>
        <p:spPr>
          <a:xfrm>
            <a:off x="5789066" y="2761488"/>
            <a:ext cx="13716" cy="118872"/>
          </a:xfrm>
          <a:prstGeom prst="rect">
            <a:avLst/>
          </a:prstGeom>
          <a:solidFill>
            <a:srgbClr val="6B6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14746" y="2578608"/>
            <a:ext cx="548640" cy="228600"/>
          </a:xfrm>
          <a:prstGeom prst="rect">
            <a:avLst/>
          </a:prstGeom>
          <a:noFill/>
        </p:spPr>
        <p:txBody>
          <a:bodyPr wrap="square" lIns="45720" rIns="45720" tIns="18288" bIns="18288" anchor="t">
            <a:spAutoFit/>
          </a:bodyPr>
          <a:lstStyle/>
          <a:p>
            <a:pPr algn="ctr"/>
            <a:r>
              <a:rPr sz="900" b="0" i="0">
                <a:solidFill>
                  <a:srgbClr val="6B6659"/>
                </a:solidFill>
                <a:latin typeface="Consolas"/>
              </a:rPr>
              <a:t>1992</a:t>
            </a:r>
          </a:p>
        </p:txBody>
      </p:sp>
      <p:sp>
        <p:nvSpPr>
          <p:cNvPr id="19" name="Rectangle 18"/>
          <p:cNvSpPr/>
          <p:nvPr/>
        </p:nvSpPr>
        <p:spPr>
          <a:xfrm>
            <a:off x="8038490" y="2761488"/>
            <a:ext cx="13716" cy="118872"/>
          </a:xfrm>
          <a:prstGeom prst="rect">
            <a:avLst/>
          </a:prstGeom>
          <a:solidFill>
            <a:srgbClr val="6B6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64170" y="2578608"/>
            <a:ext cx="548640" cy="228600"/>
          </a:xfrm>
          <a:prstGeom prst="rect">
            <a:avLst/>
          </a:prstGeom>
          <a:noFill/>
        </p:spPr>
        <p:txBody>
          <a:bodyPr wrap="square" lIns="45720" rIns="45720" tIns="18288" bIns="18288" anchor="t">
            <a:spAutoFit/>
          </a:bodyPr>
          <a:lstStyle/>
          <a:p>
            <a:pPr algn="ctr"/>
            <a:r>
              <a:rPr sz="900" b="0" i="0">
                <a:solidFill>
                  <a:srgbClr val="6B6659"/>
                </a:solidFill>
                <a:latin typeface="Consolas"/>
              </a:rPr>
              <a:t>2010</a:t>
            </a:r>
          </a:p>
        </p:txBody>
      </p:sp>
      <p:sp>
        <p:nvSpPr>
          <p:cNvPr id="21" name="Rectangle 20"/>
          <p:cNvSpPr/>
          <p:nvPr/>
        </p:nvSpPr>
        <p:spPr>
          <a:xfrm>
            <a:off x="8600846" y="2761488"/>
            <a:ext cx="13716" cy="118872"/>
          </a:xfrm>
          <a:prstGeom prst="rect">
            <a:avLst/>
          </a:prstGeom>
          <a:solidFill>
            <a:srgbClr val="6B6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6526" y="2578608"/>
            <a:ext cx="548640" cy="228600"/>
          </a:xfrm>
          <a:prstGeom prst="rect">
            <a:avLst/>
          </a:prstGeom>
          <a:noFill/>
        </p:spPr>
        <p:txBody>
          <a:bodyPr wrap="square" lIns="45720" rIns="45720" tIns="18288" bIns="18288" anchor="t">
            <a:spAutoFit/>
          </a:bodyPr>
          <a:lstStyle/>
          <a:p>
            <a:pPr algn="ctr"/>
            <a:r>
              <a:rPr sz="900" b="0" i="0">
                <a:solidFill>
                  <a:srgbClr val="6B6659"/>
                </a:solidFill>
                <a:latin typeface="Consolas"/>
              </a:rPr>
              <a:t>2012</a:t>
            </a:r>
          </a:p>
        </p:txBody>
      </p:sp>
      <p:sp>
        <p:nvSpPr>
          <p:cNvPr id="23" name="Rectangle 22"/>
          <p:cNvSpPr/>
          <p:nvPr/>
        </p:nvSpPr>
        <p:spPr>
          <a:xfrm>
            <a:off x="11750040" y="2761488"/>
            <a:ext cx="13716" cy="118872"/>
          </a:xfrm>
          <a:prstGeom prst="rect">
            <a:avLst/>
          </a:prstGeom>
          <a:solidFill>
            <a:srgbClr val="6B6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75720" y="2578608"/>
            <a:ext cx="548640" cy="228600"/>
          </a:xfrm>
          <a:prstGeom prst="rect">
            <a:avLst/>
          </a:prstGeom>
          <a:noFill/>
        </p:spPr>
        <p:txBody>
          <a:bodyPr wrap="square" lIns="45720" rIns="45720" tIns="18288" bIns="18288" anchor="t">
            <a:spAutoFit/>
          </a:bodyPr>
          <a:lstStyle/>
          <a:p>
            <a:pPr algn="ctr"/>
            <a:r>
              <a:rPr sz="900" b="0" i="0">
                <a:solidFill>
                  <a:srgbClr val="6B6659"/>
                </a:solidFill>
                <a:latin typeface="Consolas"/>
              </a:rPr>
              <a:t>2026</a:t>
            </a:r>
          </a:p>
        </p:txBody>
      </p:sp>
      <p:sp>
        <p:nvSpPr>
          <p:cNvPr id="25" name="Rectangle 24"/>
          <p:cNvSpPr/>
          <p:nvPr/>
        </p:nvSpPr>
        <p:spPr>
          <a:xfrm>
            <a:off x="502920" y="2926080"/>
            <a:ext cx="3036722" cy="822960"/>
          </a:xfrm>
          <a:prstGeom prst="rect">
            <a:avLst/>
          </a:prstGeom>
          <a:solidFill>
            <a:srgbClr val="E5E7EB"/>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2926080"/>
            <a:ext cx="3036722" cy="822960"/>
          </a:xfrm>
          <a:prstGeom prst="rect">
            <a:avLst/>
          </a:prstGeom>
          <a:noFill/>
        </p:spPr>
        <p:txBody>
          <a:bodyPr wrap="square" lIns="45720" rIns="45720" tIns="18288" bIns="18288" anchor="ctr">
            <a:spAutoFit/>
          </a:bodyPr>
          <a:lstStyle/>
          <a:p>
            <a:pPr algn="ctr"/>
            <a:r>
              <a:rPr sz="1100" b="1" i="0">
                <a:solidFill>
                  <a:srgbClr val="374151"/>
                </a:solidFill>
                <a:latin typeface="Calibri"/>
              </a:rPr>
              <a:t>Program</a:t>
            </a:r>
          </a:p>
          <a:p>
            <a:pPr algn="ctr"/>
            <a:r>
              <a:rPr sz="1100" b="1" i="0">
                <a:solidFill>
                  <a:srgbClr val="374151"/>
                </a:solidFill>
                <a:latin typeface="Calibri"/>
              </a:rPr>
              <a:t>Access</a:t>
            </a:r>
          </a:p>
        </p:txBody>
      </p:sp>
      <p:sp>
        <p:nvSpPr>
          <p:cNvPr id="27" name="TextBox 26"/>
          <p:cNvSpPr txBox="1"/>
          <p:nvPr/>
        </p:nvSpPr>
        <p:spPr>
          <a:xfrm>
            <a:off x="502920" y="3794760"/>
            <a:ext cx="3036722" cy="274320"/>
          </a:xfrm>
          <a:prstGeom prst="rect">
            <a:avLst/>
          </a:prstGeom>
          <a:noFill/>
        </p:spPr>
        <p:txBody>
          <a:bodyPr wrap="square" lIns="45720" rIns="45720" tIns="18288" bIns="18288" anchor="t">
            <a:spAutoFit/>
          </a:bodyPr>
          <a:lstStyle/>
          <a:p>
            <a:pPr algn="ctr"/>
            <a:r>
              <a:rPr sz="900" b="0" i="0">
                <a:solidFill>
                  <a:srgbClr val="6B6659"/>
                </a:solidFill>
                <a:latin typeface="Consolas"/>
              </a:rPr>
              <a:t>≤ Jun 3, 1977</a:t>
            </a:r>
          </a:p>
        </p:txBody>
      </p:sp>
      <p:sp>
        <p:nvSpPr>
          <p:cNvPr id="28" name="Rectangle 27"/>
          <p:cNvSpPr/>
          <p:nvPr/>
        </p:nvSpPr>
        <p:spPr>
          <a:xfrm>
            <a:off x="3539642" y="2926080"/>
            <a:ext cx="2024481" cy="822960"/>
          </a:xfrm>
          <a:prstGeom prst="rect">
            <a:avLst/>
          </a:prstGeom>
          <a:solidFill>
            <a:srgbClr val="FEF9C3"/>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39642" y="2926080"/>
            <a:ext cx="2024481" cy="822960"/>
          </a:xfrm>
          <a:prstGeom prst="rect">
            <a:avLst/>
          </a:prstGeom>
          <a:noFill/>
        </p:spPr>
        <p:txBody>
          <a:bodyPr wrap="square" lIns="45720" rIns="45720" tIns="18288" bIns="18288" anchor="ctr">
            <a:spAutoFit/>
          </a:bodyPr>
          <a:lstStyle/>
          <a:p>
            <a:pPr algn="ctr"/>
            <a:r>
              <a:rPr sz="1100" b="1" i="0">
                <a:solidFill>
                  <a:srgbClr val="713F12"/>
                </a:solidFill>
                <a:latin typeface="Calibri"/>
              </a:rPr>
              <a:t>ANSI A117.1</a:t>
            </a:r>
          </a:p>
        </p:txBody>
      </p:sp>
      <p:sp>
        <p:nvSpPr>
          <p:cNvPr id="30" name="TextBox 29"/>
          <p:cNvSpPr txBox="1"/>
          <p:nvPr/>
        </p:nvSpPr>
        <p:spPr>
          <a:xfrm>
            <a:off x="3539642" y="3794760"/>
            <a:ext cx="2024481" cy="274320"/>
          </a:xfrm>
          <a:prstGeom prst="rect">
            <a:avLst/>
          </a:prstGeom>
          <a:noFill/>
        </p:spPr>
        <p:txBody>
          <a:bodyPr wrap="square" lIns="45720" rIns="45720" tIns="18288" bIns="18288" anchor="t">
            <a:spAutoFit/>
          </a:bodyPr>
          <a:lstStyle/>
          <a:p>
            <a:pPr algn="ctr"/>
            <a:r>
              <a:rPr sz="900" b="0" i="0">
                <a:solidFill>
                  <a:srgbClr val="6B6659"/>
                </a:solidFill>
                <a:latin typeface="Consolas"/>
              </a:rPr>
              <a:t>Jun 4, '77 – Jan 17, '91</a:t>
            </a:r>
          </a:p>
        </p:txBody>
      </p:sp>
      <p:sp>
        <p:nvSpPr>
          <p:cNvPr id="31" name="Rectangle 30"/>
          <p:cNvSpPr/>
          <p:nvPr/>
        </p:nvSpPr>
        <p:spPr>
          <a:xfrm>
            <a:off x="5564124" y="2926080"/>
            <a:ext cx="224942" cy="822960"/>
          </a:xfrm>
          <a:prstGeom prst="rect">
            <a:avLst/>
          </a:prstGeom>
          <a:solidFill>
            <a:srgbClr val="DBEAF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64124" y="2926080"/>
            <a:ext cx="224942" cy="822960"/>
          </a:xfrm>
          <a:prstGeom prst="rect">
            <a:avLst/>
          </a:prstGeom>
          <a:noFill/>
        </p:spPr>
        <p:txBody>
          <a:bodyPr wrap="square" lIns="45720" rIns="45720" tIns="18288" bIns="18288" anchor="ctr">
            <a:spAutoFit/>
          </a:bodyPr>
          <a:lstStyle/>
          <a:p>
            <a:pPr algn="ctr"/>
            <a:r>
              <a:rPr sz="1100" b="1" i="0">
                <a:solidFill>
                  <a:srgbClr val="1E3A8A"/>
                </a:solidFill>
                <a:latin typeface="Calibri"/>
              </a:rPr>
              <a:t>UFAS</a:t>
            </a:r>
          </a:p>
        </p:txBody>
      </p:sp>
      <p:sp>
        <p:nvSpPr>
          <p:cNvPr id="33" name="TextBox 32"/>
          <p:cNvSpPr txBox="1"/>
          <p:nvPr/>
        </p:nvSpPr>
        <p:spPr>
          <a:xfrm>
            <a:off x="5564124" y="3794760"/>
            <a:ext cx="224942" cy="274320"/>
          </a:xfrm>
          <a:prstGeom prst="rect">
            <a:avLst/>
          </a:prstGeom>
          <a:noFill/>
        </p:spPr>
        <p:txBody>
          <a:bodyPr wrap="square" lIns="45720" rIns="45720" tIns="18288" bIns="18288" anchor="t">
            <a:spAutoFit/>
          </a:bodyPr>
          <a:lstStyle/>
          <a:p>
            <a:pPr algn="ctr"/>
            <a:r>
              <a:rPr sz="900" b="0" i="0">
                <a:solidFill>
                  <a:srgbClr val="6B6659"/>
                </a:solidFill>
                <a:latin typeface="Consolas"/>
              </a:rPr>
              <a:t>Jan 18 – Jan 26, '92</a:t>
            </a:r>
          </a:p>
        </p:txBody>
      </p:sp>
      <p:sp>
        <p:nvSpPr>
          <p:cNvPr id="34" name="Rectangle 33"/>
          <p:cNvSpPr/>
          <p:nvPr/>
        </p:nvSpPr>
        <p:spPr>
          <a:xfrm>
            <a:off x="5789066" y="2926080"/>
            <a:ext cx="2249424" cy="822960"/>
          </a:xfrm>
          <a:prstGeom prst="rect">
            <a:avLst/>
          </a:prstGeom>
          <a:solidFill>
            <a:srgbClr val="D1FAE5"/>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789066" y="2926080"/>
            <a:ext cx="2249424" cy="822960"/>
          </a:xfrm>
          <a:prstGeom prst="rect">
            <a:avLst/>
          </a:prstGeom>
          <a:noFill/>
        </p:spPr>
        <p:txBody>
          <a:bodyPr wrap="square" lIns="45720" rIns="45720" tIns="18288" bIns="18288" anchor="ctr">
            <a:spAutoFit/>
          </a:bodyPr>
          <a:lstStyle/>
          <a:p>
            <a:pPr algn="ctr"/>
            <a:r>
              <a:rPr sz="1100" b="1" i="0">
                <a:solidFill>
                  <a:srgbClr val="064E3B"/>
                </a:solidFill>
                <a:latin typeface="Calibri"/>
              </a:rPr>
              <a:t>1991 ADA / ADAAG</a:t>
            </a:r>
          </a:p>
        </p:txBody>
      </p:sp>
      <p:sp>
        <p:nvSpPr>
          <p:cNvPr id="36" name="TextBox 35"/>
          <p:cNvSpPr txBox="1"/>
          <p:nvPr/>
        </p:nvSpPr>
        <p:spPr>
          <a:xfrm>
            <a:off x="5789066" y="3794760"/>
            <a:ext cx="2249424" cy="274320"/>
          </a:xfrm>
          <a:prstGeom prst="rect">
            <a:avLst/>
          </a:prstGeom>
          <a:noFill/>
        </p:spPr>
        <p:txBody>
          <a:bodyPr wrap="square" lIns="45720" rIns="45720" tIns="18288" bIns="18288" anchor="t">
            <a:spAutoFit/>
          </a:bodyPr>
          <a:lstStyle/>
          <a:p>
            <a:pPr algn="ctr"/>
            <a:r>
              <a:rPr sz="900" b="0" i="0">
                <a:solidFill>
                  <a:srgbClr val="6B6659"/>
                </a:solidFill>
                <a:latin typeface="Consolas"/>
              </a:rPr>
              <a:t>Jan 27, '92 – Sep 14, 2010</a:t>
            </a:r>
          </a:p>
        </p:txBody>
      </p:sp>
      <p:sp>
        <p:nvSpPr>
          <p:cNvPr id="37" name="Rectangle 36"/>
          <p:cNvSpPr/>
          <p:nvPr/>
        </p:nvSpPr>
        <p:spPr>
          <a:xfrm>
            <a:off x="8038490" y="2926080"/>
            <a:ext cx="562356" cy="822960"/>
          </a:xfrm>
          <a:prstGeom prst="rect">
            <a:avLst/>
          </a:prstGeom>
          <a:solidFill>
            <a:srgbClr val="FEE2E2"/>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38490" y="2926080"/>
            <a:ext cx="562356" cy="822960"/>
          </a:xfrm>
          <a:prstGeom prst="rect">
            <a:avLst/>
          </a:prstGeom>
          <a:noFill/>
        </p:spPr>
        <p:txBody>
          <a:bodyPr wrap="square" lIns="45720" rIns="45720" tIns="18288" bIns="18288" anchor="ctr">
            <a:spAutoFit/>
          </a:bodyPr>
          <a:lstStyle/>
          <a:p>
            <a:pPr algn="ctr"/>
            <a:r>
              <a:rPr sz="1100" b="1" i="0">
                <a:solidFill>
                  <a:srgbClr val="7F1D1D"/>
                </a:solidFill>
                <a:latin typeface="Calibri"/>
              </a:rPr>
              <a:t>Overlap</a:t>
            </a:r>
          </a:p>
          <a:p>
            <a:pPr algn="ctr"/>
            <a:r>
              <a:rPr sz="1100" b="1" i="0">
                <a:solidFill>
                  <a:srgbClr val="7F1D1D"/>
                </a:solidFill>
                <a:latin typeface="Calibri"/>
              </a:rPr>
              <a:t>('91 or '10)</a:t>
            </a:r>
          </a:p>
        </p:txBody>
      </p:sp>
      <p:sp>
        <p:nvSpPr>
          <p:cNvPr id="39" name="TextBox 38"/>
          <p:cNvSpPr txBox="1"/>
          <p:nvPr/>
        </p:nvSpPr>
        <p:spPr>
          <a:xfrm>
            <a:off x="8038490" y="3794760"/>
            <a:ext cx="562356" cy="274320"/>
          </a:xfrm>
          <a:prstGeom prst="rect">
            <a:avLst/>
          </a:prstGeom>
          <a:noFill/>
        </p:spPr>
        <p:txBody>
          <a:bodyPr wrap="square" lIns="45720" rIns="45720" tIns="18288" bIns="18288" anchor="t">
            <a:spAutoFit/>
          </a:bodyPr>
          <a:lstStyle/>
          <a:p>
            <a:pPr algn="ctr"/>
            <a:r>
              <a:rPr sz="900" b="0" i="0">
                <a:solidFill>
                  <a:srgbClr val="6B6659"/>
                </a:solidFill>
                <a:latin typeface="Consolas"/>
              </a:rPr>
              <a:t>Sep 15, '10 – Mar 14, '12</a:t>
            </a:r>
          </a:p>
        </p:txBody>
      </p:sp>
      <p:sp>
        <p:nvSpPr>
          <p:cNvPr id="40" name="Rectangle 39"/>
          <p:cNvSpPr/>
          <p:nvPr/>
        </p:nvSpPr>
        <p:spPr>
          <a:xfrm>
            <a:off x="8600846" y="2926080"/>
            <a:ext cx="3149193" cy="822960"/>
          </a:xfrm>
          <a:prstGeom prst="rect">
            <a:avLst/>
          </a:prstGeom>
          <a:solidFill>
            <a:srgbClr val="FEE2E2"/>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0846" y="2926080"/>
            <a:ext cx="3149193" cy="822960"/>
          </a:xfrm>
          <a:prstGeom prst="rect">
            <a:avLst/>
          </a:prstGeom>
          <a:noFill/>
        </p:spPr>
        <p:txBody>
          <a:bodyPr wrap="square" lIns="45720" rIns="45720" tIns="18288" bIns="18288" anchor="ctr">
            <a:spAutoFit/>
          </a:bodyPr>
          <a:lstStyle/>
          <a:p>
            <a:pPr algn="ctr"/>
            <a:r>
              <a:rPr sz="1100" b="1" i="0">
                <a:solidFill>
                  <a:srgbClr val="7F1D1D"/>
                </a:solidFill>
                <a:latin typeface="Calibri"/>
              </a:rPr>
              <a:t>2010 ADA</a:t>
            </a:r>
          </a:p>
        </p:txBody>
      </p:sp>
      <p:sp>
        <p:nvSpPr>
          <p:cNvPr id="42" name="TextBox 41"/>
          <p:cNvSpPr txBox="1"/>
          <p:nvPr/>
        </p:nvSpPr>
        <p:spPr>
          <a:xfrm>
            <a:off x="8600846" y="3794760"/>
            <a:ext cx="3149193" cy="274320"/>
          </a:xfrm>
          <a:prstGeom prst="rect">
            <a:avLst/>
          </a:prstGeom>
          <a:noFill/>
        </p:spPr>
        <p:txBody>
          <a:bodyPr wrap="square" lIns="45720" rIns="45720" tIns="18288" bIns="18288" anchor="t">
            <a:spAutoFit/>
          </a:bodyPr>
          <a:lstStyle/>
          <a:p>
            <a:pPr algn="ctr"/>
            <a:r>
              <a:rPr sz="900" b="0" i="0">
                <a:solidFill>
                  <a:srgbClr val="6B6659"/>
                </a:solidFill>
                <a:latin typeface="Consolas"/>
              </a:rPr>
              <a:t>≥ Mar 15, 2012</a:t>
            </a:r>
          </a:p>
        </p:txBody>
      </p:sp>
      <p:sp>
        <p:nvSpPr>
          <p:cNvPr id="43" name="TextBox 42"/>
          <p:cNvSpPr txBox="1"/>
          <p:nvPr/>
        </p:nvSpPr>
        <p:spPr>
          <a:xfrm>
            <a:off x="502920" y="4937760"/>
            <a:ext cx="11247120" cy="365760"/>
          </a:xfrm>
          <a:prstGeom prst="rect">
            <a:avLst/>
          </a:prstGeom>
          <a:noFill/>
        </p:spPr>
        <p:txBody>
          <a:bodyPr wrap="square" lIns="45720" rIns="45720" tIns="18288" bIns="18288" anchor="t">
            <a:spAutoFit/>
          </a:bodyPr>
          <a:lstStyle/>
          <a:p>
            <a:pPr algn="l"/>
            <a:r>
              <a:rPr sz="1400" b="1" i="0">
                <a:solidFill>
                  <a:srgbClr val="1A2744"/>
                </a:solidFill>
                <a:latin typeface="Calibri"/>
              </a:rPr>
              <a:t>Where common CA campuses fall:</a:t>
            </a:r>
          </a:p>
        </p:txBody>
      </p:sp>
      <p:sp>
        <p:nvSpPr>
          <p:cNvPr id="44" name="TextBox 43"/>
          <p:cNvSpPr txBox="1"/>
          <p:nvPr/>
        </p:nvSpPr>
        <p:spPr>
          <a:xfrm>
            <a:off x="502920" y="5303520"/>
            <a:ext cx="11247120" cy="1280160"/>
          </a:xfrm>
          <a:prstGeom prst="rect">
            <a:avLst/>
          </a:prstGeom>
          <a:noFill/>
        </p:spPr>
        <p:txBody>
          <a:bodyPr wrap="square" lIns="45720" rIns="45720">
            <a:spAutoFit/>
          </a:bodyPr>
          <a:lstStyle/>
          <a:p>
            <a:pPr algn="l">
              <a:spcAft>
                <a:spcPts val="200"/>
              </a:spcAft>
            </a:pPr>
            <a:r>
              <a:rPr sz="1200" b="0">
                <a:solidFill>
                  <a:srgbClr val="1A1A1A"/>
                </a:solidFill>
                <a:latin typeface="Calibri"/>
              </a:rPr>
              <a:t>  • 1957 ag building, never altered  →  Program Access (PA)</a:t>
            </a:r>
          </a:p>
          <a:p>
            <a:pPr algn="l">
              <a:spcAft>
                <a:spcPts val="200"/>
              </a:spcAft>
            </a:pPr>
            <a:r>
              <a:rPr sz="1200" b="0">
                <a:solidFill>
                  <a:srgbClr val="1A1A1A"/>
                </a:solidFill>
                <a:latin typeface="Calibri"/>
              </a:rPr>
              <a:t>  • 1989 wood shop, never altered  →  ANSI A117.1</a:t>
            </a:r>
          </a:p>
          <a:p>
            <a:pPr algn="l">
              <a:spcAft>
                <a:spcPts val="200"/>
              </a:spcAft>
            </a:pPr>
            <a:r>
              <a:rPr sz="1200" b="0">
                <a:solidFill>
                  <a:srgbClr val="1A1A1A"/>
                </a:solidFill>
                <a:latin typeface="Calibri"/>
              </a:rPr>
              <a:t>  • 2003 culinary classroom, never altered  →  1991 ADA</a:t>
            </a:r>
          </a:p>
          <a:p>
            <a:pPr algn="l">
              <a:spcAft>
                <a:spcPts val="200"/>
              </a:spcAft>
            </a:pPr>
            <a:r>
              <a:rPr sz="1200" b="0">
                <a:solidFill>
                  <a:srgbClr val="1A1A1A"/>
                </a:solidFill>
                <a:latin typeface="Calibri"/>
              </a:rPr>
              <a:t>  • 2011 STEM addition, no documented election  →  default to 2010 ADA</a:t>
            </a:r>
          </a:p>
          <a:p>
            <a:pPr algn="l">
              <a:spcAft>
                <a:spcPts val="200"/>
              </a:spcAft>
            </a:pPr>
            <a:r>
              <a:rPr sz="1200" b="0">
                <a:solidFill>
                  <a:srgbClr val="1A1A1A"/>
                </a:solidFill>
                <a:latin typeface="Calibri"/>
              </a:rPr>
              <a:t>  • 2019 welding pad, brand new construction  →  2010 ADA</a:t>
            </a:r>
          </a:p>
        </p:txBody>
      </p:sp>
      <p:sp>
        <p:nvSpPr>
          <p:cNvPr id="45" name="TextBox 44"/>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46" name="TextBox 45"/>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14 / 63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15 · DECISION TREE</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Element-by-element — the alteration rule</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411480"/>
          </a:xfrm>
          <a:prstGeom prst="rect">
            <a:avLst/>
          </a:prstGeom>
          <a:noFill/>
        </p:spPr>
        <p:txBody>
          <a:bodyPr wrap="square" lIns="45720" rIns="45720" tIns="18288" bIns="18288" anchor="t">
            <a:spAutoFit/>
          </a:bodyPr>
          <a:lstStyle/>
          <a:p>
            <a:pPr algn="l"/>
            <a:r>
              <a:rPr sz="1400" b="0" i="1">
                <a:solidFill>
                  <a:srgbClr val="6B6659"/>
                </a:solidFill>
                <a:latin typeface="Calibri"/>
              </a:rPr>
              <a:t>Only the altered elements get the new standard. Unaltered elements keep the original construction-date standard. The building does not "upgrade" as a whole.</a:t>
            </a:r>
          </a:p>
        </p:txBody>
      </p:sp>
      <p:sp>
        <p:nvSpPr>
          <p:cNvPr id="10" name="Rectangle 9"/>
          <p:cNvSpPr/>
          <p:nvPr/>
        </p:nvSpPr>
        <p:spPr>
          <a:xfrm>
            <a:off x="502920" y="1920240"/>
            <a:ext cx="11247120" cy="9601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920240"/>
            <a:ext cx="164592" cy="96012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011680"/>
            <a:ext cx="10789920" cy="274320"/>
          </a:xfrm>
          <a:prstGeom prst="rect">
            <a:avLst/>
          </a:prstGeom>
          <a:noFill/>
        </p:spPr>
        <p:txBody>
          <a:bodyPr wrap="square" lIns="45720" rIns="45720" tIns="18288" bIns="18288" anchor="t">
            <a:spAutoFit/>
          </a:bodyPr>
          <a:lstStyle/>
          <a:p>
            <a:pPr algn="l"/>
            <a:r>
              <a:rPr sz="1100" b="1" i="0">
                <a:solidFill>
                  <a:srgbClr val="1A2744"/>
                </a:solidFill>
                <a:latin typeface="Consolas"/>
              </a:rPr>
              <a:t>U.S. Access Board — 2010 ADA Scoping § 202.3 (Alterations):</a:t>
            </a:r>
          </a:p>
        </p:txBody>
      </p:sp>
      <p:sp>
        <p:nvSpPr>
          <p:cNvPr id="13" name="TextBox 12"/>
          <p:cNvSpPr txBox="1"/>
          <p:nvPr/>
        </p:nvSpPr>
        <p:spPr>
          <a:xfrm>
            <a:off x="777240" y="2286000"/>
            <a:ext cx="10698480" cy="594360"/>
          </a:xfrm>
          <a:prstGeom prst="rect">
            <a:avLst/>
          </a:prstGeom>
          <a:noFill/>
        </p:spPr>
        <p:txBody>
          <a:bodyPr wrap="square" lIns="45720" rIns="45720" tIns="18288" bIns="18288" anchor="t">
            <a:spAutoFit/>
          </a:bodyPr>
          <a:lstStyle/>
          <a:p>
            <a:pPr algn="l"/>
            <a:r>
              <a:rPr sz="1200" b="0" i="1">
                <a:solidFill>
                  <a:srgbClr val="1A1A1A"/>
                </a:solidFill>
                <a:latin typeface="Calibri"/>
              </a:rPr>
              <a:t>"Only those elements or spaces altered are required to comply… If a room or space is completely altered (or built new as part of an alteration), the entire room or space is fully subject to the standards."</a:t>
            </a:r>
          </a:p>
        </p:txBody>
      </p:sp>
      <p:sp>
        <p:nvSpPr>
          <p:cNvPr id="14" name="Rectangle 13"/>
          <p:cNvSpPr/>
          <p:nvPr/>
        </p:nvSpPr>
        <p:spPr>
          <a:xfrm>
            <a:off x="502920" y="3017520"/>
            <a:ext cx="5486400" cy="3383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017520"/>
            <a:ext cx="54864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017520"/>
            <a:ext cx="548640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UNALTERED ELEMENTS</a:t>
            </a:r>
          </a:p>
        </p:txBody>
      </p:sp>
      <p:sp>
        <p:nvSpPr>
          <p:cNvPr id="17" name="TextBox 16"/>
          <p:cNvSpPr txBox="1"/>
          <p:nvPr/>
        </p:nvSpPr>
        <p:spPr>
          <a:xfrm>
            <a:off x="685800" y="3474720"/>
            <a:ext cx="5212080" cy="2926080"/>
          </a:xfrm>
          <a:prstGeom prst="rect">
            <a:avLst/>
          </a:prstGeom>
          <a:noFill/>
        </p:spPr>
        <p:txBody>
          <a:bodyPr wrap="square" lIns="45720" rIns="45720">
            <a:spAutoFit/>
          </a:bodyPr>
          <a:lstStyle/>
          <a:p>
            <a:pPr algn="l">
              <a:spcAft>
                <a:spcPts val="600"/>
              </a:spcAft>
            </a:pPr>
            <a:r>
              <a:rPr sz="1200" b="0">
                <a:solidFill>
                  <a:srgbClr val="1A1A1A"/>
                </a:solidFill>
                <a:latin typeface="Calibri"/>
              </a:rPr>
              <a:t>•  Standard = original construction-date era.</a:t>
            </a:r>
          </a:p>
          <a:p>
            <a:pPr algn="l">
              <a:spcAft>
                <a:spcPts val="600"/>
              </a:spcAft>
            </a:pPr>
            <a:r>
              <a:rPr sz="1200" b="0">
                <a:solidFill>
                  <a:srgbClr val="1A1A1A"/>
                </a:solidFill>
                <a:latin typeface="Calibri"/>
              </a:rPr>
              <a:t>•  Pre-1977 unaltered → Program Access (no findings).</a:t>
            </a:r>
          </a:p>
          <a:p>
            <a:pPr algn="l">
              <a:spcAft>
                <a:spcPts val="600"/>
              </a:spcAft>
            </a:pPr>
            <a:r>
              <a:rPr sz="1200" b="0">
                <a:solidFill>
                  <a:srgbClr val="1A1A1A"/>
                </a:solidFill>
                <a:latin typeface="Calibri"/>
              </a:rPr>
              <a:t>•  1985 unaltered → ANSI A117.1 controls.</a:t>
            </a:r>
          </a:p>
          <a:p>
            <a:pPr algn="l">
              <a:spcAft>
                <a:spcPts val="600"/>
              </a:spcAft>
            </a:pPr>
            <a:r>
              <a:rPr sz="1200" b="0">
                <a:solidFill>
                  <a:srgbClr val="1A1A1A"/>
                </a:solidFill>
                <a:latin typeface="Calibri"/>
              </a:rPr>
              <a:t>•  Re-roofing, paint, HVAC, electrical upgrades do NOT alter accessibility — element stays at original standard.</a:t>
            </a:r>
          </a:p>
        </p:txBody>
      </p:sp>
      <p:sp>
        <p:nvSpPr>
          <p:cNvPr id="18" name="Rectangle 17"/>
          <p:cNvSpPr/>
          <p:nvPr/>
        </p:nvSpPr>
        <p:spPr>
          <a:xfrm>
            <a:off x="6263640" y="3017520"/>
            <a:ext cx="5486400" cy="3383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017520"/>
            <a:ext cx="54864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3017520"/>
            <a:ext cx="548640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ALTERED ELEMENTS ONLY</a:t>
            </a:r>
          </a:p>
        </p:txBody>
      </p:sp>
      <p:sp>
        <p:nvSpPr>
          <p:cNvPr id="21" name="TextBox 20"/>
          <p:cNvSpPr txBox="1"/>
          <p:nvPr/>
        </p:nvSpPr>
        <p:spPr>
          <a:xfrm>
            <a:off x="6446520" y="3474720"/>
            <a:ext cx="5212080" cy="2926080"/>
          </a:xfrm>
          <a:prstGeom prst="rect">
            <a:avLst/>
          </a:prstGeom>
          <a:noFill/>
        </p:spPr>
        <p:txBody>
          <a:bodyPr wrap="square" lIns="45720" rIns="45720">
            <a:spAutoFit/>
          </a:bodyPr>
          <a:lstStyle/>
          <a:p>
            <a:pPr algn="l">
              <a:spcAft>
                <a:spcPts val="600"/>
              </a:spcAft>
            </a:pPr>
            <a:r>
              <a:rPr sz="1200" b="0">
                <a:solidFill>
                  <a:srgbClr val="1A1A1A"/>
                </a:solidFill>
                <a:latin typeface="Calibri"/>
              </a:rPr>
              <a:t>•  Standard = standard in effect on alteration date.</a:t>
            </a:r>
          </a:p>
          <a:p>
            <a:pPr algn="l">
              <a:spcAft>
                <a:spcPts val="600"/>
              </a:spcAft>
            </a:pPr>
            <a:r>
              <a:rPr sz="1200" b="0">
                <a:solidFill>
                  <a:srgbClr val="1A1A1A"/>
                </a:solidFill>
                <a:latin typeface="Calibri"/>
              </a:rPr>
              <a:t>•  Each altered ELEMENT gets evaluated separately.</a:t>
            </a:r>
          </a:p>
          <a:p>
            <a:pPr algn="l">
              <a:spcAft>
                <a:spcPts val="600"/>
              </a:spcAft>
            </a:pPr>
            <a:r>
              <a:rPr sz="1200" b="0">
                <a:solidFill>
                  <a:srgbClr val="1A1A1A"/>
                </a:solidFill>
                <a:latin typeface="Calibri"/>
              </a:rPr>
              <a:t>•  A 1968 restroom with 2018 grab-bar replacement → grab bars under 2010 ADA; toilet, lavatory, mirror still under Program Access (unless they were also altered).</a:t>
            </a:r>
          </a:p>
          <a:p>
            <a:pPr algn="l">
              <a:spcAft>
                <a:spcPts val="600"/>
              </a:spcAft>
            </a:pPr>
            <a:r>
              <a:rPr sz="1200" b="0">
                <a:solidFill>
                  <a:srgbClr val="1A1A1A"/>
                </a:solidFill>
                <a:latin typeface="Calibri"/>
              </a:rPr>
              <a:t>•  Whole-room rule: if an entire room is gutted and rebuilt, the entire room is subject to the alteration-date standard.</a:t>
            </a:r>
          </a:p>
        </p:txBody>
      </p:sp>
      <p:sp>
        <p:nvSpPr>
          <p:cNvPr id="22" name="Rectangle 21"/>
          <p:cNvSpPr/>
          <p:nvPr/>
        </p:nvSpPr>
        <p:spPr>
          <a:xfrm>
            <a:off x="502920" y="6446520"/>
            <a:ext cx="11247120" cy="22860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409944"/>
            <a:ext cx="11247120" cy="274320"/>
          </a:xfrm>
          <a:prstGeom prst="rect">
            <a:avLst/>
          </a:prstGeom>
          <a:noFill/>
        </p:spPr>
        <p:txBody>
          <a:bodyPr wrap="square" lIns="45720" rIns="45720" tIns="18288" bIns="18288" anchor="ctr">
            <a:spAutoFit/>
          </a:bodyPr>
          <a:lstStyle/>
          <a:p>
            <a:pPr algn="ctr"/>
            <a:r>
              <a:rPr sz="1200" b="1" i="0">
                <a:solidFill>
                  <a:srgbClr val="1A2744"/>
                </a:solidFill>
                <a:latin typeface="Calibri"/>
              </a:rPr>
              <a:t>Reviewer rule — request work orders / DSA records for each altered element. No proof of alteration = default to original construction date.</a:t>
            </a:r>
          </a:p>
        </p:txBody>
      </p:sp>
      <p:sp>
        <p:nvSpPr>
          <p:cNvPr id="24" name="TextBox 23"/>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25" name="TextBox 24"/>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15 / 63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16 · DECISION TREE</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Worked example — Mixed-era campus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457200"/>
          </a:xfrm>
          <a:prstGeom prst="rect">
            <a:avLst/>
          </a:prstGeom>
          <a:noFill/>
        </p:spPr>
        <p:txBody>
          <a:bodyPr wrap="square" lIns="45720" rIns="45720" tIns="18288" bIns="18288" anchor="t">
            <a:spAutoFit/>
          </a:bodyPr>
          <a:lstStyle/>
          <a:p>
            <a:pPr algn="l"/>
            <a:r>
              <a:rPr sz="1600" b="1" i="0">
                <a:solidFill>
                  <a:srgbClr val="1A2744"/>
                </a:solidFill>
                <a:latin typeface="Calibri"/>
              </a:rPr>
              <a:t>Pacific Career &amp; Technology HS — 4 buildings, 1 site</a:t>
            </a:r>
          </a:p>
        </p:txBody>
      </p:sp>
      <p:sp>
        <p:nvSpPr>
          <p:cNvPr id="10" name="Rectangle 9"/>
          <p:cNvSpPr/>
          <p:nvPr/>
        </p:nvSpPr>
        <p:spPr>
          <a:xfrm>
            <a:off x="502920" y="2011680"/>
            <a:ext cx="370332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011680"/>
            <a:ext cx="370332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ELEMENT</a:t>
            </a:r>
          </a:p>
        </p:txBody>
      </p:sp>
      <p:sp>
        <p:nvSpPr>
          <p:cNvPr id="12" name="Rectangle 11"/>
          <p:cNvSpPr/>
          <p:nvPr/>
        </p:nvSpPr>
        <p:spPr>
          <a:xfrm>
            <a:off x="4206240" y="2011680"/>
            <a:ext cx="164592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2011680"/>
            <a:ext cx="164592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ORIGINAL BUILT</a:t>
            </a:r>
          </a:p>
        </p:txBody>
      </p:sp>
      <p:sp>
        <p:nvSpPr>
          <p:cNvPr id="14" name="Rectangle 13"/>
          <p:cNvSpPr/>
          <p:nvPr/>
        </p:nvSpPr>
        <p:spPr>
          <a:xfrm>
            <a:off x="5852160" y="2011680"/>
            <a:ext cx="283464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2011680"/>
            <a:ext cx="283464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LAST ACCESSIBILITY ALTERATION</a:t>
            </a:r>
          </a:p>
        </p:txBody>
      </p:sp>
      <p:sp>
        <p:nvSpPr>
          <p:cNvPr id="16" name="Rectangle 15"/>
          <p:cNvSpPr/>
          <p:nvPr/>
        </p:nvSpPr>
        <p:spPr>
          <a:xfrm>
            <a:off x="8686800" y="2011680"/>
            <a:ext cx="301752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2011680"/>
            <a:ext cx="301752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APPLICABLE STANDARD</a:t>
            </a:r>
          </a:p>
        </p:txBody>
      </p:sp>
      <p:sp>
        <p:nvSpPr>
          <p:cNvPr id="18" name="Rectangle 17"/>
          <p:cNvSpPr/>
          <p:nvPr/>
        </p:nvSpPr>
        <p:spPr>
          <a:xfrm>
            <a:off x="502920" y="2377440"/>
            <a:ext cx="370332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06240" y="2377440"/>
            <a:ext cx="164592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2160" y="2377440"/>
            <a:ext cx="283464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0" y="2377440"/>
            <a:ext cx="301752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2377440"/>
            <a:ext cx="3703320" cy="438912"/>
          </a:xfrm>
          <a:prstGeom prst="rect">
            <a:avLst/>
          </a:prstGeom>
          <a:noFill/>
        </p:spPr>
        <p:txBody>
          <a:bodyPr wrap="square" lIns="45720" rIns="45720" tIns="18288" bIns="18288" anchor="ctr">
            <a:spAutoFit/>
          </a:bodyPr>
          <a:lstStyle/>
          <a:p>
            <a:pPr algn="l"/>
            <a:r>
              <a:rPr sz="1000" b="0" i="0">
                <a:solidFill>
                  <a:srgbClr val="1A1A1A"/>
                </a:solidFill>
                <a:latin typeface="Calibri"/>
              </a:rPr>
              <a:t>Main classroom wing (unaltered)</a:t>
            </a:r>
          </a:p>
        </p:txBody>
      </p:sp>
      <p:sp>
        <p:nvSpPr>
          <p:cNvPr id="23" name="TextBox 22"/>
          <p:cNvSpPr txBox="1"/>
          <p:nvPr/>
        </p:nvSpPr>
        <p:spPr>
          <a:xfrm>
            <a:off x="4206240" y="2377440"/>
            <a:ext cx="1645920" cy="438912"/>
          </a:xfrm>
          <a:prstGeom prst="rect">
            <a:avLst/>
          </a:prstGeom>
          <a:noFill/>
        </p:spPr>
        <p:txBody>
          <a:bodyPr wrap="square" lIns="45720" rIns="45720" tIns="18288" bIns="18288" anchor="ctr">
            <a:spAutoFit/>
          </a:bodyPr>
          <a:lstStyle/>
          <a:p>
            <a:pPr algn="ctr"/>
            <a:r>
              <a:rPr sz="1000" b="0" i="0">
                <a:solidFill>
                  <a:srgbClr val="1A1A1A"/>
                </a:solidFill>
                <a:latin typeface="Consolas"/>
              </a:rPr>
              <a:t>1962</a:t>
            </a:r>
          </a:p>
        </p:txBody>
      </p:sp>
      <p:sp>
        <p:nvSpPr>
          <p:cNvPr id="24" name="TextBox 23"/>
          <p:cNvSpPr txBox="1"/>
          <p:nvPr/>
        </p:nvSpPr>
        <p:spPr>
          <a:xfrm>
            <a:off x="5943600" y="2377440"/>
            <a:ext cx="2834640" cy="438912"/>
          </a:xfrm>
          <a:prstGeom prst="rect">
            <a:avLst/>
          </a:prstGeom>
          <a:noFill/>
        </p:spPr>
        <p:txBody>
          <a:bodyPr wrap="square" lIns="45720" rIns="45720" tIns="18288" bIns="18288" anchor="ctr">
            <a:spAutoFit/>
          </a:bodyPr>
          <a:lstStyle/>
          <a:p>
            <a:pPr algn="l"/>
            <a:r>
              <a:rPr sz="900" b="0" i="0">
                <a:solidFill>
                  <a:srgbClr val="1A1A1A"/>
                </a:solidFill>
                <a:latin typeface="Calibri"/>
              </a:rPr>
              <a:t>None</a:t>
            </a:r>
          </a:p>
        </p:txBody>
      </p:sp>
      <p:sp>
        <p:nvSpPr>
          <p:cNvPr id="25" name="Rectangle 24"/>
          <p:cNvSpPr/>
          <p:nvPr/>
        </p:nvSpPr>
        <p:spPr>
          <a:xfrm>
            <a:off x="9418320" y="2468880"/>
            <a:ext cx="1554480" cy="256032"/>
          </a:xfrm>
          <a:prstGeom prst="rect">
            <a:avLst/>
          </a:prstGeom>
          <a:solidFill>
            <a:srgbClr val="E5E7EB"/>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0" y="2468880"/>
            <a:ext cx="155448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PROGRAM ACCESS</a:t>
            </a:r>
          </a:p>
        </p:txBody>
      </p:sp>
      <p:sp>
        <p:nvSpPr>
          <p:cNvPr id="27" name="Rectangle 26"/>
          <p:cNvSpPr/>
          <p:nvPr/>
        </p:nvSpPr>
        <p:spPr>
          <a:xfrm>
            <a:off x="502920" y="2816352"/>
            <a:ext cx="370332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06240" y="2816352"/>
            <a:ext cx="164592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52160" y="2816352"/>
            <a:ext cx="283464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86800" y="2816352"/>
            <a:ext cx="301752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816352"/>
            <a:ext cx="3703320" cy="438912"/>
          </a:xfrm>
          <a:prstGeom prst="rect">
            <a:avLst/>
          </a:prstGeom>
          <a:noFill/>
        </p:spPr>
        <p:txBody>
          <a:bodyPr wrap="square" lIns="45720" rIns="45720" tIns="18288" bIns="18288" anchor="ctr">
            <a:spAutoFit/>
          </a:bodyPr>
          <a:lstStyle/>
          <a:p>
            <a:pPr algn="l"/>
            <a:r>
              <a:rPr sz="1000" b="0" i="0">
                <a:solidFill>
                  <a:srgbClr val="1A1A1A"/>
                </a:solidFill>
                <a:latin typeface="Calibri"/>
              </a:rPr>
              <a:t>Ag bldg &amp; greenhouse (unaltered)</a:t>
            </a:r>
          </a:p>
        </p:txBody>
      </p:sp>
      <p:sp>
        <p:nvSpPr>
          <p:cNvPr id="32" name="TextBox 31"/>
          <p:cNvSpPr txBox="1"/>
          <p:nvPr/>
        </p:nvSpPr>
        <p:spPr>
          <a:xfrm>
            <a:off x="4206240" y="2816352"/>
            <a:ext cx="1645920" cy="438912"/>
          </a:xfrm>
          <a:prstGeom prst="rect">
            <a:avLst/>
          </a:prstGeom>
          <a:noFill/>
        </p:spPr>
        <p:txBody>
          <a:bodyPr wrap="square" lIns="45720" rIns="45720" tIns="18288" bIns="18288" anchor="ctr">
            <a:spAutoFit/>
          </a:bodyPr>
          <a:lstStyle/>
          <a:p>
            <a:pPr algn="ctr"/>
            <a:r>
              <a:rPr sz="1000" b="0" i="0">
                <a:solidFill>
                  <a:srgbClr val="1A1A1A"/>
                </a:solidFill>
                <a:latin typeface="Consolas"/>
              </a:rPr>
              <a:t>1971</a:t>
            </a:r>
          </a:p>
        </p:txBody>
      </p:sp>
      <p:sp>
        <p:nvSpPr>
          <p:cNvPr id="33" name="TextBox 32"/>
          <p:cNvSpPr txBox="1"/>
          <p:nvPr/>
        </p:nvSpPr>
        <p:spPr>
          <a:xfrm>
            <a:off x="5943600" y="2816352"/>
            <a:ext cx="2834640" cy="438912"/>
          </a:xfrm>
          <a:prstGeom prst="rect">
            <a:avLst/>
          </a:prstGeom>
          <a:noFill/>
        </p:spPr>
        <p:txBody>
          <a:bodyPr wrap="square" lIns="45720" rIns="45720" tIns="18288" bIns="18288" anchor="ctr">
            <a:spAutoFit/>
          </a:bodyPr>
          <a:lstStyle/>
          <a:p>
            <a:pPr algn="l"/>
            <a:r>
              <a:rPr sz="900" b="0" i="0">
                <a:solidFill>
                  <a:srgbClr val="1A1A1A"/>
                </a:solidFill>
                <a:latin typeface="Calibri"/>
              </a:rPr>
              <a:t>None</a:t>
            </a:r>
          </a:p>
        </p:txBody>
      </p:sp>
      <p:sp>
        <p:nvSpPr>
          <p:cNvPr id="34" name="Rectangle 33"/>
          <p:cNvSpPr/>
          <p:nvPr/>
        </p:nvSpPr>
        <p:spPr>
          <a:xfrm>
            <a:off x="9418320" y="2907792"/>
            <a:ext cx="1554480" cy="256032"/>
          </a:xfrm>
          <a:prstGeom prst="rect">
            <a:avLst/>
          </a:prstGeom>
          <a:solidFill>
            <a:srgbClr val="E5E7EB"/>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20" y="2907792"/>
            <a:ext cx="155448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PROGRAM ACCESS</a:t>
            </a:r>
          </a:p>
        </p:txBody>
      </p:sp>
      <p:sp>
        <p:nvSpPr>
          <p:cNvPr id="36" name="Rectangle 35"/>
          <p:cNvSpPr/>
          <p:nvPr/>
        </p:nvSpPr>
        <p:spPr>
          <a:xfrm>
            <a:off x="502920" y="3255264"/>
            <a:ext cx="370332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06240" y="3255264"/>
            <a:ext cx="164592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52160" y="3255264"/>
            <a:ext cx="283464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686800" y="3255264"/>
            <a:ext cx="301752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3255264"/>
            <a:ext cx="3703320" cy="438912"/>
          </a:xfrm>
          <a:prstGeom prst="rect">
            <a:avLst/>
          </a:prstGeom>
          <a:noFill/>
        </p:spPr>
        <p:txBody>
          <a:bodyPr wrap="square" lIns="45720" rIns="45720" tIns="18288" bIns="18288" anchor="ctr">
            <a:spAutoFit/>
          </a:bodyPr>
          <a:lstStyle/>
          <a:p>
            <a:pPr algn="l"/>
            <a:r>
              <a:rPr sz="1000" b="0" i="0">
                <a:solidFill>
                  <a:srgbClr val="1A1A1A"/>
                </a:solidFill>
                <a:latin typeface="Calibri"/>
              </a:rPr>
              <a:t>Wood / metal shop bays (unaltered)</a:t>
            </a:r>
          </a:p>
        </p:txBody>
      </p:sp>
      <p:sp>
        <p:nvSpPr>
          <p:cNvPr id="41" name="TextBox 40"/>
          <p:cNvSpPr txBox="1"/>
          <p:nvPr/>
        </p:nvSpPr>
        <p:spPr>
          <a:xfrm>
            <a:off x="4206240" y="3255264"/>
            <a:ext cx="1645920" cy="438912"/>
          </a:xfrm>
          <a:prstGeom prst="rect">
            <a:avLst/>
          </a:prstGeom>
          <a:noFill/>
        </p:spPr>
        <p:txBody>
          <a:bodyPr wrap="square" lIns="45720" rIns="45720" tIns="18288" bIns="18288" anchor="ctr">
            <a:spAutoFit/>
          </a:bodyPr>
          <a:lstStyle/>
          <a:p>
            <a:pPr algn="ctr"/>
            <a:r>
              <a:rPr sz="1000" b="0" i="0">
                <a:solidFill>
                  <a:srgbClr val="1A1A1A"/>
                </a:solidFill>
                <a:latin typeface="Consolas"/>
              </a:rPr>
              <a:t>1986</a:t>
            </a:r>
          </a:p>
        </p:txBody>
      </p:sp>
      <p:sp>
        <p:nvSpPr>
          <p:cNvPr id="42" name="TextBox 41"/>
          <p:cNvSpPr txBox="1"/>
          <p:nvPr/>
        </p:nvSpPr>
        <p:spPr>
          <a:xfrm>
            <a:off x="5943600" y="3255264"/>
            <a:ext cx="2834640" cy="438912"/>
          </a:xfrm>
          <a:prstGeom prst="rect">
            <a:avLst/>
          </a:prstGeom>
          <a:noFill/>
        </p:spPr>
        <p:txBody>
          <a:bodyPr wrap="square" lIns="45720" rIns="45720" tIns="18288" bIns="18288" anchor="ctr">
            <a:spAutoFit/>
          </a:bodyPr>
          <a:lstStyle/>
          <a:p>
            <a:pPr algn="l"/>
            <a:r>
              <a:rPr sz="900" b="0" i="0">
                <a:solidFill>
                  <a:srgbClr val="1A1A1A"/>
                </a:solidFill>
                <a:latin typeface="Calibri"/>
              </a:rPr>
              <a:t>None</a:t>
            </a:r>
          </a:p>
        </p:txBody>
      </p:sp>
      <p:sp>
        <p:nvSpPr>
          <p:cNvPr id="43" name="Rectangle 42"/>
          <p:cNvSpPr/>
          <p:nvPr/>
        </p:nvSpPr>
        <p:spPr>
          <a:xfrm>
            <a:off x="9418320" y="3346704"/>
            <a:ext cx="1554480" cy="256032"/>
          </a:xfrm>
          <a:prstGeom prst="rect">
            <a:avLst/>
          </a:prstGeom>
          <a:solidFill>
            <a:srgbClr val="FEF9C3"/>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0" y="3346704"/>
            <a:ext cx="155448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ANSI A117.1</a:t>
            </a:r>
          </a:p>
        </p:txBody>
      </p:sp>
      <p:sp>
        <p:nvSpPr>
          <p:cNvPr id="45" name="Rectangle 44"/>
          <p:cNvSpPr/>
          <p:nvPr/>
        </p:nvSpPr>
        <p:spPr>
          <a:xfrm>
            <a:off x="502920" y="3694176"/>
            <a:ext cx="370332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206240" y="3694176"/>
            <a:ext cx="164592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852160" y="3694176"/>
            <a:ext cx="283464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86800" y="3694176"/>
            <a:ext cx="301752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3694176"/>
            <a:ext cx="3703320" cy="438912"/>
          </a:xfrm>
          <a:prstGeom prst="rect">
            <a:avLst/>
          </a:prstGeom>
          <a:noFill/>
        </p:spPr>
        <p:txBody>
          <a:bodyPr wrap="square" lIns="45720" rIns="45720" tIns="18288" bIns="18288" anchor="ctr">
            <a:spAutoFit/>
          </a:bodyPr>
          <a:lstStyle/>
          <a:p>
            <a:pPr algn="l"/>
            <a:r>
              <a:rPr sz="1000" b="0" i="0">
                <a:solidFill>
                  <a:srgbClr val="1A1A1A"/>
                </a:solidFill>
                <a:latin typeface="Calibri"/>
              </a:rPr>
              <a:t>Culinary bldg — entire building (new build)</a:t>
            </a:r>
          </a:p>
        </p:txBody>
      </p:sp>
      <p:sp>
        <p:nvSpPr>
          <p:cNvPr id="50" name="TextBox 49"/>
          <p:cNvSpPr txBox="1"/>
          <p:nvPr/>
        </p:nvSpPr>
        <p:spPr>
          <a:xfrm>
            <a:off x="4206240" y="3694176"/>
            <a:ext cx="1645920" cy="438912"/>
          </a:xfrm>
          <a:prstGeom prst="rect">
            <a:avLst/>
          </a:prstGeom>
          <a:noFill/>
        </p:spPr>
        <p:txBody>
          <a:bodyPr wrap="square" lIns="45720" rIns="45720" tIns="18288" bIns="18288" anchor="ctr">
            <a:spAutoFit/>
          </a:bodyPr>
          <a:lstStyle/>
          <a:p>
            <a:pPr algn="ctr"/>
            <a:r>
              <a:rPr sz="1000" b="0" i="0">
                <a:solidFill>
                  <a:srgbClr val="1A1A1A"/>
                </a:solidFill>
                <a:latin typeface="Consolas"/>
              </a:rPr>
              <a:t>2014</a:t>
            </a:r>
          </a:p>
        </p:txBody>
      </p:sp>
      <p:sp>
        <p:nvSpPr>
          <p:cNvPr id="51" name="TextBox 50"/>
          <p:cNvSpPr txBox="1"/>
          <p:nvPr/>
        </p:nvSpPr>
        <p:spPr>
          <a:xfrm>
            <a:off x="5943600" y="3694176"/>
            <a:ext cx="2834640" cy="438912"/>
          </a:xfrm>
          <a:prstGeom prst="rect">
            <a:avLst/>
          </a:prstGeom>
          <a:noFill/>
        </p:spPr>
        <p:txBody>
          <a:bodyPr wrap="square" lIns="45720" rIns="45720" tIns="18288" bIns="18288" anchor="ctr">
            <a:spAutoFit/>
          </a:bodyPr>
          <a:lstStyle/>
          <a:p>
            <a:pPr algn="l"/>
            <a:r>
              <a:rPr sz="900" b="0" i="0">
                <a:solidFill>
                  <a:srgbClr val="1A1A1A"/>
                </a:solidFill>
                <a:latin typeface="Calibri"/>
              </a:rPr>
              <a:t>None</a:t>
            </a:r>
          </a:p>
        </p:txBody>
      </p:sp>
      <p:sp>
        <p:nvSpPr>
          <p:cNvPr id="52" name="Rectangle 51"/>
          <p:cNvSpPr/>
          <p:nvPr/>
        </p:nvSpPr>
        <p:spPr>
          <a:xfrm>
            <a:off x="9418320" y="3785616"/>
            <a:ext cx="1554480" cy="256032"/>
          </a:xfrm>
          <a:prstGeom prst="rect">
            <a:avLst/>
          </a:prstGeom>
          <a:solidFill>
            <a:srgbClr val="FEE2E2"/>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418320" y="3785616"/>
            <a:ext cx="155448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2010 ADA</a:t>
            </a:r>
          </a:p>
        </p:txBody>
      </p:sp>
      <p:sp>
        <p:nvSpPr>
          <p:cNvPr id="54" name="Rectangle 53"/>
          <p:cNvSpPr/>
          <p:nvPr/>
        </p:nvSpPr>
        <p:spPr>
          <a:xfrm>
            <a:off x="502920" y="4133087"/>
            <a:ext cx="370332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206240" y="4133087"/>
            <a:ext cx="164592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852160" y="4133087"/>
            <a:ext cx="283464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686800" y="4133087"/>
            <a:ext cx="301752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4360" y="4133087"/>
            <a:ext cx="3703320" cy="438912"/>
          </a:xfrm>
          <a:prstGeom prst="rect">
            <a:avLst/>
          </a:prstGeom>
          <a:noFill/>
        </p:spPr>
        <p:txBody>
          <a:bodyPr wrap="square" lIns="45720" rIns="45720" tIns="18288" bIns="18288" anchor="ctr">
            <a:spAutoFit/>
          </a:bodyPr>
          <a:lstStyle/>
          <a:p>
            <a:pPr algn="l"/>
            <a:r>
              <a:rPr sz="1000" b="0" i="0">
                <a:solidFill>
                  <a:srgbClr val="1A1A1A"/>
                </a:solidFill>
                <a:latin typeface="Calibri"/>
              </a:rPr>
              <a:t>Parking-lot striping ONLY (route element)</a:t>
            </a:r>
          </a:p>
        </p:txBody>
      </p:sp>
      <p:sp>
        <p:nvSpPr>
          <p:cNvPr id="59" name="TextBox 58"/>
          <p:cNvSpPr txBox="1"/>
          <p:nvPr/>
        </p:nvSpPr>
        <p:spPr>
          <a:xfrm>
            <a:off x="4206240" y="4133087"/>
            <a:ext cx="1645920" cy="438912"/>
          </a:xfrm>
          <a:prstGeom prst="rect">
            <a:avLst/>
          </a:prstGeom>
          <a:noFill/>
        </p:spPr>
        <p:txBody>
          <a:bodyPr wrap="square" lIns="45720" rIns="45720" tIns="18288" bIns="18288" anchor="ctr">
            <a:spAutoFit/>
          </a:bodyPr>
          <a:lstStyle/>
          <a:p>
            <a:pPr algn="ctr"/>
            <a:r>
              <a:rPr sz="1000" b="0" i="0">
                <a:solidFill>
                  <a:srgbClr val="1A1A1A"/>
                </a:solidFill>
                <a:latin typeface="Consolas"/>
              </a:rPr>
              <a:t>1962</a:t>
            </a:r>
          </a:p>
        </p:txBody>
      </p:sp>
      <p:sp>
        <p:nvSpPr>
          <p:cNvPr id="60" name="TextBox 59"/>
          <p:cNvSpPr txBox="1"/>
          <p:nvPr/>
        </p:nvSpPr>
        <p:spPr>
          <a:xfrm>
            <a:off x="5943600" y="4133087"/>
            <a:ext cx="2834640" cy="438912"/>
          </a:xfrm>
          <a:prstGeom prst="rect">
            <a:avLst/>
          </a:prstGeom>
          <a:noFill/>
        </p:spPr>
        <p:txBody>
          <a:bodyPr wrap="square" lIns="45720" rIns="45720" tIns="18288" bIns="18288" anchor="ctr">
            <a:spAutoFit/>
          </a:bodyPr>
          <a:lstStyle/>
          <a:p>
            <a:pPr algn="l"/>
            <a:r>
              <a:rPr sz="900" b="0" i="0">
                <a:solidFill>
                  <a:srgbClr val="1A1A1A"/>
                </a:solidFill>
                <a:latin typeface="Calibri"/>
              </a:rPr>
              <a:t>Restriped 2022</a:t>
            </a:r>
          </a:p>
        </p:txBody>
      </p:sp>
      <p:sp>
        <p:nvSpPr>
          <p:cNvPr id="61" name="Rectangle 60"/>
          <p:cNvSpPr/>
          <p:nvPr/>
        </p:nvSpPr>
        <p:spPr>
          <a:xfrm>
            <a:off x="9418320" y="4224527"/>
            <a:ext cx="1554480" cy="256032"/>
          </a:xfrm>
          <a:prstGeom prst="rect">
            <a:avLst/>
          </a:prstGeom>
          <a:solidFill>
            <a:srgbClr val="FEE2E2"/>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418320" y="4224527"/>
            <a:ext cx="155448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2010 ADA</a:t>
            </a:r>
          </a:p>
        </p:txBody>
      </p:sp>
      <p:sp>
        <p:nvSpPr>
          <p:cNvPr id="63" name="Rectangle 62"/>
          <p:cNvSpPr/>
          <p:nvPr/>
        </p:nvSpPr>
        <p:spPr>
          <a:xfrm>
            <a:off x="502920" y="4572000"/>
            <a:ext cx="370332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206240" y="4572000"/>
            <a:ext cx="164592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852160" y="4572000"/>
            <a:ext cx="283464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686800" y="4572000"/>
            <a:ext cx="301752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4360" y="4572000"/>
            <a:ext cx="3703320" cy="438912"/>
          </a:xfrm>
          <a:prstGeom prst="rect">
            <a:avLst/>
          </a:prstGeom>
          <a:noFill/>
        </p:spPr>
        <p:txBody>
          <a:bodyPr wrap="square" lIns="45720" rIns="45720" tIns="18288" bIns="18288" anchor="ctr">
            <a:spAutoFit/>
          </a:bodyPr>
          <a:lstStyle/>
          <a:p>
            <a:pPr algn="l"/>
            <a:r>
              <a:rPr sz="1000" b="0" i="0">
                <a:solidFill>
                  <a:srgbClr val="1A1A1A"/>
                </a:solidFill>
                <a:latin typeface="Calibri"/>
              </a:rPr>
              <a:t>Front entry restrooms — GUTTED rebuild</a:t>
            </a:r>
          </a:p>
        </p:txBody>
      </p:sp>
      <p:sp>
        <p:nvSpPr>
          <p:cNvPr id="68" name="TextBox 67"/>
          <p:cNvSpPr txBox="1"/>
          <p:nvPr/>
        </p:nvSpPr>
        <p:spPr>
          <a:xfrm>
            <a:off x="4206240" y="4572000"/>
            <a:ext cx="1645920" cy="438912"/>
          </a:xfrm>
          <a:prstGeom prst="rect">
            <a:avLst/>
          </a:prstGeom>
          <a:noFill/>
        </p:spPr>
        <p:txBody>
          <a:bodyPr wrap="square" lIns="45720" rIns="45720" tIns="18288" bIns="18288" anchor="ctr">
            <a:spAutoFit/>
          </a:bodyPr>
          <a:lstStyle/>
          <a:p>
            <a:pPr algn="ctr"/>
            <a:r>
              <a:rPr sz="1000" b="0" i="0">
                <a:solidFill>
                  <a:srgbClr val="1A1A1A"/>
                </a:solidFill>
                <a:latin typeface="Consolas"/>
              </a:rPr>
              <a:t>1962</a:t>
            </a:r>
          </a:p>
        </p:txBody>
      </p:sp>
      <p:sp>
        <p:nvSpPr>
          <p:cNvPr id="69" name="TextBox 68"/>
          <p:cNvSpPr txBox="1"/>
          <p:nvPr/>
        </p:nvSpPr>
        <p:spPr>
          <a:xfrm>
            <a:off x="5943600" y="4572000"/>
            <a:ext cx="2834640" cy="438912"/>
          </a:xfrm>
          <a:prstGeom prst="rect">
            <a:avLst/>
          </a:prstGeom>
          <a:noFill/>
        </p:spPr>
        <p:txBody>
          <a:bodyPr wrap="square" lIns="45720" rIns="45720" tIns="18288" bIns="18288" anchor="ctr">
            <a:spAutoFit/>
          </a:bodyPr>
          <a:lstStyle/>
          <a:p>
            <a:pPr algn="l"/>
            <a:r>
              <a:rPr sz="900" b="0" i="0">
                <a:solidFill>
                  <a:srgbClr val="1A1A1A"/>
                </a:solidFill>
                <a:latin typeface="Calibri"/>
              </a:rPr>
              <a:t>Whole room rebuilt 2019</a:t>
            </a:r>
          </a:p>
        </p:txBody>
      </p:sp>
      <p:sp>
        <p:nvSpPr>
          <p:cNvPr id="70" name="Rectangle 69"/>
          <p:cNvSpPr/>
          <p:nvPr/>
        </p:nvSpPr>
        <p:spPr>
          <a:xfrm>
            <a:off x="9418320" y="4663440"/>
            <a:ext cx="1554480" cy="256032"/>
          </a:xfrm>
          <a:prstGeom prst="rect">
            <a:avLst/>
          </a:prstGeom>
          <a:solidFill>
            <a:srgbClr val="FEE2E2"/>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418320" y="4663440"/>
            <a:ext cx="155448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2010 ADA</a:t>
            </a:r>
          </a:p>
        </p:txBody>
      </p:sp>
      <p:sp>
        <p:nvSpPr>
          <p:cNvPr id="72" name="Rectangle 71"/>
          <p:cNvSpPr/>
          <p:nvPr/>
        </p:nvSpPr>
        <p:spPr>
          <a:xfrm>
            <a:off x="502920" y="5010912"/>
            <a:ext cx="370332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206240" y="5010912"/>
            <a:ext cx="164592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852160" y="5010912"/>
            <a:ext cx="283464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686800" y="5010912"/>
            <a:ext cx="3017520" cy="43891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94360" y="5010912"/>
            <a:ext cx="3703320" cy="438912"/>
          </a:xfrm>
          <a:prstGeom prst="rect">
            <a:avLst/>
          </a:prstGeom>
          <a:noFill/>
        </p:spPr>
        <p:txBody>
          <a:bodyPr wrap="square" lIns="45720" rIns="45720" tIns="18288" bIns="18288" anchor="ctr">
            <a:spAutoFit/>
          </a:bodyPr>
          <a:lstStyle/>
          <a:p>
            <a:pPr algn="l"/>
            <a:r>
              <a:rPr sz="1000" b="0" i="0">
                <a:solidFill>
                  <a:srgbClr val="1A1A1A"/>
                </a:solidFill>
                <a:latin typeface="Calibri"/>
              </a:rPr>
              <a:t>Library entry ramp (new install, no prior)</a:t>
            </a:r>
          </a:p>
        </p:txBody>
      </p:sp>
      <p:sp>
        <p:nvSpPr>
          <p:cNvPr id="77" name="TextBox 76"/>
          <p:cNvSpPr txBox="1"/>
          <p:nvPr/>
        </p:nvSpPr>
        <p:spPr>
          <a:xfrm>
            <a:off x="4206240" y="5010912"/>
            <a:ext cx="1645920" cy="438912"/>
          </a:xfrm>
          <a:prstGeom prst="rect">
            <a:avLst/>
          </a:prstGeom>
          <a:noFill/>
        </p:spPr>
        <p:txBody>
          <a:bodyPr wrap="square" lIns="45720" rIns="45720" tIns="18288" bIns="18288" anchor="ctr">
            <a:spAutoFit/>
          </a:bodyPr>
          <a:lstStyle/>
          <a:p>
            <a:pPr algn="ctr"/>
            <a:r>
              <a:rPr sz="1000" b="0" i="0">
                <a:solidFill>
                  <a:srgbClr val="1A1A1A"/>
                </a:solidFill>
                <a:latin typeface="Consolas"/>
              </a:rPr>
              <a:t>2003</a:t>
            </a:r>
          </a:p>
        </p:txBody>
      </p:sp>
      <p:sp>
        <p:nvSpPr>
          <p:cNvPr id="78" name="TextBox 77"/>
          <p:cNvSpPr txBox="1"/>
          <p:nvPr/>
        </p:nvSpPr>
        <p:spPr>
          <a:xfrm>
            <a:off x="5943600" y="5010912"/>
            <a:ext cx="2834640" cy="438912"/>
          </a:xfrm>
          <a:prstGeom prst="rect">
            <a:avLst/>
          </a:prstGeom>
          <a:noFill/>
        </p:spPr>
        <p:txBody>
          <a:bodyPr wrap="square" lIns="45720" rIns="45720" tIns="18288" bIns="18288" anchor="ctr">
            <a:spAutoFit/>
          </a:bodyPr>
          <a:lstStyle/>
          <a:p>
            <a:pPr algn="l"/>
            <a:r>
              <a:rPr sz="900" b="0" i="0">
                <a:solidFill>
                  <a:srgbClr val="1A1A1A"/>
                </a:solidFill>
                <a:latin typeface="Calibri"/>
              </a:rPr>
              <a:t>None</a:t>
            </a:r>
          </a:p>
        </p:txBody>
      </p:sp>
      <p:sp>
        <p:nvSpPr>
          <p:cNvPr id="79" name="Rectangle 78"/>
          <p:cNvSpPr/>
          <p:nvPr/>
        </p:nvSpPr>
        <p:spPr>
          <a:xfrm>
            <a:off x="9418320" y="5102352"/>
            <a:ext cx="1554480" cy="256032"/>
          </a:xfrm>
          <a:prstGeom prst="rect">
            <a:avLst/>
          </a:prstGeom>
          <a:solidFill>
            <a:srgbClr val="D1FAE5"/>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418320" y="5102352"/>
            <a:ext cx="155448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1991 ADA</a:t>
            </a:r>
          </a:p>
        </p:txBody>
      </p:sp>
      <p:sp>
        <p:nvSpPr>
          <p:cNvPr id="81" name="Rectangle 80"/>
          <p:cNvSpPr/>
          <p:nvPr/>
        </p:nvSpPr>
        <p:spPr>
          <a:xfrm>
            <a:off x="502920" y="5449824"/>
            <a:ext cx="370332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4206240" y="5449824"/>
            <a:ext cx="164592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852160" y="5449824"/>
            <a:ext cx="283464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8686800" y="5449824"/>
            <a:ext cx="3017520" cy="43891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94360" y="5449824"/>
            <a:ext cx="3703320" cy="438912"/>
          </a:xfrm>
          <a:prstGeom prst="rect">
            <a:avLst/>
          </a:prstGeom>
          <a:noFill/>
        </p:spPr>
        <p:txBody>
          <a:bodyPr wrap="square" lIns="45720" rIns="45720" tIns="18288" bIns="18288" anchor="ctr">
            <a:spAutoFit/>
          </a:bodyPr>
          <a:lstStyle/>
          <a:p>
            <a:pPr algn="l"/>
            <a:r>
              <a:rPr sz="1000" b="0" i="0">
                <a:solidFill>
                  <a:srgbClr val="1A1A1A"/>
                </a:solidFill>
                <a:latin typeface="Calibri"/>
              </a:rPr>
              <a:t>Locker-room grab bars ONLY (element swap)</a:t>
            </a:r>
          </a:p>
        </p:txBody>
      </p:sp>
      <p:sp>
        <p:nvSpPr>
          <p:cNvPr id="86" name="TextBox 85"/>
          <p:cNvSpPr txBox="1"/>
          <p:nvPr/>
        </p:nvSpPr>
        <p:spPr>
          <a:xfrm>
            <a:off x="4206240" y="5449824"/>
            <a:ext cx="1645920" cy="438912"/>
          </a:xfrm>
          <a:prstGeom prst="rect">
            <a:avLst/>
          </a:prstGeom>
          <a:noFill/>
        </p:spPr>
        <p:txBody>
          <a:bodyPr wrap="square" lIns="45720" rIns="45720" tIns="18288" bIns="18288" anchor="ctr">
            <a:spAutoFit/>
          </a:bodyPr>
          <a:lstStyle/>
          <a:p>
            <a:pPr algn="ctr"/>
            <a:r>
              <a:rPr sz="1000" b="0" i="0">
                <a:solidFill>
                  <a:srgbClr val="1A1A1A"/>
                </a:solidFill>
                <a:latin typeface="Consolas"/>
              </a:rPr>
              <a:t>1962</a:t>
            </a:r>
          </a:p>
        </p:txBody>
      </p:sp>
      <p:sp>
        <p:nvSpPr>
          <p:cNvPr id="87" name="TextBox 86"/>
          <p:cNvSpPr txBox="1"/>
          <p:nvPr/>
        </p:nvSpPr>
        <p:spPr>
          <a:xfrm>
            <a:off x="5943600" y="5449824"/>
            <a:ext cx="2834640" cy="438912"/>
          </a:xfrm>
          <a:prstGeom prst="rect">
            <a:avLst/>
          </a:prstGeom>
          <a:noFill/>
        </p:spPr>
        <p:txBody>
          <a:bodyPr wrap="square" lIns="45720" rIns="45720" tIns="18288" bIns="18288" anchor="ctr">
            <a:spAutoFit/>
          </a:bodyPr>
          <a:lstStyle/>
          <a:p>
            <a:pPr algn="l"/>
            <a:r>
              <a:rPr sz="900" b="0" i="0">
                <a:solidFill>
                  <a:srgbClr val="1A1A1A"/>
                </a:solidFill>
                <a:latin typeface="Calibri"/>
              </a:rPr>
              <a:t>Bars replaced 2018</a:t>
            </a:r>
          </a:p>
        </p:txBody>
      </p:sp>
      <p:sp>
        <p:nvSpPr>
          <p:cNvPr id="88" name="Rectangle 87"/>
          <p:cNvSpPr/>
          <p:nvPr/>
        </p:nvSpPr>
        <p:spPr>
          <a:xfrm>
            <a:off x="9418320" y="5541264"/>
            <a:ext cx="1554480" cy="256032"/>
          </a:xfrm>
          <a:prstGeom prst="rect">
            <a:avLst/>
          </a:prstGeom>
          <a:solidFill>
            <a:srgbClr val="FEE2E2"/>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418320" y="5541264"/>
            <a:ext cx="155448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2010 ADA (bars only)</a:t>
            </a:r>
          </a:p>
        </p:txBody>
      </p:sp>
      <p:sp>
        <p:nvSpPr>
          <p:cNvPr id="90" name="TextBox 89"/>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91" name="TextBox 90"/>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16 / 63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17 · DECISION TREE</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Worked example — A pre-1977 ag campus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457200"/>
          </a:xfrm>
          <a:prstGeom prst="rect">
            <a:avLst/>
          </a:prstGeom>
          <a:noFill/>
        </p:spPr>
        <p:txBody>
          <a:bodyPr wrap="square" lIns="45720" rIns="45720" tIns="18288" bIns="18288" anchor="t">
            <a:spAutoFit/>
          </a:bodyPr>
          <a:lstStyle/>
          <a:p>
            <a:pPr algn="l"/>
            <a:r>
              <a:rPr sz="1600" b="1" i="0">
                <a:solidFill>
                  <a:srgbClr val="1A2744"/>
                </a:solidFill>
                <a:latin typeface="Calibri"/>
              </a:rPr>
              <a:t>Valley Union High School — Ag program, original 1958 buildings</a:t>
            </a:r>
          </a:p>
        </p:txBody>
      </p:sp>
      <p:sp>
        <p:nvSpPr>
          <p:cNvPr id="10" name="TextBox 9"/>
          <p:cNvSpPr txBox="1"/>
          <p:nvPr/>
        </p:nvSpPr>
        <p:spPr>
          <a:xfrm>
            <a:off x="502920" y="1920240"/>
            <a:ext cx="5486400" cy="4114800"/>
          </a:xfrm>
          <a:prstGeom prst="rect">
            <a:avLst/>
          </a:prstGeom>
          <a:noFill/>
        </p:spPr>
        <p:txBody>
          <a:bodyPr wrap="square" lIns="45720" rIns="45720">
            <a:spAutoFit/>
          </a:bodyPr>
          <a:lstStyle/>
          <a:p>
            <a:pPr algn="l">
              <a:spcAft>
                <a:spcPts val="1000"/>
              </a:spcAft>
            </a:pPr>
            <a:r>
              <a:rPr sz="1400" b="1">
                <a:solidFill>
                  <a:srgbClr val="1A1A1A"/>
                </a:solidFill>
                <a:latin typeface="Calibri"/>
              </a:rPr>
              <a:t>•  Built 1958.</a:t>
            </a:r>
            <a:r>
              <a:rPr sz="1400">
                <a:solidFill>
                  <a:srgbClr val="1A1A1A"/>
                </a:solidFill>
                <a:latin typeface="Calibri"/>
              </a:rPr>
              <a:t>  Three single-story ag classrooms, one shop, one greenhouse.</a:t>
            </a:r>
          </a:p>
          <a:p>
            <a:pPr algn="l">
              <a:spcAft>
                <a:spcPts val="1000"/>
              </a:spcAft>
            </a:pPr>
            <a:r>
              <a:rPr sz="1400" b="1">
                <a:solidFill>
                  <a:srgbClr val="1A1A1A"/>
                </a:solidFill>
                <a:latin typeface="Calibri"/>
              </a:rPr>
              <a:t>•  No documented alterations.</a:t>
            </a:r>
            <a:r>
              <a:rPr sz="1400">
                <a:solidFill>
                  <a:srgbClr val="1A1A1A"/>
                </a:solidFill>
                <a:latin typeface="Calibri"/>
              </a:rPr>
              <a:t>  Re-roofed twice; HVAC replaced — none of which affect accessibility.</a:t>
            </a:r>
          </a:p>
          <a:p>
            <a:pPr algn="l">
              <a:spcAft>
                <a:spcPts val="1000"/>
              </a:spcAft>
            </a:pPr>
            <a:r>
              <a:rPr sz="1400" b="1">
                <a:solidFill>
                  <a:srgbClr val="1A1A1A"/>
                </a:solidFill>
                <a:latin typeface="Calibri"/>
              </a:rPr>
              <a:t>•  Field measurements show:</a:t>
            </a:r>
            <a:r>
              <a:rPr sz="1400">
                <a:solidFill>
                  <a:srgbClr val="1A1A1A"/>
                </a:solidFill>
                <a:latin typeface="Calibri"/>
              </a:rPr>
              <a:t>  Door clear width 28 inches (would violate 2010 ADA 404.2.3); ramp slope 1:10 (would violate 2010 ADA 405.2); no ISA signage at restrooms.</a:t>
            </a:r>
          </a:p>
        </p:txBody>
      </p:sp>
      <p:sp>
        <p:nvSpPr>
          <p:cNvPr id="11" name="Rectangle 10"/>
          <p:cNvSpPr/>
          <p:nvPr/>
        </p:nvSpPr>
        <p:spPr>
          <a:xfrm>
            <a:off x="6400800" y="1920240"/>
            <a:ext cx="5394960" cy="41148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920240"/>
            <a:ext cx="5394960" cy="4572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920240"/>
            <a:ext cx="5394960" cy="457200"/>
          </a:xfrm>
          <a:prstGeom prst="rect">
            <a:avLst/>
          </a:prstGeom>
          <a:noFill/>
        </p:spPr>
        <p:txBody>
          <a:bodyPr wrap="square" lIns="45720" rIns="45720" tIns="18288" bIns="18288" anchor="ctr">
            <a:spAutoFit/>
          </a:bodyPr>
          <a:lstStyle/>
          <a:p>
            <a:pPr algn="ctr"/>
            <a:r>
              <a:rPr sz="1200" b="1" i="0">
                <a:solidFill>
                  <a:srgbClr val="C8A84B"/>
                </a:solidFill>
                <a:latin typeface="Consolas"/>
              </a:rPr>
              <a:t>REVIEWER'S FINDING</a:t>
            </a:r>
          </a:p>
        </p:txBody>
      </p:sp>
      <p:sp>
        <p:nvSpPr>
          <p:cNvPr id="14" name="TextBox 13"/>
          <p:cNvSpPr txBox="1"/>
          <p:nvPr/>
        </p:nvSpPr>
        <p:spPr>
          <a:xfrm>
            <a:off x="6583680" y="2468880"/>
            <a:ext cx="5120640" cy="3474720"/>
          </a:xfrm>
          <a:prstGeom prst="rect">
            <a:avLst/>
          </a:prstGeom>
          <a:noFill/>
        </p:spPr>
        <p:txBody>
          <a:bodyPr wrap="square" lIns="45720" rIns="45720">
            <a:spAutoFit/>
          </a:bodyPr>
          <a:lstStyle/>
          <a:p>
            <a:pPr algn="l">
              <a:spcAft>
                <a:spcPts val="600"/>
              </a:spcAft>
            </a:pPr>
            <a:r>
              <a:rPr sz="1200" b="0">
                <a:solidFill>
                  <a:srgbClr val="1A1A1A"/>
                </a:solidFill>
                <a:latin typeface="Calibri"/>
              </a:rPr>
              <a:t>•  Applicable standard: PROGRAM ACCESS.</a:t>
            </a:r>
          </a:p>
          <a:p>
            <a:pPr algn="l">
              <a:spcAft>
                <a:spcPts val="600"/>
              </a:spcAft>
            </a:pPr>
            <a:r>
              <a:rPr sz="1200" b="0">
                <a:solidFill>
                  <a:srgbClr val="1A1A1A"/>
                </a:solidFill>
                <a:latin typeface="Calibri"/>
              </a:rPr>
              <a:t>•  Accessibility Violation column: "None."</a:t>
            </a:r>
          </a:p>
          <a:p>
            <a:pPr algn="l">
              <a:spcAft>
                <a:spcPts val="600"/>
              </a:spcAft>
            </a:pPr>
            <a:r>
              <a:rPr sz="1200" b="0">
                <a:solidFill>
                  <a:srgbClr val="1A1A1A"/>
                </a:solidFill>
                <a:latin typeface="Calibri"/>
              </a:rPr>
              <a:t>•  Corrective Actions column: "None."</a:t>
            </a:r>
          </a:p>
          <a:p>
            <a:pPr algn="l">
              <a:spcAft>
                <a:spcPts val="600"/>
              </a:spcAft>
            </a:pPr>
            <a:r>
              <a:rPr sz="1200" b="0">
                <a:solidFill>
                  <a:srgbClr val="1A1A1A"/>
                </a:solidFill>
                <a:latin typeface="Calibri"/>
              </a:rPr>
              <a:t>•  No violation citation possible — ANSI, UFAS, and ADA do not apply to pre-Jun-4-1977 facilities.</a:t>
            </a:r>
          </a:p>
          <a:p>
            <a:pPr algn="l">
              <a:spcAft>
                <a:spcPts val="600"/>
              </a:spcAft>
            </a:pPr>
            <a:r>
              <a:rPr sz="1200" b="0">
                <a:solidFill>
                  <a:srgbClr val="1A1A1A"/>
                </a:solidFill>
                <a:latin typeface="Calibri"/>
              </a:rPr>
              <a:t>•  Program-as-a-whole analysis: Does the LEA offer the ag program in an accessible alternate location? If yes — compliant. If no — a separate Title II program-access analysis is warranted.</a:t>
            </a:r>
          </a:p>
        </p:txBody>
      </p:sp>
      <p:sp>
        <p:nvSpPr>
          <p:cNvPr id="15" name="Rectangle 14"/>
          <p:cNvSpPr/>
          <p:nvPr/>
        </p:nvSpPr>
        <p:spPr>
          <a:xfrm>
            <a:off x="502920" y="6126480"/>
            <a:ext cx="11247120" cy="411480"/>
          </a:xfrm>
          <a:prstGeom prst="rect">
            <a:avLst/>
          </a:prstGeom>
          <a:solidFill>
            <a:srgbClr val="FEE2E2"/>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126480"/>
            <a:ext cx="11247120" cy="411480"/>
          </a:xfrm>
          <a:prstGeom prst="rect">
            <a:avLst/>
          </a:prstGeom>
          <a:noFill/>
        </p:spPr>
        <p:txBody>
          <a:bodyPr wrap="square" lIns="45720" rIns="45720" tIns="18288" bIns="18288" anchor="ctr">
            <a:spAutoFit/>
          </a:bodyPr>
          <a:lstStyle/>
          <a:p>
            <a:pPr algn="ctr"/>
            <a:r>
              <a:rPr sz="1400" b="1" i="0">
                <a:solidFill>
                  <a:srgbClr val="B91C1C"/>
                </a:solidFill>
                <a:latin typeface="Calibri"/>
              </a:rPr>
              <a:t>DO NOT cite 2010 ADA. DO NOT issue a finding on this building. Document the program-access analysis instead.</a:t>
            </a:r>
          </a:p>
        </p:txBody>
      </p:sp>
      <p:sp>
        <p:nvSpPr>
          <p:cNvPr id="17" name="TextBox 16"/>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8" name="TextBox 17"/>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17 / 63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10972800" cy="457200"/>
          </a:xfrm>
          <a:prstGeom prst="rect">
            <a:avLst/>
          </a:prstGeom>
          <a:noFill/>
        </p:spPr>
        <p:txBody>
          <a:bodyPr wrap="square" lIns="45720" rIns="45720" tIns="18288" bIns="18288" anchor="t">
            <a:spAutoFit/>
          </a:bodyPr>
          <a:lstStyle/>
          <a:p>
            <a:pPr algn="l"/>
            <a:r>
              <a:rPr sz="1200" b="1" i="0">
                <a:solidFill>
                  <a:srgbClr val="C8A84B"/>
                </a:solidFill>
                <a:latin typeface="Consolas"/>
              </a:rPr>
              <a:t>KNOWLEDGE CHECK · 01</a:t>
            </a:r>
          </a:p>
        </p:txBody>
      </p:sp>
      <p:sp>
        <p:nvSpPr>
          <p:cNvPr id="5" name="TextBox 4"/>
          <p:cNvSpPr txBox="1"/>
          <p:nvPr/>
        </p:nvSpPr>
        <p:spPr>
          <a:xfrm>
            <a:off x="777240" y="1005840"/>
            <a:ext cx="10972800" cy="822960"/>
          </a:xfrm>
          <a:prstGeom prst="rect">
            <a:avLst/>
          </a:prstGeom>
          <a:noFill/>
        </p:spPr>
        <p:txBody>
          <a:bodyPr wrap="square" lIns="45720" rIns="45720" tIns="18288" bIns="18288" anchor="t">
            <a:spAutoFit/>
          </a:bodyPr>
          <a:lstStyle/>
          <a:p>
            <a:pPr algn="l"/>
            <a:r>
              <a:rPr sz="3600" b="1" i="0">
                <a:solidFill>
                  <a:srgbClr val="FFFFFF"/>
                </a:solidFill>
                <a:latin typeface="Georgia"/>
              </a:rPr>
              <a:t>Which standard applies?</a:t>
            </a:r>
          </a:p>
        </p:txBody>
      </p:sp>
      <p:sp>
        <p:nvSpPr>
          <p:cNvPr id="6" name="Rectangle 5"/>
          <p:cNvSpPr/>
          <p:nvPr/>
        </p:nvSpPr>
        <p:spPr>
          <a:xfrm>
            <a:off x="777240" y="2103120"/>
            <a:ext cx="548640" cy="5943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03120"/>
            <a:ext cx="548640" cy="594360"/>
          </a:xfrm>
          <a:prstGeom prst="rect">
            <a:avLst/>
          </a:prstGeom>
          <a:noFill/>
        </p:spPr>
        <p:txBody>
          <a:bodyPr wrap="square" lIns="45720" rIns="45720" tIns="18288" bIns="18288" anchor="ctr">
            <a:spAutoFit/>
          </a:bodyPr>
          <a:lstStyle/>
          <a:p>
            <a:pPr algn="ctr"/>
            <a:r>
              <a:rPr sz="2000" b="1" i="0">
                <a:solidFill>
                  <a:srgbClr val="1A2744"/>
                </a:solidFill>
                <a:latin typeface="Georgia"/>
              </a:rPr>
              <a:t>A.</a:t>
            </a:r>
          </a:p>
        </p:txBody>
      </p:sp>
      <p:sp>
        <p:nvSpPr>
          <p:cNvPr id="8" name="Rectangle 7"/>
          <p:cNvSpPr/>
          <p:nvPr/>
        </p:nvSpPr>
        <p:spPr>
          <a:xfrm>
            <a:off x="1417320" y="2103120"/>
            <a:ext cx="10332720" cy="59436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2103120"/>
            <a:ext cx="10058400" cy="594360"/>
          </a:xfrm>
          <a:prstGeom prst="rect">
            <a:avLst/>
          </a:prstGeom>
          <a:noFill/>
        </p:spPr>
        <p:txBody>
          <a:bodyPr wrap="square" lIns="45720" rIns="45720" tIns="18288" bIns="18288" anchor="ctr">
            <a:spAutoFit/>
          </a:bodyPr>
          <a:lstStyle/>
          <a:p>
            <a:pPr algn="l"/>
            <a:r>
              <a:rPr sz="1400" b="0" i="0">
                <a:solidFill>
                  <a:srgbClr val="FFFFFF"/>
                </a:solidFill>
                <a:latin typeface="Calibri"/>
              </a:rPr>
              <a:t>A 1972 high school gym — locker rooms gutted and rebuilt in 2017.</a:t>
            </a:r>
          </a:p>
        </p:txBody>
      </p:sp>
      <p:sp>
        <p:nvSpPr>
          <p:cNvPr id="10" name="Rectangle 9"/>
          <p:cNvSpPr/>
          <p:nvPr/>
        </p:nvSpPr>
        <p:spPr>
          <a:xfrm>
            <a:off x="777240" y="2880360"/>
            <a:ext cx="548640" cy="5943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880360"/>
            <a:ext cx="548640" cy="594360"/>
          </a:xfrm>
          <a:prstGeom prst="rect">
            <a:avLst/>
          </a:prstGeom>
          <a:noFill/>
        </p:spPr>
        <p:txBody>
          <a:bodyPr wrap="square" lIns="45720" rIns="45720" tIns="18288" bIns="18288" anchor="ctr">
            <a:spAutoFit/>
          </a:bodyPr>
          <a:lstStyle/>
          <a:p>
            <a:pPr algn="ctr"/>
            <a:r>
              <a:rPr sz="2000" b="1" i="0">
                <a:solidFill>
                  <a:srgbClr val="1A2744"/>
                </a:solidFill>
                <a:latin typeface="Georgia"/>
              </a:rPr>
              <a:t>B.</a:t>
            </a:r>
          </a:p>
        </p:txBody>
      </p:sp>
      <p:sp>
        <p:nvSpPr>
          <p:cNvPr id="12" name="Rectangle 11"/>
          <p:cNvSpPr/>
          <p:nvPr/>
        </p:nvSpPr>
        <p:spPr>
          <a:xfrm>
            <a:off x="1417320" y="2880360"/>
            <a:ext cx="10332720" cy="59436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0200" y="2880360"/>
            <a:ext cx="10058400" cy="594360"/>
          </a:xfrm>
          <a:prstGeom prst="rect">
            <a:avLst/>
          </a:prstGeom>
          <a:noFill/>
        </p:spPr>
        <p:txBody>
          <a:bodyPr wrap="square" lIns="45720" rIns="45720" tIns="18288" bIns="18288" anchor="ctr">
            <a:spAutoFit/>
          </a:bodyPr>
          <a:lstStyle/>
          <a:p>
            <a:pPr algn="l"/>
            <a:r>
              <a:rPr sz="1400" b="0" i="0">
                <a:solidFill>
                  <a:srgbClr val="FFFFFF"/>
                </a:solidFill>
                <a:latin typeface="Calibri"/>
              </a:rPr>
              <a:t>A 1995 culinary classroom — no documented alterations.</a:t>
            </a:r>
          </a:p>
        </p:txBody>
      </p:sp>
      <p:sp>
        <p:nvSpPr>
          <p:cNvPr id="14" name="Rectangle 13"/>
          <p:cNvSpPr/>
          <p:nvPr/>
        </p:nvSpPr>
        <p:spPr>
          <a:xfrm>
            <a:off x="777240" y="3657600"/>
            <a:ext cx="548640" cy="5943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657600"/>
            <a:ext cx="548640" cy="594360"/>
          </a:xfrm>
          <a:prstGeom prst="rect">
            <a:avLst/>
          </a:prstGeom>
          <a:noFill/>
        </p:spPr>
        <p:txBody>
          <a:bodyPr wrap="square" lIns="45720" rIns="45720" tIns="18288" bIns="18288" anchor="ctr">
            <a:spAutoFit/>
          </a:bodyPr>
          <a:lstStyle/>
          <a:p>
            <a:pPr algn="ctr"/>
            <a:r>
              <a:rPr sz="2000" b="1" i="0">
                <a:solidFill>
                  <a:srgbClr val="1A2744"/>
                </a:solidFill>
                <a:latin typeface="Georgia"/>
              </a:rPr>
              <a:t>C.</a:t>
            </a:r>
          </a:p>
        </p:txBody>
      </p:sp>
      <p:sp>
        <p:nvSpPr>
          <p:cNvPr id="16" name="Rectangle 15"/>
          <p:cNvSpPr/>
          <p:nvPr/>
        </p:nvSpPr>
        <p:spPr>
          <a:xfrm>
            <a:off x="1417320" y="3657600"/>
            <a:ext cx="10332720" cy="59436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00200" y="3657600"/>
            <a:ext cx="10058400" cy="594360"/>
          </a:xfrm>
          <a:prstGeom prst="rect">
            <a:avLst/>
          </a:prstGeom>
          <a:noFill/>
        </p:spPr>
        <p:txBody>
          <a:bodyPr wrap="square" lIns="45720" rIns="45720" tIns="18288" bIns="18288" anchor="ctr">
            <a:spAutoFit/>
          </a:bodyPr>
          <a:lstStyle/>
          <a:p>
            <a:pPr algn="l"/>
            <a:r>
              <a:rPr sz="1400" b="0" i="0">
                <a:solidFill>
                  <a:srgbClr val="FFFFFF"/>
                </a:solidFill>
                <a:latin typeface="Calibri"/>
              </a:rPr>
              <a:t>A 1965 wood shop — restriped parking lot in 2024; building never altered.</a:t>
            </a:r>
          </a:p>
        </p:txBody>
      </p:sp>
      <p:sp>
        <p:nvSpPr>
          <p:cNvPr id="18" name="Rectangle 17"/>
          <p:cNvSpPr/>
          <p:nvPr/>
        </p:nvSpPr>
        <p:spPr>
          <a:xfrm>
            <a:off x="777240" y="4434840"/>
            <a:ext cx="548640" cy="5943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434840"/>
            <a:ext cx="548640" cy="594360"/>
          </a:xfrm>
          <a:prstGeom prst="rect">
            <a:avLst/>
          </a:prstGeom>
          <a:noFill/>
        </p:spPr>
        <p:txBody>
          <a:bodyPr wrap="square" lIns="45720" rIns="45720" tIns="18288" bIns="18288" anchor="ctr">
            <a:spAutoFit/>
          </a:bodyPr>
          <a:lstStyle/>
          <a:p>
            <a:pPr algn="ctr"/>
            <a:r>
              <a:rPr sz="2000" b="1" i="0">
                <a:solidFill>
                  <a:srgbClr val="1A2744"/>
                </a:solidFill>
                <a:latin typeface="Georgia"/>
              </a:rPr>
              <a:t>D.</a:t>
            </a:r>
          </a:p>
        </p:txBody>
      </p:sp>
      <p:sp>
        <p:nvSpPr>
          <p:cNvPr id="20" name="Rectangle 19"/>
          <p:cNvSpPr/>
          <p:nvPr/>
        </p:nvSpPr>
        <p:spPr>
          <a:xfrm>
            <a:off x="1417320" y="4434840"/>
            <a:ext cx="10332720" cy="59436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00200" y="4434840"/>
            <a:ext cx="10058400" cy="594360"/>
          </a:xfrm>
          <a:prstGeom prst="rect">
            <a:avLst/>
          </a:prstGeom>
          <a:noFill/>
        </p:spPr>
        <p:txBody>
          <a:bodyPr wrap="square" lIns="45720" rIns="45720" tIns="18288" bIns="18288" anchor="ctr">
            <a:spAutoFit/>
          </a:bodyPr>
          <a:lstStyle/>
          <a:p>
            <a:pPr algn="l"/>
            <a:r>
              <a:rPr sz="1400" b="0" i="0">
                <a:solidFill>
                  <a:srgbClr val="FFFFFF"/>
                </a:solidFill>
                <a:latin typeface="Calibri"/>
              </a:rPr>
              <a:t>A 2011 STEM building — district records do not document an election between 1991 and 2010 ADA.</a:t>
            </a:r>
          </a:p>
        </p:txBody>
      </p:sp>
      <p:sp>
        <p:nvSpPr>
          <p:cNvPr id="22" name="TextBox 21"/>
          <p:cNvSpPr txBox="1"/>
          <p:nvPr/>
        </p:nvSpPr>
        <p:spPr>
          <a:xfrm>
            <a:off x="777240" y="6035040"/>
            <a:ext cx="10972800" cy="365760"/>
          </a:xfrm>
          <a:prstGeom prst="rect">
            <a:avLst/>
          </a:prstGeom>
          <a:noFill/>
        </p:spPr>
        <p:txBody>
          <a:bodyPr wrap="square" lIns="45720" rIns="45720" tIns="18288" bIns="18288" anchor="t">
            <a:spAutoFit/>
          </a:bodyPr>
          <a:lstStyle/>
          <a:p>
            <a:pPr algn="l"/>
            <a:r>
              <a:rPr sz="1200" b="0" i="1">
                <a:solidFill>
                  <a:srgbClr val="C8A84B"/>
                </a:solidFill>
                <a:latin typeface="Consolas"/>
              </a:rPr>
              <a:t>Take 3 minutes. Write the standard for each. Answers in the next slide.</a:t>
            </a:r>
          </a:p>
        </p:txBody>
      </p:sp>
      <p:sp>
        <p:nvSpPr>
          <p:cNvPr id="23" name="TextBox 22"/>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24" name="TextBox 23"/>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18 / 63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19 · PROGRAM ACCESS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Program Access — the doctrine</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34 CFR § 104.22  ·  28 CFR § 35.150  —  the rule for existing facilities.</a:t>
            </a:r>
          </a:p>
        </p:txBody>
      </p:sp>
      <p:sp>
        <p:nvSpPr>
          <p:cNvPr id="10" name="Rectangle 9"/>
          <p:cNvSpPr/>
          <p:nvPr/>
        </p:nvSpPr>
        <p:spPr>
          <a:xfrm>
            <a:off x="502920" y="1920240"/>
            <a:ext cx="11247120" cy="18288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920240"/>
            <a:ext cx="164592" cy="182880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057400"/>
            <a:ext cx="10972800" cy="274320"/>
          </a:xfrm>
          <a:prstGeom prst="rect">
            <a:avLst/>
          </a:prstGeom>
          <a:noFill/>
        </p:spPr>
        <p:txBody>
          <a:bodyPr wrap="square" lIns="45720" rIns="45720" tIns="18288" bIns="18288" anchor="t">
            <a:spAutoFit/>
          </a:bodyPr>
          <a:lstStyle/>
          <a:p>
            <a:pPr algn="l"/>
            <a:r>
              <a:rPr sz="1100" b="1" i="0">
                <a:solidFill>
                  <a:srgbClr val="1A2744"/>
                </a:solidFill>
                <a:latin typeface="Consolas"/>
              </a:rPr>
              <a:t>34 CFR § 104.22(a) — verbatim:</a:t>
            </a:r>
          </a:p>
        </p:txBody>
      </p:sp>
      <p:sp>
        <p:nvSpPr>
          <p:cNvPr id="13" name="TextBox 12"/>
          <p:cNvSpPr txBox="1"/>
          <p:nvPr/>
        </p:nvSpPr>
        <p:spPr>
          <a:xfrm>
            <a:off x="777240" y="2377440"/>
            <a:ext cx="10698480" cy="1371600"/>
          </a:xfrm>
          <a:prstGeom prst="rect">
            <a:avLst/>
          </a:prstGeom>
          <a:noFill/>
        </p:spPr>
        <p:txBody>
          <a:bodyPr wrap="square" lIns="45720" rIns="45720" tIns="18288" bIns="18288" anchor="t">
            <a:spAutoFit/>
          </a:bodyPr>
          <a:lstStyle/>
          <a:p>
            <a:pPr algn="l"/>
            <a:r>
              <a:rPr sz="1300" b="0" i="1">
                <a:solidFill>
                  <a:srgbClr val="1A1A1A"/>
                </a:solidFill>
                <a:latin typeface="Calibri"/>
              </a:rPr>
              <a:t>"A recipient shall operate its program or activity so that when each part is viewed in its entirety, it is readily accessible to handicapped persons. This paragraph does not require a recipient to make each of its existing facilities or every part of a facility accessible to and usable by handicapped persons."</a:t>
            </a:r>
          </a:p>
        </p:txBody>
      </p:sp>
      <p:sp>
        <p:nvSpPr>
          <p:cNvPr id="14" name="TextBox 13"/>
          <p:cNvSpPr txBox="1"/>
          <p:nvPr/>
        </p:nvSpPr>
        <p:spPr>
          <a:xfrm>
            <a:off x="502920" y="4023360"/>
            <a:ext cx="11247120" cy="365760"/>
          </a:xfrm>
          <a:prstGeom prst="rect">
            <a:avLst/>
          </a:prstGeom>
          <a:noFill/>
        </p:spPr>
        <p:txBody>
          <a:bodyPr wrap="square" lIns="45720" rIns="45720" tIns="18288" bIns="18288" anchor="t">
            <a:spAutoFit/>
          </a:bodyPr>
          <a:lstStyle/>
          <a:p>
            <a:pPr algn="l"/>
            <a:r>
              <a:rPr sz="1500" b="1" i="0">
                <a:solidFill>
                  <a:srgbClr val="1A2744"/>
                </a:solidFill>
                <a:latin typeface="Calibri"/>
              </a:rPr>
              <a:t>What this means in practice:</a:t>
            </a:r>
          </a:p>
        </p:txBody>
      </p:sp>
      <p:sp>
        <p:nvSpPr>
          <p:cNvPr id="15" name="TextBox 14"/>
          <p:cNvSpPr txBox="1"/>
          <p:nvPr/>
        </p:nvSpPr>
        <p:spPr>
          <a:xfrm>
            <a:off x="502920" y="4434840"/>
            <a:ext cx="11247120" cy="2286000"/>
          </a:xfrm>
          <a:prstGeom prst="rect">
            <a:avLst/>
          </a:prstGeom>
          <a:noFill/>
        </p:spPr>
        <p:txBody>
          <a:bodyPr wrap="square" lIns="45720" rIns="45720">
            <a:spAutoFit/>
          </a:bodyPr>
          <a:lstStyle/>
          <a:p>
            <a:pPr algn="l">
              <a:spcAft>
                <a:spcPts val="600"/>
              </a:spcAft>
            </a:pPr>
            <a:r>
              <a:rPr sz="1300" b="1">
                <a:solidFill>
                  <a:srgbClr val="1A1A1A"/>
                </a:solidFill>
                <a:latin typeface="Calibri"/>
              </a:rPr>
              <a:t>•  Program-as-a-whole.</a:t>
            </a:r>
            <a:r>
              <a:rPr sz="1300">
                <a:solidFill>
                  <a:srgbClr val="1A1A1A"/>
                </a:solidFill>
                <a:latin typeface="Calibri"/>
              </a:rPr>
              <a:t>  Accessibility is evaluated at the program level, not the building level. The question is: can a student with a disability access the program?</a:t>
            </a:r>
          </a:p>
          <a:p>
            <a:pPr algn="l">
              <a:spcAft>
                <a:spcPts val="600"/>
              </a:spcAft>
            </a:pPr>
            <a:r>
              <a:rPr sz="1300" b="1">
                <a:solidFill>
                  <a:srgbClr val="1A1A1A"/>
                </a:solidFill>
                <a:latin typeface="Calibri"/>
              </a:rPr>
              <a:t>•  No retroactive code.</a:t>
            </a:r>
            <a:r>
              <a:rPr sz="1300">
                <a:solidFill>
                  <a:srgbClr val="1A1A1A"/>
                </a:solidFill>
                <a:latin typeface="Calibri"/>
              </a:rPr>
              <a:t>  Pre-Jun-4-1977 facilities do not need to comply with ANSI, UFAS, or ADA dimensional standards.</a:t>
            </a:r>
          </a:p>
          <a:p>
            <a:pPr algn="l">
              <a:spcAft>
                <a:spcPts val="600"/>
              </a:spcAft>
            </a:pPr>
            <a:r>
              <a:rPr sz="1300" b="1">
                <a:solidFill>
                  <a:srgbClr val="1A1A1A"/>
                </a:solidFill>
                <a:latin typeface="Calibri"/>
              </a:rPr>
              <a:t>•  Methods are flexible.</a:t>
            </a:r>
            <a:r>
              <a:rPr sz="1300">
                <a:solidFill>
                  <a:srgbClr val="1A1A1A"/>
                </a:solidFill>
                <a:latin typeface="Calibri"/>
              </a:rPr>
              <a:t>  Compliance can be achieved by relocating the program, reassigning sections, providing auxiliary aids, or — only when nothing else works — making structural changes.</a:t>
            </a:r>
          </a:p>
          <a:p>
            <a:pPr algn="l">
              <a:spcAft>
                <a:spcPts val="600"/>
              </a:spcAft>
            </a:pPr>
            <a:r>
              <a:rPr sz="1300" b="1">
                <a:solidFill>
                  <a:srgbClr val="1A1A1A"/>
                </a:solidFill>
                <a:latin typeface="Calibri"/>
              </a:rPr>
              <a:t>•  Structural change is last resort.</a:t>
            </a:r>
            <a:r>
              <a:rPr sz="1300">
                <a:solidFill>
                  <a:srgbClr val="1A1A1A"/>
                </a:solidFill>
                <a:latin typeface="Calibri"/>
              </a:rPr>
              <a:t>  Title II § 35.150(b)(1): structural changes are required only when there is no other feasible method.</a:t>
            </a:r>
          </a:p>
        </p:txBody>
      </p:sp>
      <p:sp>
        <p:nvSpPr>
          <p:cNvPr id="16" name="TextBox 15"/>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7" name="TextBox 16"/>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19 / 63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20 · PROGRAM ACCESS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What "viewed in its entirety" means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The four methods of providing program access — in priority order.</a:t>
            </a:r>
          </a:p>
        </p:txBody>
      </p:sp>
      <p:sp>
        <p:nvSpPr>
          <p:cNvPr id="10" name="Rectangle 9"/>
          <p:cNvSpPr/>
          <p:nvPr/>
        </p:nvSpPr>
        <p:spPr>
          <a:xfrm>
            <a:off x="502920" y="1920240"/>
            <a:ext cx="822960" cy="9601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920240"/>
            <a:ext cx="822960" cy="960120"/>
          </a:xfrm>
          <a:prstGeom prst="rect">
            <a:avLst/>
          </a:prstGeom>
          <a:noFill/>
        </p:spPr>
        <p:txBody>
          <a:bodyPr wrap="square" lIns="45720" rIns="45720" tIns="18288" bIns="18288" anchor="ctr">
            <a:spAutoFit/>
          </a:bodyPr>
          <a:lstStyle/>
          <a:p>
            <a:pPr algn="ctr"/>
            <a:r>
              <a:rPr sz="3600" b="1" i="0">
                <a:solidFill>
                  <a:srgbClr val="C8A84B"/>
                </a:solidFill>
                <a:latin typeface="Georgia"/>
              </a:rPr>
              <a:t>1</a:t>
            </a:r>
          </a:p>
        </p:txBody>
      </p:sp>
      <p:sp>
        <p:nvSpPr>
          <p:cNvPr id="12" name="Rectangle 11"/>
          <p:cNvSpPr/>
          <p:nvPr/>
        </p:nvSpPr>
        <p:spPr>
          <a:xfrm>
            <a:off x="1417320" y="1920240"/>
            <a:ext cx="10332720" cy="9601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0200" y="2011680"/>
            <a:ext cx="10058400" cy="320040"/>
          </a:xfrm>
          <a:prstGeom prst="rect">
            <a:avLst/>
          </a:prstGeom>
          <a:noFill/>
        </p:spPr>
        <p:txBody>
          <a:bodyPr wrap="square" lIns="45720" rIns="45720" tIns="18288" bIns="18288" anchor="t">
            <a:spAutoFit/>
          </a:bodyPr>
          <a:lstStyle/>
          <a:p>
            <a:pPr algn="l"/>
            <a:r>
              <a:rPr sz="1500" b="1" i="0">
                <a:solidFill>
                  <a:srgbClr val="1A2744"/>
                </a:solidFill>
                <a:latin typeface="Calibri"/>
              </a:rPr>
              <a:t>Relocate the program</a:t>
            </a:r>
          </a:p>
        </p:txBody>
      </p:sp>
      <p:sp>
        <p:nvSpPr>
          <p:cNvPr id="14" name="TextBox 13"/>
          <p:cNvSpPr txBox="1"/>
          <p:nvPr/>
        </p:nvSpPr>
        <p:spPr>
          <a:xfrm>
            <a:off x="1600200" y="2331720"/>
            <a:ext cx="10058400" cy="548640"/>
          </a:xfrm>
          <a:prstGeom prst="rect">
            <a:avLst/>
          </a:prstGeom>
          <a:noFill/>
        </p:spPr>
        <p:txBody>
          <a:bodyPr wrap="square" lIns="45720" rIns="45720" tIns="18288" bIns="18288" anchor="t">
            <a:spAutoFit/>
          </a:bodyPr>
          <a:lstStyle/>
          <a:p>
            <a:pPr algn="l"/>
            <a:r>
              <a:rPr sz="1200" b="0" i="0">
                <a:solidFill>
                  <a:srgbClr val="1A1A1A"/>
                </a:solidFill>
                <a:latin typeface="Calibri"/>
              </a:rPr>
              <a:t>Move the inaccessible class section to a building or room that IS accessible. The most common and cheapest method.</a:t>
            </a:r>
          </a:p>
        </p:txBody>
      </p:sp>
      <p:sp>
        <p:nvSpPr>
          <p:cNvPr id="15" name="Rectangle 14"/>
          <p:cNvSpPr/>
          <p:nvPr/>
        </p:nvSpPr>
        <p:spPr>
          <a:xfrm>
            <a:off x="10561320" y="2057400"/>
            <a:ext cx="1188720" cy="256032"/>
          </a:xfrm>
          <a:prstGeom prst="rect">
            <a:avLst/>
          </a:prstGeom>
          <a:solidFill>
            <a:srgbClr val="E5E7EB"/>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61320" y="2057400"/>
            <a:ext cx="118872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PA-COMPLIANT</a:t>
            </a:r>
          </a:p>
        </p:txBody>
      </p:sp>
      <p:sp>
        <p:nvSpPr>
          <p:cNvPr id="17" name="Rectangle 16"/>
          <p:cNvSpPr/>
          <p:nvPr/>
        </p:nvSpPr>
        <p:spPr>
          <a:xfrm>
            <a:off x="502920" y="3017520"/>
            <a:ext cx="822960" cy="9601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017520"/>
            <a:ext cx="822960" cy="960120"/>
          </a:xfrm>
          <a:prstGeom prst="rect">
            <a:avLst/>
          </a:prstGeom>
          <a:noFill/>
        </p:spPr>
        <p:txBody>
          <a:bodyPr wrap="square" lIns="45720" rIns="45720" tIns="18288" bIns="18288" anchor="ctr">
            <a:spAutoFit/>
          </a:bodyPr>
          <a:lstStyle/>
          <a:p>
            <a:pPr algn="ctr"/>
            <a:r>
              <a:rPr sz="3600" b="1" i="0">
                <a:solidFill>
                  <a:srgbClr val="C8A84B"/>
                </a:solidFill>
                <a:latin typeface="Georgia"/>
              </a:rPr>
              <a:t>2</a:t>
            </a:r>
          </a:p>
        </p:txBody>
      </p:sp>
      <p:sp>
        <p:nvSpPr>
          <p:cNvPr id="19" name="Rectangle 18"/>
          <p:cNvSpPr/>
          <p:nvPr/>
        </p:nvSpPr>
        <p:spPr>
          <a:xfrm>
            <a:off x="1417320" y="3017520"/>
            <a:ext cx="10332720" cy="9601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00200" y="3108960"/>
            <a:ext cx="10058400" cy="320040"/>
          </a:xfrm>
          <a:prstGeom prst="rect">
            <a:avLst/>
          </a:prstGeom>
          <a:noFill/>
        </p:spPr>
        <p:txBody>
          <a:bodyPr wrap="square" lIns="45720" rIns="45720" tIns="18288" bIns="18288" anchor="t">
            <a:spAutoFit/>
          </a:bodyPr>
          <a:lstStyle/>
          <a:p>
            <a:pPr algn="l"/>
            <a:r>
              <a:rPr sz="1500" b="1" i="0">
                <a:solidFill>
                  <a:srgbClr val="1A2744"/>
                </a:solidFill>
                <a:latin typeface="Calibri"/>
              </a:rPr>
              <a:t>Reassign students or staff</a:t>
            </a:r>
          </a:p>
        </p:txBody>
      </p:sp>
      <p:sp>
        <p:nvSpPr>
          <p:cNvPr id="21" name="TextBox 20"/>
          <p:cNvSpPr txBox="1"/>
          <p:nvPr/>
        </p:nvSpPr>
        <p:spPr>
          <a:xfrm>
            <a:off x="1600200" y="3429000"/>
            <a:ext cx="10058400" cy="548640"/>
          </a:xfrm>
          <a:prstGeom prst="rect">
            <a:avLst/>
          </a:prstGeom>
          <a:noFill/>
        </p:spPr>
        <p:txBody>
          <a:bodyPr wrap="square" lIns="45720" rIns="45720" tIns="18288" bIns="18288" anchor="t">
            <a:spAutoFit/>
          </a:bodyPr>
          <a:lstStyle/>
          <a:p>
            <a:pPr algn="l"/>
            <a:r>
              <a:rPr sz="1200" b="0" i="0">
                <a:solidFill>
                  <a:srgbClr val="1A1A1A"/>
                </a:solidFill>
                <a:latin typeface="Calibri"/>
              </a:rPr>
              <a:t>If multiple sections exist, offer the accessible section to the student who needs it. Works for shared programs (math, English).</a:t>
            </a:r>
          </a:p>
        </p:txBody>
      </p:sp>
      <p:sp>
        <p:nvSpPr>
          <p:cNvPr id="22" name="Rectangle 21"/>
          <p:cNvSpPr/>
          <p:nvPr/>
        </p:nvSpPr>
        <p:spPr>
          <a:xfrm>
            <a:off x="10561320" y="3154680"/>
            <a:ext cx="1188720" cy="256032"/>
          </a:xfrm>
          <a:prstGeom prst="rect">
            <a:avLst/>
          </a:prstGeom>
          <a:solidFill>
            <a:srgbClr val="E5E7EB"/>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61320" y="3154680"/>
            <a:ext cx="118872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PA-COMPLIANT</a:t>
            </a:r>
          </a:p>
        </p:txBody>
      </p:sp>
      <p:sp>
        <p:nvSpPr>
          <p:cNvPr id="24" name="Rectangle 23"/>
          <p:cNvSpPr/>
          <p:nvPr/>
        </p:nvSpPr>
        <p:spPr>
          <a:xfrm>
            <a:off x="502920" y="4114800"/>
            <a:ext cx="822960" cy="9601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114800"/>
            <a:ext cx="822960" cy="960120"/>
          </a:xfrm>
          <a:prstGeom prst="rect">
            <a:avLst/>
          </a:prstGeom>
          <a:noFill/>
        </p:spPr>
        <p:txBody>
          <a:bodyPr wrap="square" lIns="45720" rIns="45720" tIns="18288" bIns="18288" anchor="ctr">
            <a:spAutoFit/>
          </a:bodyPr>
          <a:lstStyle/>
          <a:p>
            <a:pPr algn="ctr"/>
            <a:r>
              <a:rPr sz="3600" b="1" i="0">
                <a:solidFill>
                  <a:srgbClr val="C8A84B"/>
                </a:solidFill>
                <a:latin typeface="Georgia"/>
              </a:rPr>
              <a:t>3</a:t>
            </a:r>
          </a:p>
        </p:txBody>
      </p:sp>
      <p:sp>
        <p:nvSpPr>
          <p:cNvPr id="26" name="Rectangle 25"/>
          <p:cNvSpPr/>
          <p:nvPr/>
        </p:nvSpPr>
        <p:spPr>
          <a:xfrm>
            <a:off x="1417320" y="4114800"/>
            <a:ext cx="10332720" cy="9601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00200" y="4206240"/>
            <a:ext cx="10058400" cy="320040"/>
          </a:xfrm>
          <a:prstGeom prst="rect">
            <a:avLst/>
          </a:prstGeom>
          <a:noFill/>
        </p:spPr>
        <p:txBody>
          <a:bodyPr wrap="square" lIns="45720" rIns="45720" tIns="18288" bIns="18288" anchor="t">
            <a:spAutoFit/>
          </a:bodyPr>
          <a:lstStyle/>
          <a:p>
            <a:pPr algn="l"/>
            <a:r>
              <a:rPr sz="1500" b="1" i="0">
                <a:solidFill>
                  <a:srgbClr val="1A2744"/>
                </a:solidFill>
                <a:latin typeface="Calibri"/>
              </a:rPr>
              <a:t>Provide auxiliary aids and services</a:t>
            </a:r>
          </a:p>
        </p:txBody>
      </p:sp>
      <p:sp>
        <p:nvSpPr>
          <p:cNvPr id="28" name="TextBox 27"/>
          <p:cNvSpPr txBox="1"/>
          <p:nvPr/>
        </p:nvSpPr>
        <p:spPr>
          <a:xfrm>
            <a:off x="1600200" y="4526280"/>
            <a:ext cx="10058400" cy="548640"/>
          </a:xfrm>
          <a:prstGeom prst="rect">
            <a:avLst/>
          </a:prstGeom>
          <a:noFill/>
        </p:spPr>
        <p:txBody>
          <a:bodyPr wrap="square" lIns="45720" rIns="45720" tIns="18288" bIns="18288" anchor="t">
            <a:spAutoFit/>
          </a:bodyPr>
          <a:lstStyle/>
          <a:p>
            <a:pPr algn="l"/>
            <a:r>
              <a:rPr sz="1200" b="0" i="0">
                <a:solidFill>
                  <a:srgbClr val="1A1A1A"/>
                </a:solidFill>
                <a:latin typeface="Calibri"/>
              </a:rPr>
              <a:t>Sign-language interpreters, large-print materials, assistive technology. Effective for sensory and learning barriers — less so for mobility.</a:t>
            </a:r>
          </a:p>
        </p:txBody>
      </p:sp>
      <p:sp>
        <p:nvSpPr>
          <p:cNvPr id="29" name="Rectangle 28"/>
          <p:cNvSpPr/>
          <p:nvPr/>
        </p:nvSpPr>
        <p:spPr>
          <a:xfrm>
            <a:off x="10561320" y="4251960"/>
            <a:ext cx="1188720" cy="256032"/>
          </a:xfrm>
          <a:prstGeom prst="rect">
            <a:avLst/>
          </a:prstGeom>
          <a:solidFill>
            <a:srgbClr val="E5E7EB"/>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61320" y="4251960"/>
            <a:ext cx="118872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PA-COMPLIANT</a:t>
            </a:r>
          </a:p>
        </p:txBody>
      </p:sp>
      <p:sp>
        <p:nvSpPr>
          <p:cNvPr id="31" name="Rectangle 30"/>
          <p:cNvSpPr/>
          <p:nvPr/>
        </p:nvSpPr>
        <p:spPr>
          <a:xfrm>
            <a:off x="502920" y="5212079"/>
            <a:ext cx="822960" cy="9601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5212079"/>
            <a:ext cx="822960" cy="960120"/>
          </a:xfrm>
          <a:prstGeom prst="rect">
            <a:avLst/>
          </a:prstGeom>
          <a:noFill/>
        </p:spPr>
        <p:txBody>
          <a:bodyPr wrap="square" lIns="45720" rIns="45720" tIns="18288" bIns="18288" anchor="ctr">
            <a:spAutoFit/>
          </a:bodyPr>
          <a:lstStyle/>
          <a:p>
            <a:pPr algn="ctr"/>
            <a:r>
              <a:rPr sz="3600" b="1" i="0">
                <a:solidFill>
                  <a:srgbClr val="C8A84B"/>
                </a:solidFill>
                <a:latin typeface="Georgia"/>
              </a:rPr>
              <a:t>4</a:t>
            </a:r>
          </a:p>
        </p:txBody>
      </p:sp>
      <p:sp>
        <p:nvSpPr>
          <p:cNvPr id="33" name="Rectangle 32"/>
          <p:cNvSpPr/>
          <p:nvPr/>
        </p:nvSpPr>
        <p:spPr>
          <a:xfrm>
            <a:off x="1417320" y="5212079"/>
            <a:ext cx="10332720" cy="9601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00200" y="5303519"/>
            <a:ext cx="10058400" cy="320040"/>
          </a:xfrm>
          <a:prstGeom prst="rect">
            <a:avLst/>
          </a:prstGeom>
          <a:noFill/>
        </p:spPr>
        <p:txBody>
          <a:bodyPr wrap="square" lIns="45720" rIns="45720" tIns="18288" bIns="18288" anchor="t">
            <a:spAutoFit/>
          </a:bodyPr>
          <a:lstStyle/>
          <a:p>
            <a:pPr algn="l"/>
            <a:r>
              <a:rPr sz="1500" b="1" i="0">
                <a:solidFill>
                  <a:srgbClr val="1A2744"/>
                </a:solidFill>
                <a:latin typeface="Calibri"/>
              </a:rPr>
              <a:t>Structural alteration</a:t>
            </a:r>
          </a:p>
        </p:txBody>
      </p:sp>
      <p:sp>
        <p:nvSpPr>
          <p:cNvPr id="35" name="TextBox 34"/>
          <p:cNvSpPr txBox="1"/>
          <p:nvPr/>
        </p:nvSpPr>
        <p:spPr>
          <a:xfrm>
            <a:off x="1600200" y="5623559"/>
            <a:ext cx="10058400" cy="548640"/>
          </a:xfrm>
          <a:prstGeom prst="rect">
            <a:avLst/>
          </a:prstGeom>
          <a:noFill/>
        </p:spPr>
        <p:txBody>
          <a:bodyPr wrap="square" lIns="45720" rIns="45720" tIns="18288" bIns="18288" anchor="t">
            <a:spAutoFit/>
          </a:bodyPr>
          <a:lstStyle/>
          <a:p>
            <a:pPr algn="l"/>
            <a:r>
              <a:rPr sz="1200" b="0" i="0">
                <a:solidFill>
                  <a:srgbClr val="1A1A1A"/>
                </a:solidFill>
                <a:latin typeface="Calibri"/>
              </a:rPr>
              <a:t>Last resort. Triggers full 2010 ADA design compliance on the altered element. Required only when no other method works.</a:t>
            </a:r>
          </a:p>
        </p:txBody>
      </p:sp>
      <p:sp>
        <p:nvSpPr>
          <p:cNvPr id="36" name="Rectangle 35"/>
          <p:cNvSpPr/>
          <p:nvPr/>
        </p:nvSpPr>
        <p:spPr>
          <a:xfrm>
            <a:off x="10561320" y="5349239"/>
            <a:ext cx="1188720" cy="256032"/>
          </a:xfrm>
          <a:prstGeom prst="rect">
            <a:avLst/>
          </a:prstGeom>
          <a:solidFill>
            <a:srgbClr val="FEE2E2"/>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61320" y="5349239"/>
            <a:ext cx="118872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TRIGGERS 2010 ADA</a:t>
            </a:r>
          </a:p>
        </p:txBody>
      </p:sp>
      <p:sp>
        <p:nvSpPr>
          <p:cNvPr id="38" name="TextBox 37"/>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39" name="TextBox 38"/>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20 / 63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21 · PROGRAM ACCESS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The "None / None" rule</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411480"/>
          </a:xfrm>
          <a:prstGeom prst="rect">
            <a:avLst/>
          </a:prstGeom>
          <a:noFill/>
        </p:spPr>
        <p:txBody>
          <a:bodyPr wrap="square" lIns="45720" rIns="45720" tIns="18288" bIns="18288" anchor="t">
            <a:spAutoFit/>
          </a:bodyPr>
          <a:lstStyle/>
          <a:p>
            <a:pPr algn="l"/>
            <a:r>
              <a:rPr sz="1500" b="0" i="1">
                <a:solidFill>
                  <a:srgbClr val="1A2744"/>
                </a:solidFill>
                <a:latin typeface="Calibri"/>
              </a:rPr>
              <a:t>If the applicable standard is Program Access, the Accessibility Violation and Corrective Actions columns both read "None." — every time.</a:t>
            </a:r>
          </a:p>
        </p:txBody>
      </p:sp>
      <p:sp>
        <p:nvSpPr>
          <p:cNvPr id="10" name="TextBox 9"/>
          <p:cNvSpPr txBox="1"/>
          <p:nvPr/>
        </p:nvSpPr>
        <p:spPr>
          <a:xfrm>
            <a:off x="502920" y="2011680"/>
            <a:ext cx="11247120" cy="365760"/>
          </a:xfrm>
          <a:prstGeom prst="rect">
            <a:avLst/>
          </a:prstGeom>
          <a:noFill/>
        </p:spPr>
        <p:txBody>
          <a:bodyPr wrap="square" lIns="45720" rIns="45720" tIns="18288" bIns="18288" anchor="t">
            <a:spAutoFit/>
          </a:bodyPr>
          <a:lstStyle/>
          <a:p>
            <a:pPr algn="l"/>
            <a:r>
              <a:rPr sz="1300" b="1" i="0">
                <a:solidFill>
                  <a:srgbClr val="6B6659"/>
                </a:solidFill>
                <a:latin typeface="Calibri"/>
              </a:rPr>
              <a:t>What the LOF table row looks like:</a:t>
            </a:r>
          </a:p>
        </p:txBody>
      </p:sp>
      <p:sp>
        <p:nvSpPr>
          <p:cNvPr id="11" name="Rectangle 10"/>
          <p:cNvSpPr/>
          <p:nvPr/>
        </p:nvSpPr>
        <p:spPr>
          <a:xfrm>
            <a:off x="502920" y="2423160"/>
            <a:ext cx="3337560" cy="38404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423160"/>
            <a:ext cx="3337560" cy="384048"/>
          </a:xfrm>
          <a:prstGeom prst="rect">
            <a:avLst/>
          </a:prstGeom>
          <a:noFill/>
        </p:spPr>
        <p:txBody>
          <a:bodyPr wrap="square" lIns="45720" rIns="45720" tIns="18288" bIns="18288" anchor="ctr">
            <a:spAutoFit/>
          </a:bodyPr>
          <a:lstStyle/>
          <a:p>
            <a:pPr algn="ctr"/>
            <a:r>
              <a:rPr sz="1000" b="1" i="0">
                <a:solidFill>
                  <a:srgbClr val="C8A84B"/>
                </a:solidFill>
                <a:latin typeface="Consolas"/>
              </a:rPr>
              <a:t>AREA REVIEWED</a:t>
            </a:r>
          </a:p>
        </p:txBody>
      </p:sp>
      <p:sp>
        <p:nvSpPr>
          <p:cNvPr id="13" name="Rectangle 12"/>
          <p:cNvSpPr/>
          <p:nvPr/>
        </p:nvSpPr>
        <p:spPr>
          <a:xfrm>
            <a:off x="3840480" y="2423160"/>
            <a:ext cx="2103120" cy="38404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0" y="2423160"/>
            <a:ext cx="2103120" cy="384048"/>
          </a:xfrm>
          <a:prstGeom prst="rect">
            <a:avLst/>
          </a:prstGeom>
          <a:noFill/>
        </p:spPr>
        <p:txBody>
          <a:bodyPr wrap="square" lIns="45720" rIns="45720" tIns="18288" bIns="18288" anchor="ctr">
            <a:spAutoFit/>
          </a:bodyPr>
          <a:lstStyle/>
          <a:p>
            <a:pPr algn="ctr"/>
            <a:r>
              <a:rPr sz="1000" b="1" i="0">
                <a:solidFill>
                  <a:srgbClr val="C8A84B"/>
                </a:solidFill>
                <a:latin typeface="Consolas"/>
              </a:rPr>
              <a:t>APPLICABLE STANDARD</a:t>
            </a:r>
          </a:p>
        </p:txBody>
      </p:sp>
      <p:sp>
        <p:nvSpPr>
          <p:cNvPr id="15" name="Rectangle 14"/>
          <p:cNvSpPr/>
          <p:nvPr/>
        </p:nvSpPr>
        <p:spPr>
          <a:xfrm>
            <a:off x="5943600" y="2423160"/>
            <a:ext cx="2834640" cy="38404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0" y="2423160"/>
            <a:ext cx="2834640" cy="384048"/>
          </a:xfrm>
          <a:prstGeom prst="rect">
            <a:avLst/>
          </a:prstGeom>
          <a:noFill/>
        </p:spPr>
        <p:txBody>
          <a:bodyPr wrap="square" lIns="45720" rIns="45720" tIns="18288" bIns="18288" anchor="ctr">
            <a:spAutoFit/>
          </a:bodyPr>
          <a:lstStyle/>
          <a:p>
            <a:pPr algn="ctr"/>
            <a:r>
              <a:rPr sz="1000" b="1" i="0">
                <a:solidFill>
                  <a:srgbClr val="C8A84B"/>
                </a:solidFill>
                <a:latin typeface="Consolas"/>
              </a:rPr>
              <a:t>ACCESSIBILITY VIOLATION</a:t>
            </a:r>
          </a:p>
        </p:txBody>
      </p:sp>
      <p:sp>
        <p:nvSpPr>
          <p:cNvPr id="17" name="Rectangle 16"/>
          <p:cNvSpPr/>
          <p:nvPr/>
        </p:nvSpPr>
        <p:spPr>
          <a:xfrm>
            <a:off x="8778240" y="2423160"/>
            <a:ext cx="3017520" cy="38404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0" y="2423160"/>
            <a:ext cx="3017520" cy="384048"/>
          </a:xfrm>
          <a:prstGeom prst="rect">
            <a:avLst/>
          </a:prstGeom>
          <a:noFill/>
        </p:spPr>
        <p:txBody>
          <a:bodyPr wrap="square" lIns="45720" rIns="45720" tIns="18288" bIns="18288" anchor="ctr">
            <a:spAutoFit/>
          </a:bodyPr>
          <a:lstStyle/>
          <a:p>
            <a:pPr algn="ctr"/>
            <a:r>
              <a:rPr sz="1000" b="1" i="0">
                <a:solidFill>
                  <a:srgbClr val="C8A84B"/>
                </a:solidFill>
                <a:latin typeface="Consolas"/>
              </a:rPr>
              <a:t>CORRECTIVE ACTIONS</a:t>
            </a:r>
          </a:p>
        </p:txBody>
      </p:sp>
      <p:sp>
        <p:nvSpPr>
          <p:cNvPr id="19" name="Rectangle 18"/>
          <p:cNvSpPr/>
          <p:nvPr/>
        </p:nvSpPr>
        <p:spPr>
          <a:xfrm>
            <a:off x="502920" y="2807208"/>
            <a:ext cx="3337560" cy="1097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840480" y="2807208"/>
            <a:ext cx="2103120" cy="1097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0" y="2807208"/>
            <a:ext cx="2834640" cy="1097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778240" y="2807208"/>
            <a:ext cx="3017520" cy="1097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898648"/>
            <a:ext cx="3337560" cy="1005840"/>
          </a:xfrm>
          <a:prstGeom prst="rect">
            <a:avLst/>
          </a:prstGeom>
          <a:noFill/>
        </p:spPr>
        <p:txBody>
          <a:bodyPr wrap="square" lIns="45720" rIns="45720" tIns="18288" bIns="18288" anchor="t">
            <a:spAutoFit/>
          </a:bodyPr>
          <a:lstStyle/>
          <a:p>
            <a:pPr algn="l"/>
            <a:r>
              <a:rPr sz="1100" b="0" i="0">
                <a:solidFill>
                  <a:srgbClr val="1A1A1A"/>
                </a:solidFill>
                <a:latin typeface="Calibri"/>
              </a:rPr>
              <a:t>CTE Classrooms:</a:t>
            </a:r>
          </a:p>
          <a:p>
            <a:pPr algn="l"/>
            <a:r>
              <a:rPr sz="1100" b="0" i="0">
                <a:solidFill>
                  <a:srgbClr val="1A1A1A"/>
                </a:solidFill>
                <a:latin typeface="Calibri"/>
              </a:rPr>
              <a:t>Main shop building</a:t>
            </a:r>
          </a:p>
          <a:p>
            <a:pPr algn="l"/>
            <a:r>
              <a:rPr sz="1100" b="0" i="0">
                <a:solidFill>
                  <a:srgbClr val="1A1A1A"/>
                </a:solidFill>
                <a:latin typeface="Calibri"/>
              </a:rPr>
              <a:t>Constructed: 1965</a:t>
            </a:r>
          </a:p>
          <a:p>
            <a:pPr algn="l"/>
            <a:r>
              <a:rPr sz="1100" b="0" i="0">
                <a:solidFill>
                  <a:srgbClr val="1A1A1A"/>
                </a:solidFill>
                <a:latin typeface="Calibri"/>
              </a:rPr>
              <a:t>Modified: N/A</a:t>
            </a:r>
          </a:p>
        </p:txBody>
      </p:sp>
      <p:sp>
        <p:nvSpPr>
          <p:cNvPr id="24" name="Rectangle 23"/>
          <p:cNvSpPr/>
          <p:nvPr/>
        </p:nvSpPr>
        <p:spPr>
          <a:xfrm>
            <a:off x="4343400" y="3172968"/>
            <a:ext cx="1463040" cy="256032"/>
          </a:xfrm>
          <a:prstGeom prst="rect">
            <a:avLst/>
          </a:prstGeom>
          <a:solidFill>
            <a:srgbClr val="E5E7EB"/>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3172968"/>
            <a:ext cx="1463040" cy="256032"/>
          </a:xfrm>
          <a:prstGeom prst="rect">
            <a:avLst/>
          </a:prstGeom>
          <a:noFill/>
        </p:spPr>
        <p:txBody>
          <a:bodyPr wrap="square" lIns="45720" rIns="45720" tIns="18288" bIns="18288" anchor="ctr">
            <a:spAutoFit/>
          </a:bodyPr>
          <a:lstStyle/>
          <a:p>
            <a:pPr algn="ctr"/>
            <a:r>
              <a:rPr sz="1000" b="1" i="0">
                <a:solidFill>
                  <a:srgbClr val="374151"/>
                </a:solidFill>
                <a:latin typeface="Consolas"/>
              </a:rPr>
              <a:t>PROGRAM ACCESS</a:t>
            </a:r>
          </a:p>
        </p:txBody>
      </p:sp>
      <p:sp>
        <p:nvSpPr>
          <p:cNvPr id="26" name="TextBox 25"/>
          <p:cNvSpPr txBox="1"/>
          <p:nvPr/>
        </p:nvSpPr>
        <p:spPr>
          <a:xfrm>
            <a:off x="6080760" y="3172968"/>
            <a:ext cx="2834640" cy="548640"/>
          </a:xfrm>
          <a:prstGeom prst="rect">
            <a:avLst/>
          </a:prstGeom>
          <a:noFill/>
        </p:spPr>
        <p:txBody>
          <a:bodyPr wrap="square" lIns="45720" rIns="45720" tIns="18288" bIns="18288" anchor="t">
            <a:spAutoFit/>
          </a:bodyPr>
          <a:lstStyle/>
          <a:p>
            <a:pPr algn="ctr"/>
            <a:r>
              <a:rPr sz="2000" b="1" i="1">
                <a:solidFill>
                  <a:srgbClr val="6B6659"/>
                </a:solidFill>
                <a:latin typeface="Calibri"/>
              </a:rPr>
              <a:t>None.</a:t>
            </a:r>
          </a:p>
        </p:txBody>
      </p:sp>
      <p:sp>
        <p:nvSpPr>
          <p:cNvPr id="27" name="TextBox 26"/>
          <p:cNvSpPr txBox="1"/>
          <p:nvPr/>
        </p:nvSpPr>
        <p:spPr>
          <a:xfrm>
            <a:off x="8915400" y="3172968"/>
            <a:ext cx="3017520" cy="548640"/>
          </a:xfrm>
          <a:prstGeom prst="rect">
            <a:avLst/>
          </a:prstGeom>
          <a:noFill/>
        </p:spPr>
        <p:txBody>
          <a:bodyPr wrap="square" lIns="45720" rIns="45720" tIns="18288" bIns="18288" anchor="t">
            <a:spAutoFit/>
          </a:bodyPr>
          <a:lstStyle/>
          <a:p>
            <a:pPr algn="ctr"/>
            <a:r>
              <a:rPr sz="2000" b="1" i="1">
                <a:solidFill>
                  <a:srgbClr val="6B6659"/>
                </a:solidFill>
                <a:latin typeface="Calibri"/>
              </a:rPr>
              <a:t>None.</a:t>
            </a:r>
          </a:p>
        </p:txBody>
      </p:sp>
      <p:sp>
        <p:nvSpPr>
          <p:cNvPr id="28" name="Rectangle 27"/>
          <p:cNvSpPr/>
          <p:nvPr/>
        </p:nvSpPr>
        <p:spPr>
          <a:xfrm>
            <a:off x="502920" y="4206240"/>
            <a:ext cx="11247120" cy="22860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4206240"/>
            <a:ext cx="164592" cy="2286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343400"/>
            <a:ext cx="10972800" cy="365760"/>
          </a:xfrm>
          <a:prstGeom prst="rect">
            <a:avLst/>
          </a:prstGeom>
          <a:noFill/>
        </p:spPr>
        <p:txBody>
          <a:bodyPr wrap="square" lIns="45720" rIns="45720" tIns="18288" bIns="18288" anchor="t">
            <a:spAutoFit/>
          </a:bodyPr>
          <a:lstStyle/>
          <a:p>
            <a:pPr algn="l"/>
            <a:r>
              <a:rPr sz="1400" b="1" i="0">
                <a:solidFill>
                  <a:srgbClr val="1A2744"/>
                </a:solidFill>
                <a:latin typeface="Calibri"/>
              </a:rPr>
              <a:t>Why this rule exists — and why you must follow it:</a:t>
            </a:r>
          </a:p>
        </p:txBody>
      </p:sp>
      <p:sp>
        <p:nvSpPr>
          <p:cNvPr id="31" name="TextBox 30"/>
          <p:cNvSpPr txBox="1"/>
          <p:nvPr/>
        </p:nvSpPr>
        <p:spPr>
          <a:xfrm>
            <a:off x="777240" y="4709160"/>
            <a:ext cx="10698480" cy="1828800"/>
          </a:xfrm>
          <a:prstGeom prst="rect">
            <a:avLst/>
          </a:prstGeom>
          <a:noFill/>
        </p:spPr>
        <p:txBody>
          <a:bodyPr wrap="square" lIns="45720" rIns="45720">
            <a:spAutoFit/>
          </a:bodyPr>
          <a:lstStyle/>
          <a:p>
            <a:pPr algn="l">
              <a:spcAft>
                <a:spcPts val="400"/>
              </a:spcAft>
            </a:pPr>
            <a:r>
              <a:rPr sz="1200" b="0">
                <a:solidFill>
                  <a:srgbClr val="1A1A1A"/>
                </a:solidFill>
                <a:latin typeface="Calibri"/>
              </a:rPr>
              <a:t>•  Program Access is a program-level standard, not a dimensional code. There is no "violation" of a number that does not exist.</a:t>
            </a:r>
          </a:p>
          <a:p>
            <a:pPr algn="l">
              <a:spcAft>
                <a:spcPts val="400"/>
              </a:spcAft>
            </a:pPr>
            <a:r>
              <a:rPr sz="1200" b="0">
                <a:solidFill>
                  <a:srgbClr val="1A1A1A"/>
                </a:solidFill>
                <a:latin typeface="Calibri"/>
              </a:rPr>
              <a:t>•  Citing 2010 ADA against a pre-1977 building is legally incorrect — and reversible on appeal.</a:t>
            </a:r>
          </a:p>
          <a:p>
            <a:pPr algn="l">
              <a:spcAft>
                <a:spcPts val="400"/>
              </a:spcAft>
            </a:pPr>
            <a:r>
              <a:rPr sz="1200" b="0">
                <a:solidFill>
                  <a:srgbClr val="1A1A1A"/>
                </a:solidFill>
                <a:latin typeface="Calibri"/>
              </a:rPr>
              <a:t>•  Program-access concerns are addressed in narrative, NOT in the table. Use the LOF cover letter or recommendation section.</a:t>
            </a:r>
          </a:p>
          <a:p>
            <a:pPr algn="l">
              <a:spcAft>
                <a:spcPts val="400"/>
              </a:spcAft>
            </a:pPr>
            <a:r>
              <a:rPr sz="1200" b="0">
                <a:solidFill>
                  <a:srgbClr val="1A1A1A"/>
                </a:solidFill>
                <a:latin typeface="Calibri"/>
              </a:rPr>
              <a:t>•  If the LEA has a documented program-access plan, the row is fully compliant — no further action required.</a:t>
            </a:r>
          </a:p>
        </p:txBody>
      </p:sp>
      <p:sp>
        <p:nvSpPr>
          <p:cNvPr id="32" name="TextBox 31"/>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33" name="TextBox 32"/>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21 / 63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10972800" cy="457200"/>
          </a:xfrm>
          <a:prstGeom prst="rect">
            <a:avLst/>
          </a:prstGeom>
          <a:noFill/>
        </p:spPr>
        <p:txBody>
          <a:bodyPr wrap="square" lIns="45720" rIns="45720" tIns="18288" bIns="18288" anchor="t">
            <a:spAutoFit/>
          </a:bodyPr>
          <a:lstStyle/>
          <a:p>
            <a:pPr algn="l"/>
            <a:r>
              <a:rPr sz="1200" b="1" i="0">
                <a:solidFill>
                  <a:srgbClr val="C8A84B"/>
                </a:solidFill>
                <a:latin typeface="Consolas"/>
              </a:rPr>
              <a:t>KNOWLEDGE CHECK · 02</a:t>
            </a:r>
          </a:p>
        </p:txBody>
      </p:sp>
      <p:sp>
        <p:nvSpPr>
          <p:cNvPr id="5" name="TextBox 4"/>
          <p:cNvSpPr txBox="1"/>
          <p:nvPr/>
        </p:nvSpPr>
        <p:spPr>
          <a:xfrm>
            <a:off x="777240" y="1005840"/>
            <a:ext cx="10972800" cy="822960"/>
          </a:xfrm>
          <a:prstGeom prst="rect">
            <a:avLst/>
          </a:prstGeom>
          <a:noFill/>
        </p:spPr>
        <p:txBody>
          <a:bodyPr wrap="square" lIns="45720" rIns="45720" tIns="18288" bIns="18288" anchor="t">
            <a:spAutoFit/>
          </a:bodyPr>
          <a:lstStyle/>
          <a:p>
            <a:pPr algn="l"/>
            <a:r>
              <a:rPr sz="3200" b="1" i="0">
                <a:solidFill>
                  <a:srgbClr val="FFFFFF"/>
                </a:solidFill>
                <a:latin typeface="Georgia"/>
              </a:rPr>
              <a:t>Spot the Program Access pitfall</a:t>
            </a:r>
          </a:p>
        </p:txBody>
      </p:sp>
      <p:sp>
        <p:nvSpPr>
          <p:cNvPr id="6" name="Rectangle 5"/>
          <p:cNvSpPr/>
          <p:nvPr/>
        </p:nvSpPr>
        <p:spPr>
          <a:xfrm>
            <a:off x="777240" y="2011680"/>
            <a:ext cx="10927080" cy="137160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10515600" cy="1280160"/>
          </a:xfrm>
          <a:prstGeom prst="rect">
            <a:avLst/>
          </a:prstGeom>
          <a:noFill/>
        </p:spPr>
        <p:txBody>
          <a:bodyPr wrap="square" lIns="45720" rIns="45720" tIns="18288" bIns="18288" anchor="t">
            <a:spAutoFit/>
          </a:bodyPr>
          <a:lstStyle/>
          <a:p>
            <a:pPr algn="l"/>
            <a:r>
              <a:rPr sz="1400" b="0" i="0">
                <a:solidFill>
                  <a:srgbClr val="FFFFFF"/>
                </a:solidFill>
                <a:latin typeface="Calibri"/>
              </a:rPr>
              <a:t>You walk a 1969 ag building. The greenhouse has a 1:8 ramp slope (steeper than the 1:12 limit in 2010 ADA 405.2), the entrance door is 28" clear width (below the 32" minimum in 2010 ADA 404.2.3), and no ISA signage is mounted at the door (below the 48"–60" requirement in 2010 ADA 703.4.1).</a:t>
            </a:r>
          </a:p>
          <a:p>
            <a:pPr algn="l"/>
            <a:r>
              <a:rPr sz="1400" b="0" i="0">
                <a:solidFill>
                  <a:srgbClr val="FFFFFF"/>
                </a:solidFill>
                <a:latin typeface="Calibri"/>
              </a:rPr>
              <a:t/>
            </a:r>
          </a:p>
          <a:p>
            <a:pPr algn="l"/>
            <a:r>
              <a:rPr sz="1400" b="0" i="0">
                <a:solidFill>
                  <a:srgbClr val="FFFFFF"/>
                </a:solidFill>
                <a:latin typeface="Calibri"/>
              </a:rPr>
              <a:t>The LEA has not altered this building since 1969. There are no work orders, no DSA alteration approvals, and no ADA modification record.</a:t>
            </a:r>
          </a:p>
        </p:txBody>
      </p:sp>
      <p:sp>
        <p:nvSpPr>
          <p:cNvPr id="8" name="TextBox 7"/>
          <p:cNvSpPr txBox="1"/>
          <p:nvPr/>
        </p:nvSpPr>
        <p:spPr>
          <a:xfrm>
            <a:off x="777240" y="3611880"/>
            <a:ext cx="10972800" cy="411480"/>
          </a:xfrm>
          <a:prstGeom prst="rect">
            <a:avLst/>
          </a:prstGeom>
          <a:noFill/>
        </p:spPr>
        <p:txBody>
          <a:bodyPr wrap="square" lIns="45720" rIns="45720" tIns="18288" bIns="18288" anchor="t">
            <a:spAutoFit/>
          </a:bodyPr>
          <a:lstStyle/>
          <a:p>
            <a:pPr algn="l"/>
            <a:r>
              <a:rPr sz="1300" b="1" i="0">
                <a:solidFill>
                  <a:srgbClr val="C8A84B"/>
                </a:solidFill>
                <a:latin typeface="Consolas"/>
              </a:rPr>
              <a:t>QUESTION:</a:t>
            </a:r>
          </a:p>
        </p:txBody>
      </p:sp>
      <p:sp>
        <p:nvSpPr>
          <p:cNvPr id="9" name="TextBox 8"/>
          <p:cNvSpPr txBox="1"/>
          <p:nvPr/>
        </p:nvSpPr>
        <p:spPr>
          <a:xfrm>
            <a:off x="777240" y="4023360"/>
            <a:ext cx="10972800" cy="548640"/>
          </a:xfrm>
          <a:prstGeom prst="rect">
            <a:avLst/>
          </a:prstGeom>
          <a:noFill/>
        </p:spPr>
        <p:txBody>
          <a:bodyPr wrap="square" lIns="45720" rIns="45720" tIns="18288" bIns="18288" anchor="t">
            <a:spAutoFit/>
          </a:bodyPr>
          <a:lstStyle/>
          <a:p>
            <a:pPr algn="l"/>
            <a:r>
              <a:rPr sz="1800" b="1" i="0">
                <a:solidFill>
                  <a:srgbClr val="FFFFFF"/>
                </a:solidFill>
                <a:latin typeface="Calibri"/>
              </a:rPr>
              <a:t>What do you write in the Accessibility Violation column for this row?</a:t>
            </a:r>
          </a:p>
        </p:txBody>
      </p:sp>
      <p:sp>
        <p:nvSpPr>
          <p:cNvPr id="10" name="Rectangle 9"/>
          <p:cNvSpPr/>
          <p:nvPr/>
        </p:nvSpPr>
        <p:spPr>
          <a:xfrm>
            <a:off x="777240" y="4663440"/>
            <a:ext cx="365760" cy="3657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663440"/>
            <a:ext cx="365760" cy="365760"/>
          </a:xfrm>
          <a:prstGeom prst="rect">
            <a:avLst/>
          </a:prstGeom>
          <a:noFill/>
        </p:spPr>
        <p:txBody>
          <a:bodyPr wrap="square" lIns="45720" rIns="45720" tIns="18288" bIns="18288" anchor="ctr">
            <a:spAutoFit/>
          </a:bodyPr>
          <a:lstStyle/>
          <a:p>
            <a:pPr algn="ctr"/>
            <a:r>
              <a:rPr sz="1400" b="1" i="0">
                <a:solidFill>
                  <a:srgbClr val="1A2744"/>
                </a:solidFill>
                <a:latin typeface="Consolas"/>
              </a:rPr>
              <a:t>A</a:t>
            </a:r>
          </a:p>
        </p:txBody>
      </p:sp>
      <p:sp>
        <p:nvSpPr>
          <p:cNvPr id="12" name="TextBox 11"/>
          <p:cNvSpPr txBox="1"/>
          <p:nvPr/>
        </p:nvSpPr>
        <p:spPr>
          <a:xfrm>
            <a:off x="1234440" y="4663440"/>
            <a:ext cx="10515600" cy="365760"/>
          </a:xfrm>
          <a:prstGeom prst="rect">
            <a:avLst/>
          </a:prstGeom>
          <a:noFill/>
        </p:spPr>
        <p:txBody>
          <a:bodyPr wrap="square" lIns="45720" rIns="45720" tIns="18288" bIns="18288" anchor="ctr">
            <a:spAutoFit/>
          </a:bodyPr>
          <a:lstStyle/>
          <a:p>
            <a:pPr algn="l"/>
            <a:r>
              <a:rPr sz="1300" b="0" i="0">
                <a:solidFill>
                  <a:srgbClr val="FFFFFF"/>
                </a:solidFill>
                <a:latin typeface="Calibri"/>
              </a:rPr>
              <a:t>Cite ADA 2010 405.2 for the ramp, 404.2.3 for the door, 703.4.1 for the signage.</a:t>
            </a:r>
          </a:p>
        </p:txBody>
      </p:sp>
      <p:sp>
        <p:nvSpPr>
          <p:cNvPr id="13" name="Rectangle 12"/>
          <p:cNvSpPr/>
          <p:nvPr/>
        </p:nvSpPr>
        <p:spPr>
          <a:xfrm>
            <a:off x="777240" y="5074920"/>
            <a:ext cx="365760" cy="3657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074920"/>
            <a:ext cx="365760" cy="365760"/>
          </a:xfrm>
          <a:prstGeom prst="rect">
            <a:avLst/>
          </a:prstGeom>
          <a:noFill/>
        </p:spPr>
        <p:txBody>
          <a:bodyPr wrap="square" lIns="45720" rIns="45720" tIns="18288" bIns="18288" anchor="ctr">
            <a:spAutoFit/>
          </a:bodyPr>
          <a:lstStyle/>
          <a:p>
            <a:pPr algn="ctr"/>
            <a:r>
              <a:rPr sz="1400" b="1" i="0">
                <a:solidFill>
                  <a:srgbClr val="1A2744"/>
                </a:solidFill>
                <a:latin typeface="Consolas"/>
              </a:rPr>
              <a:t>B</a:t>
            </a:r>
          </a:p>
        </p:txBody>
      </p:sp>
      <p:sp>
        <p:nvSpPr>
          <p:cNvPr id="15" name="TextBox 14"/>
          <p:cNvSpPr txBox="1"/>
          <p:nvPr/>
        </p:nvSpPr>
        <p:spPr>
          <a:xfrm>
            <a:off x="1234440" y="5074920"/>
            <a:ext cx="10515600" cy="365760"/>
          </a:xfrm>
          <a:prstGeom prst="rect">
            <a:avLst/>
          </a:prstGeom>
          <a:noFill/>
        </p:spPr>
        <p:txBody>
          <a:bodyPr wrap="square" lIns="45720" rIns="45720" tIns="18288" bIns="18288" anchor="ctr">
            <a:spAutoFit/>
          </a:bodyPr>
          <a:lstStyle/>
          <a:p>
            <a:pPr algn="l"/>
            <a:r>
              <a:rPr sz="1300" b="0" i="0">
                <a:solidFill>
                  <a:srgbClr val="FFFFFF"/>
                </a:solidFill>
                <a:latin typeface="Calibri"/>
              </a:rPr>
              <a:t>Cite ANSI A117.1 4.8.2 for the ramp because the building is from 1969.</a:t>
            </a:r>
          </a:p>
        </p:txBody>
      </p:sp>
      <p:sp>
        <p:nvSpPr>
          <p:cNvPr id="16" name="Rectangle 15"/>
          <p:cNvSpPr/>
          <p:nvPr/>
        </p:nvSpPr>
        <p:spPr>
          <a:xfrm>
            <a:off x="777240" y="5486400"/>
            <a:ext cx="365760" cy="3657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486400"/>
            <a:ext cx="365760" cy="365760"/>
          </a:xfrm>
          <a:prstGeom prst="rect">
            <a:avLst/>
          </a:prstGeom>
          <a:noFill/>
        </p:spPr>
        <p:txBody>
          <a:bodyPr wrap="square" lIns="45720" rIns="45720" tIns="18288" bIns="18288" anchor="ctr">
            <a:spAutoFit/>
          </a:bodyPr>
          <a:lstStyle/>
          <a:p>
            <a:pPr algn="ctr"/>
            <a:r>
              <a:rPr sz="1400" b="1" i="0">
                <a:solidFill>
                  <a:srgbClr val="1A2744"/>
                </a:solidFill>
                <a:latin typeface="Consolas"/>
              </a:rPr>
              <a:t>C</a:t>
            </a:r>
          </a:p>
        </p:txBody>
      </p:sp>
      <p:sp>
        <p:nvSpPr>
          <p:cNvPr id="18" name="TextBox 17"/>
          <p:cNvSpPr txBox="1"/>
          <p:nvPr/>
        </p:nvSpPr>
        <p:spPr>
          <a:xfrm>
            <a:off x="1234440" y="5486400"/>
            <a:ext cx="10515600" cy="365760"/>
          </a:xfrm>
          <a:prstGeom prst="rect">
            <a:avLst/>
          </a:prstGeom>
          <a:noFill/>
        </p:spPr>
        <p:txBody>
          <a:bodyPr wrap="square" lIns="45720" rIns="45720" tIns="18288" bIns="18288" anchor="ctr">
            <a:spAutoFit/>
          </a:bodyPr>
          <a:lstStyle/>
          <a:p>
            <a:pPr algn="l"/>
            <a:r>
              <a:rPr sz="1300" b="0" i="0">
                <a:solidFill>
                  <a:srgbClr val="FFFFFF"/>
                </a:solidFill>
                <a:latin typeface="Calibri"/>
              </a:rPr>
              <a:t>"None."  Document the program-access concern in the narrative section instead.</a:t>
            </a:r>
          </a:p>
        </p:txBody>
      </p:sp>
      <p:sp>
        <p:nvSpPr>
          <p:cNvPr id="19" name="Rectangle 18"/>
          <p:cNvSpPr/>
          <p:nvPr/>
        </p:nvSpPr>
        <p:spPr>
          <a:xfrm>
            <a:off x="777240" y="5897879"/>
            <a:ext cx="365760" cy="3657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897879"/>
            <a:ext cx="365760" cy="365760"/>
          </a:xfrm>
          <a:prstGeom prst="rect">
            <a:avLst/>
          </a:prstGeom>
          <a:noFill/>
        </p:spPr>
        <p:txBody>
          <a:bodyPr wrap="square" lIns="45720" rIns="45720" tIns="18288" bIns="18288" anchor="ctr">
            <a:spAutoFit/>
          </a:bodyPr>
          <a:lstStyle/>
          <a:p>
            <a:pPr algn="ctr"/>
            <a:r>
              <a:rPr sz="1400" b="1" i="0">
                <a:solidFill>
                  <a:srgbClr val="1A2744"/>
                </a:solidFill>
                <a:latin typeface="Consolas"/>
              </a:rPr>
              <a:t>D</a:t>
            </a:r>
          </a:p>
        </p:txBody>
      </p:sp>
      <p:sp>
        <p:nvSpPr>
          <p:cNvPr id="21" name="TextBox 20"/>
          <p:cNvSpPr txBox="1"/>
          <p:nvPr/>
        </p:nvSpPr>
        <p:spPr>
          <a:xfrm>
            <a:off x="1234440" y="5897879"/>
            <a:ext cx="10515600" cy="365760"/>
          </a:xfrm>
          <a:prstGeom prst="rect">
            <a:avLst/>
          </a:prstGeom>
          <a:noFill/>
        </p:spPr>
        <p:txBody>
          <a:bodyPr wrap="square" lIns="45720" rIns="45720" tIns="18288" bIns="18288" anchor="ctr">
            <a:spAutoFit/>
          </a:bodyPr>
          <a:lstStyle/>
          <a:p>
            <a:pPr algn="l"/>
            <a:r>
              <a:rPr sz="1300" b="0" i="0">
                <a:solidFill>
                  <a:srgbClr val="FFFFFF"/>
                </a:solidFill>
                <a:latin typeface="Calibri"/>
              </a:rPr>
              <a:t>Cite 1991 ADA because it is the lowest common denominator.</a:t>
            </a:r>
          </a:p>
        </p:txBody>
      </p:sp>
      <p:sp>
        <p:nvSpPr>
          <p:cNvPr id="22" name="TextBox 21"/>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23" name="TextBox 22"/>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22 / 63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23 · ANSI</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ANSI A117.1 (1961, R1971) — overview</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058400" y="914400"/>
            <a:ext cx="1828800" cy="256032"/>
          </a:xfrm>
          <a:prstGeom prst="rect">
            <a:avLst/>
          </a:prstGeom>
          <a:solidFill>
            <a:srgbClr val="FEF9C3"/>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0" y="914400"/>
            <a:ext cx="1828800" cy="256032"/>
          </a:xfrm>
          <a:prstGeom prst="rect">
            <a:avLst/>
          </a:prstGeom>
          <a:noFill/>
        </p:spPr>
        <p:txBody>
          <a:bodyPr wrap="square" lIns="45720" rIns="45720" tIns="18288" bIns="18288" anchor="ctr">
            <a:spAutoFit/>
          </a:bodyPr>
          <a:lstStyle/>
          <a:p>
            <a:pPr algn="ctr"/>
            <a:r>
              <a:rPr sz="1000" b="1" i="0">
                <a:solidFill>
                  <a:srgbClr val="713F12"/>
                </a:solidFill>
                <a:latin typeface="Consolas"/>
              </a:rPr>
              <a:t>ANSI A117.1</a:t>
            </a:r>
          </a:p>
        </p:txBody>
      </p:sp>
      <p:sp>
        <p:nvSpPr>
          <p:cNvPr id="11" name="TextBox 10"/>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The first national accessibility standard — and the only one applicable to CA schools built 1977–1991.</a:t>
            </a:r>
          </a:p>
        </p:txBody>
      </p:sp>
      <p:sp>
        <p:nvSpPr>
          <p:cNvPr id="12" name="TextBox 11"/>
          <p:cNvSpPr txBox="1"/>
          <p:nvPr/>
        </p:nvSpPr>
        <p:spPr>
          <a:xfrm>
            <a:off x="502920" y="1874519"/>
            <a:ext cx="5486400" cy="365760"/>
          </a:xfrm>
          <a:prstGeom prst="rect">
            <a:avLst/>
          </a:prstGeom>
          <a:noFill/>
        </p:spPr>
        <p:txBody>
          <a:bodyPr wrap="square" lIns="45720" rIns="45720" tIns="18288" bIns="18288" anchor="t">
            <a:spAutoFit/>
          </a:bodyPr>
          <a:lstStyle/>
          <a:p>
            <a:pPr algn="l"/>
            <a:r>
              <a:rPr sz="1400" b="1" i="0">
                <a:solidFill>
                  <a:srgbClr val="1A2744"/>
                </a:solidFill>
                <a:latin typeface="Calibri"/>
              </a:rPr>
              <a:t>Scope facts</a:t>
            </a:r>
          </a:p>
        </p:txBody>
      </p:sp>
      <p:sp>
        <p:nvSpPr>
          <p:cNvPr id="13" name="TextBox 12"/>
          <p:cNvSpPr txBox="1"/>
          <p:nvPr/>
        </p:nvSpPr>
        <p:spPr>
          <a:xfrm>
            <a:off x="502920" y="2286000"/>
            <a:ext cx="5486400" cy="4114800"/>
          </a:xfrm>
          <a:prstGeom prst="rect">
            <a:avLst/>
          </a:prstGeom>
          <a:noFill/>
        </p:spPr>
        <p:txBody>
          <a:bodyPr wrap="square" lIns="45720" rIns="45720">
            <a:spAutoFit/>
          </a:bodyPr>
          <a:lstStyle/>
          <a:p>
            <a:pPr algn="l">
              <a:spcAft>
                <a:spcPts val="600"/>
              </a:spcAft>
            </a:pPr>
            <a:r>
              <a:rPr sz="1200" b="1">
                <a:solidFill>
                  <a:srgbClr val="1A1A1A"/>
                </a:solidFill>
                <a:latin typeface="Calibri"/>
              </a:rPr>
              <a:t>•  Authority.</a:t>
            </a:r>
            <a:r>
              <a:rPr sz="1200">
                <a:solidFill>
                  <a:srgbClr val="1A1A1A"/>
                </a:solidFill>
                <a:latin typeface="Calibri"/>
              </a:rPr>
              <a:t>  34 CFR § 104.23(a) — adopts ANSI as the § 504 design standard for new construction.</a:t>
            </a:r>
          </a:p>
          <a:p>
            <a:pPr algn="l">
              <a:spcAft>
                <a:spcPts val="600"/>
              </a:spcAft>
            </a:pPr>
            <a:r>
              <a:rPr sz="1200" b="1">
                <a:solidFill>
                  <a:srgbClr val="1A1A1A"/>
                </a:solidFill>
                <a:latin typeface="Calibri"/>
              </a:rPr>
              <a:t>•  Date window.</a:t>
            </a:r>
            <a:r>
              <a:rPr sz="1200">
                <a:solidFill>
                  <a:srgbClr val="1A1A1A"/>
                </a:solidFill>
                <a:latin typeface="Calibri"/>
              </a:rPr>
              <a:t>  June 4, 1977 – January 17, 1991, inclusive.</a:t>
            </a:r>
          </a:p>
          <a:p>
            <a:pPr algn="l">
              <a:spcAft>
                <a:spcPts val="600"/>
              </a:spcAft>
            </a:pPr>
            <a:r>
              <a:rPr sz="1200" b="1">
                <a:solidFill>
                  <a:srgbClr val="1A1A1A"/>
                </a:solidFill>
                <a:latin typeface="Calibri"/>
              </a:rPr>
              <a:t>•  Published.</a:t>
            </a:r>
            <a:r>
              <a:rPr sz="1200">
                <a:solidFill>
                  <a:srgbClr val="1A1A1A"/>
                </a:solidFill>
                <a:latin typeface="Calibri"/>
              </a:rPr>
              <a:t>  American National Standards Institute, 1961, reaffirmed 1971.</a:t>
            </a:r>
          </a:p>
          <a:p>
            <a:pPr algn="l">
              <a:spcAft>
                <a:spcPts val="600"/>
              </a:spcAft>
            </a:pPr>
            <a:r>
              <a:rPr sz="1200" b="1">
                <a:solidFill>
                  <a:srgbClr val="1A1A1A"/>
                </a:solidFill>
                <a:latin typeface="Calibri"/>
              </a:rPr>
              <a:t>•  Title.</a:t>
            </a:r>
            <a:r>
              <a:rPr sz="1200">
                <a:solidFill>
                  <a:srgbClr val="1A1A1A"/>
                </a:solidFill>
                <a:latin typeface="Calibri"/>
              </a:rPr>
              <a:t>  "American National Standard Specifications for Making Buildings and Facilities Accessible to, and Usable by, the Physically Disabled."</a:t>
            </a:r>
          </a:p>
          <a:p>
            <a:pPr algn="l">
              <a:spcAft>
                <a:spcPts val="600"/>
              </a:spcAft>
            </a:pPr>
            <a:r>
              <a:rPr sz="1200" b="1">
                <a:solidFill>
                  <a:srgbClr val="1A1A1A"/>
                </a:solidFill>
                <a:latin typeface="Calibri"/>
              </a:rPr>
              <a:t>•  Critical caveat.</a:t>
            </a:r>
            <a:r>
              <a:rPr sz="1200">
                <a:solidFill>
                  <a:srgbClr val="1A1A1A"/>
                </a:solidFill>
                <a:latin typeface="Calibri"/>
              </a:rPr>
              <a:t>  Later versions of ANSI A117.1 (1980, 1986, 1992, 2003, 2009, 2017) DO NOT APPLY to § 504. Cite only the 1961 R1971 version.</a:t>
            </a:r>
          </a:p>
        </p:txBody>
      </p:sp>
      <p:sp>
        <p:nvSpPr>
          <p:cNvPr id="14" name="Rectangle 13"/>
          <p:cNvSpPr/>
          <p:nvPr/>
        </p:nvSpPr>
        <p:spPr>
          <a:xfrm>
            <a:off x="6400800" y="1874519"/>
            <a:ext cx="5349240" cy="45720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874519"/>
            <a:ext cx="5349240" cy="4572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874519"/>
            <a:ext cx="5349240" cy="457200"/>
          </a:xfrm>
          <a:prstGeom prst="rect">
            <a:avLst/>
          </a:prstGeom>
          <a:noFill/>
        </p:spPr>
        <p:txBody>
          <a:bodyPr wrap="square" lIns="45720" rIns="45720" tIns="18288" bIns="18288" anchor="ctr">
            <a:spAutoFit/>
          </a:bodyPr>
          <a:lstStyle/>
          <a:p>
            <a:pPr algn="ctr"/>
            <a:r>
              <a:rPr sz="1100" b="1" i="0">
                <a:solidFill>
                  <a:srgbClr val="C8A84B"/>
                </a:solidFill>
                <a:latin typeface="Consolas"/>
              </a:rPr>
              <a:t>ANSI 1961 — KEY SECTIONS</a:t>
            </a:r>
          </a:p>
        </p:txBody>
      </p:sp>
      <p:sp>
        <p:nvSpPr>
          <p:cNvPr id="17" name="TextBox 16"/>
          <p:cNvSpPr txBox="1"/>
          <p:nvPr/>
        </p:nvSpPr>
        <p:spPr>
          <a:xfrm>
            <a:off x="6583680" y="2423160"/>
            <a:ext cx="914400" cy="320040"/>
          </a:xfrm>
          <a:prstGeom prst="rect">
            <a:avLst/>
          </a:prstGeom>
          <a:noFill/>
        </p:spPr>
        <p:txBody>
          <a:bodyPr wrap="square" lIns="45720" rIns="45720" tIns="18288" bIns="18288" anchor="t">
            <a:spAutoFit/>
          </a:bodyPr>
          <a:lstStyle/>
          <a:p>
            <a:pPr algn="l"/>
            <a:r>
              <a:rPr sz="1100" b="1" i="0">
                <a:solidFill>
                  <a:srgbClr val="1A2744"/>
                </a:solidFill>
                <a:latin typeface="Consolas"/>
              </a:rPr>
              <a:t>4.2</a:t>
            </a:r>
          </a:p>
        </p:txBody>
      </p:sp>
      <p:sp>
        <p:nvSpPr>
          <p:cNvPr id="18" name="TextBox 17"/>
          <p:cNvSpPr txBox="1"/>
          <p:nvPr/>
        </p:nvSpPr>
        <p:spPr>
          <a:xfrm>
            <a:off x="7498079" y="2423160"/>
            <a:ext cx="4114800" cy="320040"/>
          </a:xfrm>
          <a:prstGeom prst="rect">
            <a:avLst/>
          </a:prstGeom>
          <a:noFill/>
        </p:spPr>
        <p:txBody>
          <a:bodyPr wrap="square" lIns="45720" rIns="45720" tIns="18288" bIns="18288" anchor="t">
            <a:spAutoFit/>
          </a:bodyPr>
          <a:lstStyle/>
          <a:p>
            <a:pPr algn="l"/>
            <a:r>
              <a:rPr sz="1100" b="0" i="0">
                <a:solidFill>
                  <a:srgbClr val="1A1A1A"/>
                </a:solidFill>
                <a:latin typeface="Calibri"/>
              </a:rPr>
              <a:t>Site development</a:t>
            </a:r>
          </a:p>
        </p:txBody>
      </p:sp>
      <p:sp>
        <p:nvSpPr>
          <p:cNvPr id="19" name="TextBox 18"/>
          <p:cNvSpPr txBox="1"/>
          <p:nvPr/>
        </p:nvSpPr>
        <p:spPr>
          <a:xfrm>
            <a:off x="6583680" y="2752344"/>
            <a:ext cx="914400" cy="320040"/>
          </a:xfrm>
          <a:prstGeom prst="rect">
            <a:avLst/>
          </a:prstGeom>
          <a:noFill/>
        </p:spPr>
        <p:txBody>
          <a:bodyPr wrap="square" lIns="45720" rIns="45720" tIns="18288" bIns="18288" anchor="t">
            <a:spAutoFit/>
          </a:bodyPr>
          <a:lstStyle/>
          <a:p>
            <a:pPr algn="l"/>
            <a:r>
              <a:rPr sz="1100" b="1" i="0">
                <a:solidFill>
                  <a:srgbClr val="1A2744"/>
                </a:solidFill>
                <a:latin typeface="Consolas"/>
              </a:rPr>
              <a:t>4.3</a:t>
            </a:r>
          </a:p>
        </p:txBody>
      </p:sp>
      <p:sp>
        <p:nvSpPr>
          <p:cNvPr id="20" name="TextBox 19"/>
          <p:cNvSpPr txBox="1"/>
          <p:nvPr/>
        </p:nvSpPr>
        <p:spPr>
          <a:xfrm>
            <a:off x="7498079" y="2752344"/>
            <a:ext cx="4114800" cy="320040"/>
          </a:xfrm>
          <a:prstGeom prst="rect">
            <a:avLst/>
          </a:prstGeom>
          <a:noFill/>
        </p:spPr>
        <p:txBody>
          <a:bodyPr wrap="square" lIns="45720" rIns="45720" tIns="18288" bIns="18288" anchor="t">
            <a:spAutoFit/>
          </a:bodyPr>
          <a:lstStyle/>
          <a:p>
            <a:pPr algn="l"/>
            <a:r>
              <a:rPr sz="1100" b="0" i="0">
                <a:solidFill>
                  <a:srgbClr val="1A1A1A"/>
                </a:solidFill>
                <a:latin typeface="Calibri"/>
              </a:rPr>
              <a:t>Walks</a:t>
            </a:r>
          </a:p>
        </p:txBody>
      </p:sp>
      <p:sp>
        <p:nvSpPr>
          <p:cNvPr id="21" name="TextBox 20"/>
          <p:cNvSpPr txBox="1"/>
          <p:nvPr/>
        </p:nvSpPr>
        <p:spPr>
          <a:xfrm>
            <a:off x="6583680" y="3081528"/>
            <a:ext cx="914400" cy="320040"/>
          </a:xfrm>
          <a:prstGeom prst="rect">
            <a:avLst/>
          </a:prstGeom>
          <a:noFill/>
        </p:spPr>
        <p:txBody>
          <a:bodyPr wrap="square" lIns="45720" rIns="45720" tIns="18288" bIns="18288" anchor="t">
            <a:spAutoFit/>
          </a:bodyPr>
          <a:lstStyle/>
          <a:p>
            <a:pPr algn="l"/>
            <a:r>
              <a:rPr sz="1100" b="1" i="0">
                <a:solidFill>
                  <a:srgbClr val="1A2744"/>
                </a:solidFill>
                <a:latin typeface="Consolas"/>
              </a:rPr>
              <a:t>4.4</a:t>
            </a:r>
          </a:p>
        </p:txBody>
      </p:sp>
      <p:sp>
        <p:nvSpPr>
          <p:cNvPr id="22" name="TextBox 21"/>
          <p:cNvSpPr txBox="1"/>
          <p:nvPr/>
        </p:nvSpPr>
        <p:spPr>
          <a:xfrm>
            <a:off x="7498079" y="3081528"/>
            <a:ext cx="4114800" cy="320040"/>
          </a:xfrm>
          <a:prstGeom prst="rect">
            <a:avLst/>
          </a:prstGeom>
          <a:noFill/>
        </p:spPr>
        <p:txBody>
          <a:bodyPr wrap="square" lIns="45720" rIns="45720" tIns="18288" bIns="18288" anchor="t">
            <a:spAutoFit/>
          </a:bodyPr>
          <a:lstStyle/>
          <a:p>
            <a:pPr algn="l"/>
            <a:r>
              <a:rPr sz="1100" b="0" i="0">
                <a:solidFill>
                  <a:srgbClr val="1A1A1A"/>
                </a:solidFill>
                <a:latin typeface="Calibri"/>
              </a:rPr>
              <a:t>Parking</a:t>
            </a:r>
          </a:p>
        </p:txBody>
      </p:sp>
      <p:sp>
        <p:nvSpPr>
          <p:cNvPr id="23" name="TextBox 22"/>
          <p:cNvSpPr txBox="1"/>
          <p:nvPr/>
        </p:nvSpPr>
        <p:spPr>
          <a:xfrm>
            <a:off x="6583680" y="3410712"/>
            <a:ext cx="914400" cy="320040"/>
          </a:xfrm>
          <a:prstGeom prst="rect">
            <a:avLst/>
          </a:prstGeom>
          <a:noFill/>
        </p:spPr>
        <p:txBody>
          <a:bodyPr wrap="square" lIns="45720" rIns="45720" tIns="18288" bIns="18288" anchor="t">
            <a:spAutoFit/>
          </a:bodyPr>
          <a:lstStyle/>
          <a:p>
            <a:pPr algn="l"/>
            <a:r>
              <a:rPr sz="1100" b="1" i="0">
                <a:solidFill>
                  <a:srgbClr val="1A2744"/>
                </a:solidFill>
                <a:latin typeface="Consolas"/>
              </a:rPr>
              <a:t>4.5</a:t>
            </a:r>
          </a:p>
        </p:txBody>
      </p:sp>
      <p:sp>
        <p:nvSpPr>
          <p:cNvPr id="24" name="TextBox 23"/>
          <p:cNvSpPr txBox="1"/>
          <p:nvPr/>
        </p:nvSpPr>
        <p:spPr>
          <a:xfrm>
            <a:off x="7498079" y="3410712"/>
            <a:ext cx="4114800" cy="320040"/>
          </a:xfrm>
          <a:prstGeom prst="rect">
            <a:avLst/>
          </a:prstGeom>
          <a:noFill/>
        </p:spPr>
        <p:txBody>
          <a:bodyPr wrap="square" lIns="45720" rIns="45720" tIns="18288" bIns="18288" anchor="t">
            <a:spAutoFit/>
          </a:bodyPr>
          <a:lstStyle/>
          <a:p>
            <a:pPr algn="l"/>
            <a:r>
              <a:rPr sz="1100" b="0" i="0">
                <a:solidFill>
                  <a:srgbClr val="1A1A1A"/>
                </a:solidFill>
                <a:latin typeface="Calibri"/>
              </a:rPr>
              <a:t>Ramps</a:t>
            </a:r>
          </a:p>
        </p:txBody>
      </p:sp>
      <p:sp>
        <p:nvSpPr>
          <p:cNvPr id="25" name="TextBox 24"/>
          <p:cNvSpPr txBox="1"/>
          <p:nvPr/>
        </p:nvSpPr>
        <p:spPr>
          <a:xfrm>
            <a:off x="6583680" y="3739896"/>
            <a:ext cx="914400" cy="320040"/>
          </a:xfrm>
          <a:prstGeom prst="rect">
            <a:avLst/>
          </a:prstGeom>
          <a:noFill/>
        </p:spPr>
        <p:txBody>
          <a:bodyPr wrap="square" lIns="45720" rIns="45720" tIns="18288" bIns="18288" anchor="t">
            <a:spAutoFit/>
          </a:bodyPr>
          <a:lstStyle/>
          <a:p>
            <a:pPr algn="l"/>
            <a:r>
              <a:rPr sz="1100" b="1" i="0">
                <a:solidFill>
                  <a:srgbClr val="1A2744"/>
                </a:solidFill>
                <a:latin typeface="Consolas"/>
              </a:rPr>
              <a:t>4.6</a:t>
            </a:r>
          </a:p>
        </p:txBody>
      </p:sp>
      <p:sp>
        <p:nvSpPr>
          <p:cNvPr id="26" name="TextBox 25"/>
          <p:cNvSpPr txBox="1"/>
          <p:nvPr/>
        </p:nvSpPr>
        <p:spPr>
          <a:xfrm>
            <a:off x="7498079" y="3739896"/>
            <a:ext cx="4114800" cy="320040"/>
          </a:xfrm>
          <a:prstGeom prst="rect">
            <a:avLst/>
          </a:prstGeom>
          <a:noFill/>
        </p:spPr>
        <p:txBody>
          <a:bodyPr wrap="square" lIns="45720" rIns="45720" tIns="18288" bIns="18288" anchor="t">
            <a:spAutoFit/>
          </a:bodyPr>
          <a:lstStyle/>
          <a:p>
            <a:pPr algn="l"/>
            <a:r>
              <a:rPr sz="1100" b="0" i="0">
                <a:solidFill>
                  <a:srgbClr val="1A1A1A"/>
                </a:solidFill>
                <a:latin typeface="Calibri"/>
              </a:rPr>
              <a:t>Entrances</a:t>
            </a:r>
          </a:p>
        </p:txBody>
      </p:sp>
      <p:sp>
        <p:nvSpPr>
          <p:cNvPr id="27" name="TextBox 26"/>
          <p:cNvSpPr txBox="1"/>
          <p:nvPr/>
        </p:nvSpPr>
        <p:spPr>
          <a:xfrm>
            <a:off x="6583680" y="4069079"/>
            <a:ext cx="914400" cy="320040"/>
          </a:xfrm>
          <a:prstGeom prst="rect">
            <a:avLst/>
          </a:prstGeom>
          <a:noFill/>
        </p:spPr>
        <p:txBody>
          <a:bodyPr wrap="square" lIns="45720" rIns="45720" tIns="18288" bIns="18288" anchor="t">
            <a:spAutoFit/>
          </a:bodyPr>
          <a:lstStyle/>
          <a:p>
            <a:pPr algn="l"/>
            <a:r>
              <a:rPr sz="1100" b="1" i="0">
                <a:solidFill>
                  <a:srgbClr val="1A2744"/>
                </a:solidFill>
                <a:latin typeface="Consolas"/>
              </a:rPr>
              <a:t>4.7</a:t>
            </a:r>
          </a:p>
        </p:txBody>
      </p:sp>
      <p:sp>
        <p:nvSpPr>
          <p:cNvPr id="28" name="TextBox 27"/>
          <p:cNvSpPr txBox="1"/>
          <p:nvPr/>
        </p:nvSpPr>
        <p:spPr>
          <a:xfrm>
            <a:off x="7498079" y="4069079"/>
            <a:ext cx="4114800" cy="320040"/>
          </a:xfrm>
          <a:prstGeom prst="rect">
            <a:avLst/>
          </a:prstGeom>
          <a:noFill/>
        </p:spPr>
        <p:txBody>
          <a:bodyPr wrap="square" lIns="45720" rIns="45720" tIns="18288" bIns="18288" anchor="t">
            <a:spAutoFit/>
          </a:bodyPr>
          <a:lstStyle/>
          <a:p>
            <a:pPr algn="l"/>
            <a:r>
              <a:rPr sz="1100" b="0" i="0">
                <a:solidFill>
                  <a:srgbClr val="1A1A1A"/>
                </a:solidFill>
                <a:latin typeface="Calibri"/>
              </a:rPr>
              <a:t>Doors</a:t>
            </a:r>
          </a:p>
        </p:txBody>
      </p:sp>
      <p:sp>
        <p:nvSpPr>
          <p:cNvPr id="29" name="TextBox 28"/>
          <p:cNvSpPr txBox="1"/>
          <p:nvPr/>
        </p:nvSpPr>
        <p:spPr>
          <a:xfrm>
            <a:off x="6583680" y="4398264"/>
            <a:ext cx="914400" cy="320040"/>
          </a:xfrm>
          <a:prstGeom prst="rect">
            <a:avLst/>
          </a:prstGeom>
          <a:noFill/>
        </p:spPr>
        <p:txBody>
          <a:bodyPr wrap="square" lIns="45720" rIns="45720" tIns="18288" bIns="18288" anchor="t">
            <a:spAutoFit/>
          </a:bodyPr>
          <a:lstStyle/>
          <a:p>
            <a:pPr algn="l"/>
            <a:r>
              <a:rPr sz="1100" b="1" i="0">
                <a:solidFill>
                  <a:srgbClr val="1A2744"/>
                </a:solidFill>
                <a:latin typeface="Consolas"/>
              </a:rPr>
              <a:t>4.8</a:t>
            </a:r>
          </a:p>
        </p:txBody>
      </p:sp>
      <p:sp>
        <p:nvSpPr>
          <p:cNvPr id="30" name="TextBox 29"/>
          <p:cNvSpPr txBox="1"/>
          <p:nvPr/>
        </p:nvSpPr>
        <p:spPr>
          <a:xfrm>
            <a:off x="7498079" y="4398264"/>
            <a:ext cx="4114800" cy="320040"/>
          </a:xfrm>
          <a:prstGeom prst="rect">
            <a:avLst/>
          </a:prstGeom>
          <a:noFill/>
        </p:spPr>
        <p:txBody>
          <a:bodyPr wrap="square" lIns="45720" rIns="45720" tIns="18288" bIns="18288" anchor="t">
            <a:spAutoFit/>
          </a:bodyPr>
          <a:lstStyle/>
          <a:p>
            <a:pPr algn="l"/>
            <a:r>
              <a:rPr sz="1100" b="0" i="0">
                <a:solidFill>
                  <a:srgbClr val="1A1A1A"/>
                </a:solidFill>
                <a:latin typeface="Calibri"/>
              </a:rPr>
              <a:t>Stairs</a:t>
            </a:r>
          </a:p>
        </p:txBody>
      </p:sp>
      <p:sp>
        <p:nvSpPr>
          <p:cNvPr id="31" name="TextBox 30"/>
          <p:cNvSpPr txBox="1"/>
          <p:nvPr/>
        </p:nvSpPr>
        <p:spPr>
          <a:xfrm>
            <a:off x="6583680" y="4727448"/>
            <a:ext cx="914400" cy="320040"/>
          </a:xfrm>
          <a:prstGeom prst="rect">
            <a:avLst/>
          </a:prstGeom>
          <a:noFill/>
        </p:spPr>
        <p:txBody>
          <a:bodyPr wrap="square" lIns="45720" rIns="45720" tIns="18288" bIns="18288" anchor="t">
            <a:spAutoFit/>
          </a:bodyPr>
          <a:lstStyle/>
          <a:p>
            <a:pPr algn="l"/>
            <a:r>
              <a:rPr sz="1100" b="1" i="0">
                <a:solidFill>
                  <a:srgbClr val="1A2744"/>
                </a:solidFill>
                <a:latin typeface="Consolas"/>
              </a:rPr>
              <a:t>4.8.2</a:t>
            </a:r>
          </a:p>
        </p:txBody>
      </p:sp>
      <p:sp>
        <p:nvSpPr>
          <p:cNvPr id="32" name="TextBox 31"/>
          <p:cNvSpPr txBox="1"/>
          <p:nvPr/>
        </p:nvSpPr>
        <p:spPr>
          <a:xfrm>
            <a:off x="7498079" y="4727448"/>
            <a:ext cx="4114800" cy="320040"/>
          </a:xfrm>
          <a:prstGeom prst="rect">
            <a:avLst/>
          </a:prstGeom>
          <a:noFill/>
        </p:spPr>
        <p:txBody>
          <a:bodyPr wrap="square" lIns="45720" rIns="45720" tIns="18288" bIns="18288" anchor="t">
            <a:spAutoFit/>
          </a:bodyPr>
          <a:lstStyle/>
          <a:p>
            <a:pPr algn="l"/>
            <a:r>
              <a:rPr sz="1100" b="0" i="0">
                <a:solidFill>
                  <a:srgbClr val="1A1A1A"/>
                </a:solidFill>
                <a:latin typeface="Calibri"/>
              </a:rPr>
              <a:t>Ramps — 1:12 maximum running slope</a:t>
            </a:r>
          </a:p>
        </p:txBody>
      </p:sp>
      <p:sp>
        <p:nvSpPr>
          <p:cNvPr id="33" name="TextBox 32"/>
          <p:cNvSpPr txBox="1"/>
          <p:nvPr/>
        </p:nvSpPr>
        <p:spPr>
          <a:xfrm>
            <a:off x="6583680" y="5056631"/>
            <a:ext cx="914400" cy="320040"/>
          </a:xfrm>
          <a:prstGeom prst="rect">
            <a:avLst/>
          </a:prstGeom>
          <a:noFill/>
        </p:spPr>
        <p:txBody>
          <a:bodyPr wrap="square" lIns="45720" rIns="45720" tIns="18288" bIns="18288" anchor="t">
            <a:spAutoFit/>
          </a:bodyPr>
          <a:lstStyle/>
          <a:p>
            <a:pPr algn="l"/>
            <a:r>
              <a:rPr sz="1100" b="1" i="0">
                <a:solidFill>
                  <a:srgbClr val="1A2744"/>
                </a:solidFill>
                <a:latin typeface="Consolas"/>
              </a:rPr>
              <a:t>4.8.5</a:t>
            </a:r>
          </a:p>
        </p:txBody>
      </p:sp>
      <p:sp>
        <p:nvSpPr>
          <p:cNvPr id="34" name="TextBox 33"/>
          <p:cNvSpPr txBox="1"/>
          <p:nvPr/>
        </p:nvSpPr>
        <p:spPr>
          <a:xfrm>
            <a:off x="7498079" y="5056631"/>
            <a:ext cx="4114800" cy="320040"/>
          </a:xfrm>
          <a:prstGeom prst="rect">
            <a:avLst/>
          </a:prstGeom>
          <a:noFill/>
        </p:spPr>
        <p:txBody>
          <a:bodyPr wrap="square" lIns="45720" rIns="45720" tIns="18288" bIns="18288" anchor="t">
            <a:spAutoFit/>
          </a:bodyPr>
          <a:lstStyle/>
          <a:p>
            <a:pPr algn="l"/>
            <a:r>
              <a:rPr sz="1100" b="0" i="0">
                <a:solidFill>
                  <a:srgbClr val="1A1A1A"/>
                </a:solidFill>
                <a:latin typeface="Calibri"/>
              </a:rPr>
              <a:t>Handrails — 34"–38" above ramp / stair surface</a:t>
            </a:r>
          </a:p>
        </p:txBody>
      </p:sp>
      <p:sp>
        <p:nvSpPr>
          <p:cNvPr id="35" name="TextBox 34"/>
          <p:cNvSpPr txBox="1"/>
          <p:nvPr/>
        </p:nvSpPr>
        <p:spPr>
          <a:xfrm>
            <a:off x="6583680" y="5385816"/>
            <a:ext cx="914400" cy="320040"/>
          </a:xfrm>
          <a:prstGeom prst="rect">
            <a:avLst/>
          </a:prstGeom>
          <a:noFill/>
        </p:spPr>
        <p:txBody>
          <a:bodyPr wrap="square" lIns="45720" rIns="45720" tIns="18288" bIns="18288" anchor="t">
            <a:spAutoFit/>
          </a:bodyPr>
          <a:lstStyle/>
          <a:p>
            <a:pPr algn="l"/>
            <a:r>
              <a:rPr sz="1100" b="1" i="0">
                <a:solidFill>
                  <a:srgbClr val="1A2744"/>
                </a:solidFill>
                <a:latin typeface="Consolas"/>
              </a:rPr>
              <a:t>4.13</a:t>
            </a:r>
          </a:p>
        </p:txBody>
      </p:sp>
      <p:sp>
        <p:nvSpPr>
          <p:cNvPr id="36" name="TextBox 35"/>
          <p:cNvSpPr txBox="1"/>
          <p:nvPr/>
        </p:nvSpPr>
        <p:spPr>
          <a:xfrm>
            <a:off x="7498079" y="5385816"/>
            <a:ext cx="4114800" cy="320040"/>
          </a:xfrm>
          <a:prstGeom prst="rect">
            <a:avLst/>
          </a:prstGeom>
          <a:noFill/>
        </p:spPr>
        <p:txBody>
          <a:bodyPr wrap="square" lIns="45720" rIns="45720" tIns="18288" bIns="18288" anchor="t">
            <a:spAutoFit/>
          </a:bodyPr>
          <a:lstStyle/>
          <a:p>
            <a:pPr algn="l"/>
            <a:r>
              <a:rPr sz="1100" b="0" i="0">
                <a:solidFill>
                  <a:srgbClr val="1A1A1A"/>
                </a:solidFill>
                <a:latin typeface="Calibri"/>
              </a:rPr>
              <a:t>Toilet rooms</a:t>
            </a:r>
          </a:p>
        </p:txBody>
      </p:sp>
      <p:sp>
        <p:nvSpPr>
          <p:cNvPr id="37" name="TextBox 36"/>
          <p:cNvSpPr txBox="1"/>
          <p:nvPr/>
        </p:nvSpPr>
        <p:spPr>
          <a:xfrm>
            <a:off x="6583680" y="5715000"/>
            <a:ext cx="914400" cy="320040"/>
          </a:xfrm>
          <a:prstGeom prst="rect">
            <a:avLst/>
          </a:prstGeom>
          <a:noFill/>
        </p:spPr>
        <p:txBody>
          <a:bodyPr wrap="square" lIns="45720" rIns="45720" tIns="18288" bIns="18288" anchor="t">
            <a:spAutoFit/>
          </a:bodyPr>
          <a:lstStyle/>
          <a:p>
            <a:pPr algn="l"/>
            <a:r>
              <a:rPr sz="1100" b="1" i="0">
                <a:solidFill>
                  <a:srgbClr val="1A2744"/>
                </a:solidFill>
                <a:latin typeface="Consolas"/>
              </a:rPr>
              <a:t>4.15</a:t>
            </a:r>
          </a:p>
        </p:txBody>
      </p:sp>
      <p:sp>
        <p:nvSpPr>
          <p:cNvPr id="38" name="TextBox 37"/>
          <p:cNvSpPr txBox="1"/>
          <p:nvPr/>
        </p:nvSpPr>
        <p:spPr>
          <a:xfrm>
            <a:off x="7498079" y="5715000"/>
            <a:ext cx="4114800" cy="320040"/>
          </a:xfrm>
          <a:prstGeom prst="rect">
            <a:avLst/>
          </a:prstGeom>
          <a:noFill/>
        </p:spPr>
        <p:txBody>
          <a:bodyPr wrap="square" lIns="45720" rIns="45720" tIns="18288" bIns="18288" anchor="t">
            <a:spAutoFit/>
          </a:bodyPr>
          <a:lstStyle/>
          <a:p>
            <a:pPr algn="l"/>
            <a:r>
              <a:rPr sz="1100" b="0" i="0">
                <a:solidFill>
                  <a:srgbClr val="1A1A1A"/>
                </a:solidFill>
                <a:latin typeface="Calibri"/>
              </a:rPr>
              <a:t>Drinking fountains</a:t>
            </a:r>
          </a:p>
        </p:txBody>
      </p:sp>
      <p:sp>
        <p:nvSpPr>
          <p:cNvPr id="39" name="TextBox 38"/>
          <p:cNvSpPr txBox="1"/>
          <p:nvPr/>
        </p:nvSpPr>
        <p:spPr>
          <a:xfrm>
            <a:off x="6583680" y="6044183"/>
            <a:ext cx="914400" cy="320040"/>
          </a:xfrm>
          <a:prstGeom prst="rect">
            <a:avLst/>
          </a:prstGeom>
          <a:noFill/>
        </p:spPr>
        <p:txBody>
          <a:bodyPr wrap="square" lIns="45720" rIns="45720" tIns="18288" bIns="18288" anchor="t">
            <a:spAutoFit/>
          </a:bodyPr>
          <a:lstStyle/>
          <a:p>
            <a:pPr algn="l"/>
            <a:r>
              <a:rPr sz="1100" b="1" i="0">
                <a:solidFill>
                  <a:srgbClr val="1A2744"/>
                </a:solidFill>
                <a:latin typeface="Consolas"/>
              </a:rPr>
              <a:t>5</a:t>
            </a:r>
          </a:p>
        </p:txBody>
      </p:sp>
      <p:sp>
        <p:nvSpPr>
          <p:cNvPr id="40" name="TextBox 39"/>
          <p:cNvSpPr txBox="1"/>
          <p:nvPr/>
        </p:nvSpPr>
        <p:spPr>
          <a:xfrm>
            <a:off x="7498079" y="6044183"/>
            <a:ext cx="4114800" cy="320040"/>
          </a:xfrm>
          <a:prstGeom prst="rect">
            <a:avLst/>
          </a:prstGeom>
          <a:noFill/>
        </p:spPr>
        <p:txBody>
          <a:bodyPr wrap="square" lIns="45720" rIns="45720" tIns="18288" bIns="18288" anchor="t">
            <a:spAutoFit/>
          </a:bodyPr>
          <a:lstStyle/>
          <a:p>
            <a:pPr algn="l"/>
            <a:r>
              <a:rPr sz="1100" b="0" i="0">
                <a:solidFill>
                  <a:srgbClr val="1A1A1A"/>
                </a:solidFill>
                <a:latin typeface="Calibri"/>
              </a:rPr>
              <a:t>Special requirements (signage, controls)</a:t>
            </a:r>
          </a:p>
        </p:txBody>
      </p:sp>
      <p:sp>
        <p:nvSpPr>
          <p:cNvPr id="41" name="TextBox 40"/>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42" name="TextBox 41"/>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23 / 63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24 · ANSI</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ANSI A117.1 — key dimensions reviewers cite</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783080"/>
            <a:ext cx="3657600" cy="21488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783080"/>
            <a:ext cx="3657600" cy="365760"/>
          </a:xfrm>
          <a:prstGeom prst="rect">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783080"/>
            <a:ext cx="3657600" cy="365760"/>
          </a:xfrm>
          <a:prstGeom prst="rect">
            <a:avLst/>
          </a:prstGeom>
          <a:noFill/>
        </p:spPr>
        <p:txBody>
          <a:bodyPr wrap="square" lIns="45720" rIns="45720" tIns="18288" bIns="18288" anchor="ctr">
            <a:spAutoFit/>
          </a:bodyPr>
          <a:lstStyle/>
          <a:p>
            <a:pPr algn="ctr"/>
            <a:r>
              <a:rPr sz="1100" b="1" i="0">
                <a:solidFill>
                  <a:srgbClr val="713F12"/>
                </a:solidFill>
                <a:latin typeface="Consolas"/>
              </a:rPr>
              <a:t>ANSI 4.8.2</a:t>
            </a:r>
          </a:p>
        </p:txBody>
      </p:sp>
      <p:sp>
        <p:nvSpPr>
          <p:cNvPr id="12" name="TextBox 11"/>
          <p:cNvSpPr txBox="1"/>
          <p:nvPr/>
        </p:nvSpPr>
        <p:spPr>
          <a:xfrm>
            <a:off x="685800" y="2240280"/>
            <a:ext cx="3291840" cy="457200"/>
          </a:xfrm>
          <a:prstGeom prst="rect">
            <a:avLst/>
          </a:prstGeom>
          <a:noFill/>
        </p:spPr>
        <p:txBody>
          <a:bodyPr wrap="square" lIns="45720" rIns="45720" tIns="18288" bIns="18288" anchor="t">
            <a:spAutoFit/>
          </a:bodyPr>
          <a:lstStyle/>
          <a:p>
            <a:pPr algn="l"/>
            <a:r>
              <a:rPr sz="1400" b="1" i="0">
                <a:solidFill>
                  <a:srgbClr val="1A2744"/>
                </a:solidFill>
                <a:latin typeface="Calibri"/>
              </a:rPr>
              <a:t>Ramp slope</a:t>
            </a:r>
          </a:p>
        </p:txBody>
      </p:sp>
      <p:sp>
        <p:nvSpPr>
          <p:cNvPr id="13" name="TextBox 12"/>
          <p:cNvSpPr txBox="1"/>
          <p:nvPr/>
        </p:nvSpPr>
        <p:spPr>
          <a:xfrm>
            <a:off x="685800" y="2743200"/>
            <a:ext cx="3291840" cy="914400"/>
          </a:xfrm>
          <a:prstGeom prst="rect">
            <a:avLst/>
          </a:prstGeom>
          <a:noFill/>
        </p:spPr>
        <p:txBody>
          <a:bodyPr wrap="square" lIns="45720" rIns="45720" tIns="18288" bIns="18288" anchor="t">
            <a:spAutoFit/>
          </a:bodyPr>
          <a:lstStyle/>
          <a:p>
            <a:pPr algn="l"/>
            <a:r>
              <a:rPr sz="2200" b="1" i="0">
                <a:solidFill>
                  <a:srgbClr val="1A1A1A"/>
                </a:solidFill>
                <a:latin typeface="Georgia"/>
              </a:rPr>
              <a:t>Max 1:12  (8.33%)</a:t>
            </a:r>
          </a:p>
        </p:txBody>
      </p:sp>
      <p:sp>
        <p:nvSpPr>
          <p:cNvPr id="14" name="Rectangle 13"/>
          <p:cNvSpPr/>
          <p:nvPr/>
        </p:nvSpPr>
        <p:spPr>
          <a:xfrm>
            <a:off x="4343400" y="1783080"/>
            <a:ext cx="3657600" cy="21488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783080"/>
            <a:ext cx="3657600" cy="365760"/>
          </a:xfrm>
          <a:prstGeom prst="rect">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1783080"/>
            <a:ext cx="3657600" cy="365760"/>
          </a:xfrm>
          <a:prstGeom prst="rect">
            <a:avLst/>
          </a:prstGeom>
          <a:noFill/>
        </p:spPr>
        <p:txBody>
          <a:bodyPr wrap="square" lIns="45720" rIns="45720" tIns="18288" bIns="18288" anchor="ctr">
            <a:spAutoFit/>
          </a:bodyPr>
          <a:lstStyle/>
          <a:p>
            <a:pPr algn="ctr"/>
            <a:r>
              <a:rPr sz="1100" b="1" i="0">
                <a:solidFill>
                  <a:srgbClr val="713F12"/>
                </a:solidFill>
                <a:latin typeface="Consolas"/>
              </a:rPr>
              <a:t>ANSI 4.8.5</a:t>
            </a:r>
          </a:p>
        </p:txBody>
      </p:sp>
      <p:sp>
        <p:nvSpPr>
          <p:cNvPr id="17" name="TextBox 16"/>
          <p:cNvSpPr txBox="1"/>
          <p:nvPr/>
        </p:nvSpPr>
        <p:spPr>
          <a:xfrm>
            <a:off x="4526280" y="2240280"/>
            <a:ext cx="3291840" cy="457200"/>
          </a:xfrm>
          <a:prstGeom prst="rect">
            <a:avLst/>
          </a:prstGeom>
          <a:noFill/>
        </p:spPr>
        <p:txBody>
          <a:bodyPr wrap="square" lIns="45720" rIns="45720" tIns="18288" bIns="18288" anchor="t">
            <a:spAutoFit/>
          </a:bodyPr>
          <a:lstStyle/>
          <a:p>
            <a:pPr algn="l"/>
            <a:r>
              <a:rPr sz="1400" b="1" i="0">
                <a:solidFill>
                  <a:srgbClr val="1A2744"/>
                </a:solidFill>
                <a:latin typeface="Calibri"/>
              </a:rPr>
              <a:t>Handrail height</a:t>
            </a:r>
          </a:p>
        </p:txBody>
      </p:sp>
      <p:sp>
        <p:nvSpPr>
          <p:cNvPr id="18" name="TextBox 17"/>
          <p:cNvSpPr txBox="1"/>
          <p:nvPr/>
        </p:nvSpPr>
        <p:spPr>
          <a:xfrm>
            <a:off x="4526280" y="2743200"/>
            <a:ext cx="3291840" cy="914400"/>
          </a:xfrm>
          <a:prstGeom prst="rect">
            <a:avLst/>
          </a:prstGeom>
          <a:noFill/>
        </p:spPr>
        <p:txBody>
          <a:bodyPr wrap="square" lIns="45720" rIns="45720" tIns="18288" bIns="18288" anchor="t">
            <a:spAutoFit/>
          </a:bodyPr>
          <a:lstStyle/>
          <a:p>
            <a:pPr algn="l"/>
            <a:r>
              <a:rPr sz="2200" b="1" i="0">
                <a:solidFill>
                  <a:srgbClr val="1A1A1A"/>
                </a:solidFill>
                <a:latin typeface="Georgia"/>
              </a:rPr>
              <a:t>34" – 38"</a:t>
            </a:r>
          </a:p>
        </p:txBody>
      </p:sp>
      <p:sp>
        <p:nvSpPr>
          <p:cNvPr id="19" name="Rectangle 18"/>
          <p:cNvSpPr/>
          <p:nvPr/>
        </p:nvSpPr>
        <p:spPr>
          <a:xfrm>
            <a:off x="8183880" y="1783080"/>
            <a:ext cx="3657600" cy="21488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83880" y="1783080"/>
            <a:ext cx="3657600" cy="365760"/>
          </a:xfrm>
          <a:prstGeom prst="rect">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1783080"/>
            <a:ext cx="3657600" cy="365760"/>
          </a:xfrm>
          <a:prstGeom prst="rect">
            <a:avLst/>
          </a:prstGeom>
          <a:noFill/>
        </p:spPr>
        <p:txBody>
          <a:bodyPr wrap="square" lIns="45720" rIns="45720" tIns="18288" bIns="18288" anchor="ctr">
            <a:spAutoFit/>
          </a:bodyPr>
          <a:lstStyle/>
          <a:p>
            <a:pPr algn="ctr"/>
            <a:r>
              <a:rPr sz="1100" b="1" i="0">
                <a:solidFill>
                  <a:srgbClr val="713F12"/>
                </a:solidFill>
                <a:latin typeface="Consolas"/>
              </a:rPr>
              <a:t>ANSI 4.8.5</a:t>
            </a:r>
          </a:p>
        </p:txBody>
      </p:sp>
      <p:sp>
        <p:nvSpPr>
          <p:cNvPr id="22" name="TextBox 21"/>
          <p:cNvSpPr txBox="1"/>
          <p:nvPr/>
        </p:nvSpPr>
        <p:spPr>
          <a:xfrm>
            <a:off x="8366760" y="2240280"/>
            <a:ext cx="3291840" cy="457200"/>
          </a:xfrm>
          <a:prstGeom prst="rect">
            <a:avLst/>
          </a:prstGeom>
          <a:noFill/>
        </p:spPr>
        <p:txBody>
          <a:bodyPr wrap="square" lIns="45720" rIns="45720" tIns="18288" bIns="18288" anchor="t">
            <a:spAutoFit/>
          </a:bodyPr>
          <a:lstStyle/>
          <a:p>
            <a:pPr algn="l"/>
            <a:r>
              <a:rPr sz="1400" b="1" i="0">
                <a:solidFill>
                  <a:srgbClr val="1A2744"/>
                </a:solidFill>
                <a:latin typeface="Calibri"/>
              </a:rPr>
              <a:t>Handrail extensions</a:t>
            </a:r>
          </a:p>
        </p:txBody>
      </p:sp>
      <p:sp>
        <p:nvSpPr>
          <p:cNvPr id="23" name="TextBox 22"/>
          <p:cNvSpPr txBox="1"/>
          <p:nvPr/>
        </p:nvSpPr>
        <p:spPr>
          <a:xfrm>
            <a:off x="8366760" y="2743200"/>
            <a:ext cx="3291840" cy="914400"/>
          </a:xfrm>
          <a:prstGeom prst="rect">
            <a:avLst/>
          </a:prstGeom>
          <a:noFill/>
        </p:spPr>
        <p:txBody>
          <a:bodyPr wrap="square" lIns="45720" rIns="45720" tIns="18288" bIns="18288" anchor="t">
            <a:spAutoFit/>
          </a:bodyPr>
          <a:lstStyle/>
          <a:p>
            <a:pPr algn="l"/>
            <a:r>
              <a:rPr sz="2200" b="1" i="0">
                <a:solidFill>
                  <a:srgbClr val="1A1A1A"/>
                </a:solidFill>
                <a:latin typeface="Georgia"/>
              </a:rPr>
              <a:t>12" min — both ends</a:t>
            </a:r>
          </a:p>
        </p:txBody>
      </p:sp>
      <p:sp>
        <p:nvSpPr>
          <p:cNvPr id="24" name="Rectangle 23"/>
          <p:cNvSpPr/>
          <p:nvPr/>
        </p:nvSpPr>
        <p:spPr>
          <a:xfrm>
            <a:off x="502920" y="4114800"/>
            <a:ext cx="3657600" cy="21488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4114800"/>
            <a:ext cx="3657600" cy="365760"/>
          </a:xfrm>
          <a:prstGeom prst="rect">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4114800"/>
            <a:ext cx="3657600" cy="365760"/>
          </a:xfrm>
          <a:prstGeom prst="rect">
            <a:avLst/>
          </a:prstGeom>
          <a:noFill/>
        </p:spPr>
        <p:txBody>
          <a:bodyPr wrap="square" lIns="45720" rIns="45720" tIns="18288" bIns="18288" anchor="ctr">
            <a:spAutoFit/>
          </a:bodyPr>
          <a:lstStyle/>
          <a:p>
            <a:pPr algn="ctr"/>
            <a:r>
              <a:rPr sz="1100" b="1" i="0">
                <a:solidFill>
                  <a:srgbClr val="713F12"/>
                </a:solidFill>
                <a:latin typeface="Consolas"/>
              </a:rPr>
              <a:t>ANSI 4.7</a:t>
            </a:r>
          </a:p>
        </p:txBody>
      </p:sp>
      <p:sp>
        <p:nvSpPr>
          <p:cNvPr id="27" name="TextBox 26"/>
          <p:cNvSpPr txBox="1"/>
          <p:nvPr/>
        </p:nvSpPr>
        <p:spPr>
          <a:xfrm>
            <a:off x="685800" y="4572000"/>
            <a:ext cx="3291840" cy="457200"/>
          </a:xfrm>
          <a:prstGeom prst="rect">
            <a:avLst/>
          </a:prstGeom>
          <a:noFill/>
        </p:spPr>
        <p:txBody>
          <a:bodyPr wrap="square" lIns="45720" rIns="45720" tIns="18288" bIns="18288" anchor="t">
            <a:spAutoFit/>
          </a:bodyPr>
          <a:lstStyle/>
          <a:p>
            <a:pPr algn="l"/>
            <a:r>
              <a:rPr sz="1400" b="1" i="0">
                <a:solidFill>
                  <a:srgbClr val="1A2744"/>
                </a:solidFill>
                <a:latin typeface="Calibri"/>
              </a:rPr>
              <a:t>Door clear width</a:t>
            </a:r>
          </a:p>
        </p:txBody>
      </p:sp>
      <p:sp>
        <p:nvSpPr>
          <p:cNvPr id="28" name="TextBox 27"/>
          <p:cNvSpPr txBox="1"/>
          <p:nvPr/>
        </p:nvSpPr>
        <p:spPr>
          <a:xfrm>
            <a:off x="685800" y="5074920"/>
            <a:ext cx="3291840" cy="914400"/>
          </a:xfrm>
          <a:prstGeom prst="rect">
            <a:avLst/>
          </a:prstGeom>
          <a:noFill/>
        </p:spPr>
        <p:txBody>
          <a:bodyPr wrap="square" lIns="45720" rIns="45720" tIns="18288" bIns="18288" anchor="t">
            <a:spAutoFit/>
          </a:bodyPr>
          <a:lstStyle/>
          <a:p>
            <a:pPr algn="l"/>
            <a:r>
              <a:rPr sz="2200" b="1" i="0">
                <a:solidFill>
                  <a:srgbClr val="1A1A1A"/>
                </a:solidFill>
                <a:latin typeface="Georgia"/>
              </a:rPr>
              <a:t>32" minimum</a:t>
            </a:r>
          </a:p>
        </p:txBody>
      </p:sp>
      <p:sp>
        <p:nvSpPr>
          <p:cNvPr id="29" name="Rectangle 28"/>
          <p:cNvSpPr/>
          <p:nvPr/>
        </p:nvSpPr>
        <p:spPr>
          <a:xfrm>
            <a:off x="4343400" y="4114800"/>
            <a:ext cx="3657600" cy="21488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43400" y="4114800"/>
            <a:ext cx="3657600" cy="365760"/>
          </a:xfrm>
          <a:prstGeom prst="rect">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4114800"/>
            <a:ext cx="3657600" cy="365760"/>
          </a:xfrm>
          <a:prstGeom prst="rect">
            <a:avLst/>
          </a:prstGeom>
          <a:noFill/>
        </p:spPr>
        <p:txBody>
          <a:bodyPr wrap="square" lIns="45720" rIns="45720" tIns="18288" bIns="18288" anchor="ctr">
            <a:spAutoFit/>
          </a:bodyPr>
          <a:lstStyle/>
          <a:p>
            <a:pPr algn="ctr"/>
            <a:r>
              <a:rPr sz="1100" b="1" i="0">
                <a:solidFill>
                  <a:srgbClr val="713F12"/>
                </a:solidFill>
                <a:latin typeface="Consolas"/>
              </a:rPr>
              <a:t>ANSI 4.13</a:t>
            </a:r>
          </a:p>
        </p:txBody>
      </p:sp>
      <p:sp>
        <p:nvSpPr>
          <p:cNvPr id="32" name="TextBox 31"/>
          <p:cNvSpPr txBox="1"/>
          <p:nvPr/>
        </p:nvSpPr>
        <p:spPr>
          <a:xfrm>
            <a:off x="4526280" y="4572000"/>
            <a:ext cx="3291840" cy="457200"/>
          </a:xfrm>
          <a:prstGeom prst="rect">
            <a:avLst/>
          </a:prstGeom>
          <a:noFill/>
        </p:spPr>
        <p:txBody>
          <a:bodyPr wrap="square" lIns="45720" rIns="45720" tIns="18288" bIns="18288" anchor="t">
            <a:spAutoFit/>
          </a:bodyPr>
          <a:lstStyle/>
          <a:p>
            <a:pPr algn="l"/>
            <a:r>
              <a:rPr sz="1400" b="1" i="0">
                <a:solidFill>
                  <a:srgbClr val="1A2744"/>
                </a:solidFill>
                <a:latin typeface="Calibri"/>
              </a:rPr>
              <a:t>Toilet stall width</a:t>
            </a:r>
          </a:p>
        </p:txBody>
      </p:sp>
      <p:sp>
        <p:nvSpPr>
          <p:cNvPr id="33" name="TextBox 32"/>
          <p:cNvSpPr txBox="1"/>
          <p:nvPr/>
        </p:nvSpPr>
        <p:spPr>
          <a:xfrm>
            <a:off x="4526280" y="5074920"/>
            <a:ext cx="3291840" cy="914400"/>
          </a:xfrm>
          <a:prstGeom prst="rect">
            <a:avLst/>
          </a:prstGeom>
          <a:noFill/>
        </p:spPr>
        <p:txBody>
          <a:bodyPr wrap="square" lIns="45720" rIns="45720" tIns="18288" bIns="18288" anchor="t">
            <a:spAutoFit/>
          </a:bodyPr>
          <a:lstStyle/>
          <a:p>
            <a:pPr algn="l"/>
            <a:r>
              <a:rPr sz="2200" b="1" i="0">
                <a:solidFill>
                  <a:srgbClr val="1A1A1A"/>
                </a:solidFill>
                <a:latin typeface="Georgia"/>
              </a:rPr>
              <a:t>60" minimum</a:t>
            </a:r>
          </a:p>
        </p:txBody>
      </p:sp>
      <p:sp>
        <p:nvSpPr>
          <p:cNvPr id="34" name="Rectangle 33"/>
          <p:cNvSpPr/>
          <p:nvPr/>
        </p:nvSpPr>
        <p:spPr>
          <a:xfrm>
            <a:off x="8183880" y="4114800"/>
            <a:ext cx="3657600" cy="21488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83880" y="4114800"/>
            <a:ext cx="3657600" cy="365760"/>
          </a:xfrm>
          <a:prstGeom prst="rect">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83880" y="4114800"/>
            <a:ext cx="3657600" cy="365760"/>
          </a:xfrm>
          <a:prstGeom prst="rect">
            <a:avLst/>
          </a:prstGeom>
          <a:noFill/>
        </p:spPr>
        <p:txBody>
          <a:bodyPr wrap="square" lIns="45720" rIns="45720" tIns="18288" bIns="18288" anchor="ctr">
            <a:spAutoFit/>
          </a:bodyPr>
          <a:lstStyle/>
          <a:p>
            <a:pPr algn="ctr"/>
            <a:r>
              <a:rPr sz="1100" b="1" i="0">
                <a:solidFill>
                  <a:srgbClr val="713F12"/>
                </a:solidFill>
                <a:latin typeface="Consolas"/>
              </a:rPr>
              <a:t>ANSI 4.15</a:t>
            </a:r>
          </a:p>
        </p:txBody>
      </p:sp>
      <p:sp>
        <p:nvSpPr>
          <p:cNvPr id="37" name="TextBox 36"/>
          <p:cNvSpPr txBox="1"/>
          <p:nvPr/>
        </p:nvSpPr>
        <p:spPr>
          <a:xfrm>
            <a:off x="8366760" y="4572000"/>
            <a:ext cx="3291840" cy="457200"/>
          </a:xfrm>
          <a:prstGeom prst="rect">
            <a:avLst/>
          </a:prstGeom>
          <a:noFill/>
        </p:spPr>
        <p:txBody>
          <a:bodyPr wrap="square" lIns="45720" rIns="45720" tIns="18288" bIns="18288" anchor="t">
            <a:spAutoFit/>
          </a:bodyPr>
          <a:lstStyle/>
          <a:p>
            <a:pPr algn="l"/>
            <a:r>
              <a:rPr sz="1400" b="1" i="0">
                <a:solidFill>
                  <a:srgbClr val="1A2744"/>
                </a:solidFill>
                <a:latin typeface="Calibri"/>
              </a:rPr>
              <a:t>Drinking fountain</a:t>
            </a:r>
          </a:p>
        </p:txBody>
      </p:sp>
      <p:sp>
        <p:nvSpPr>
          <p:cNvPr id="38" name="TextBox 37"/>
          <p:cNvSpPr txBox="1"/>
          <p:nvPr/>
        </p:nvSpPr>
        <p:spPr>
          <a:xfrm>
            <a:off x="8366760" y="5074920"/>
            <a:ext cx="3291840" cy="914400"/>
          </a:xfrm>
          <a:prstGeom prst="rect">
            <a:avLst/>
          </a:prstGeom>
          <a:noFill/>
        </p:spPr>
        <p:txBody>
          <a:bodyPr wrap="square" lIns="45720" rIns="45720" tIns="18288" bIns="18288" anchor="t">
            <a:spAutoFit/>
          </a:bodyPr>
          <a:lstStyle/>
          <a:p>
            <a:pPr algn="l"/>
            <a:r>
              <a:rPr sz="2200" b="1" i="0">
                <a:solidFill>
                  <a:srgbClr val="1A1A1A"/>
                </a:solidFill>
                <a:latin typeface="Georgia"/>
              </a:rPr>
              <a:t>Max 36" spout height</a:t>
            </a:r>
          </a:p>
        </p:txBody>
      </p:sp>
      <p:sp>
        <p:nvSpPr>
          <p:cNvPr id="39" name="Rectangle 38"/>
          <p:cNvSpPr/>
          <p:nvPr/>
        </p:nvSpPr>
        <p:spPr>
          <a:xfrm>
            <a:off x="502920" y="6400800"/>
            <a:ext cx="11247120" cy="22860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6373368"/>
            <a:ext cx="11247120" cy="274320"/>
          </a:xfrm>
          <a:prstGeom prst="rect">
            <a:avLst/>
          </a:prstGeom>
          <a:noFill/>
        </p:spPr>
        <p:txBody>
          <a:bodyPr wrap="square" lIns="45720" rIns="45720" tIns="18288" bIns="18288" anchor="ctr">
            <a:spAutoFit/>
          </a:bodyPr>
          <a:lstStyle/>
          <a:p>
            <a:pPr algn="ctr"/>
            <a:r>
              <a:rPr sz="1200" b="1" i="0">
                <a:solidFill>
                  <a:srgbClr val="1A2744"/>
                </a:solidFill>
                <a:latin typeface="Calibri"/>
              </a:rPr>
              <a:t>Many ANSI 1961 dimensions match 1991/2010 ADA — cite the ANSI section for ANSI-era buildings.</a:t>
            </a:r>
          </a:p>
        </p:txBody>
      </p:sp>
      <p:sp>
        <p:nvSpPr>
          <p:cNvPr id="41" name="TextBox 40"/>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42" name="TextBox 41"/>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24 / 63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25 · ANSI</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What ANSI 1961 DOESN'T cover</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411480"/>
          </a:xfrm>
          <a:prstGeom prst="rect">
            <a:avLst/>
          </a:prstGeom>
          <a:noFill/>
        </p:spPr>
        <p:txBody>
          <a:bodyPr wrap="square" lIns="45720" rIns="45720" tIns="18288" bIns="18288" anchor="t">
            <a:spAutoFit/>
          </a:bodyPr>
          <a:lstStyle/>
          <a:p>
            <a:pPr algn="l"/>
            <a:r>
              <a:rPr sz="1400" b="0" i="1">
                <a:solidFill>
                  <a:srgbClr val="6B6659"/>
                </a:solidFill>
                <a:latin typeface="Calibri"/>
              </a:rPr>
              <a:t>ANSI 1961 predates a lot of modern access concepts. If the issue is in this list, ANSI is silent — and there is no finding to issue against an ANSI-era building for these.</a:t>
            </a:r>
          </a:p>
        </p:txBody>
      </p:sp>
      <p:sp>
        <p:nvSpPr>
          <p:cNvPr id="10" name="Rectangle 9"/>
          <p:cNvSpPr/>
          <p:nvPr/>
        </p:nvSpPr>
        <p:spPr>
          <a:xfrm>
            <a:off x="502920" y="1965960"/>
            <a:ext cx="164592" cy="59436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5029200" cy="274320"/>
          </a:xfrm>
          <a:prstGeom prst="rect">
            <a:avLst/>
          </a:prstGeom>
          <a:noFill/>
        </p:spPr>
        <p:txBody>
          <a:bodyPr wrap="square" lIns="45720" rIns="45720" tIns="18288" bIns="18288" anchor="t">
            <a:spAutoFit/>
          </a:bodyPr>
          <a:lstStyle/>
          <a:p>
            <a:pPr algn="l"/>
            <a:r>
              <a:rPr sz="1400" b="1" i="0">
                <a:solidFill>
                  <a:srgbClr val="1A2744"/>
                </a:solidFill>
                <a:latin typeface="Calibri"/>
              </a:rPr>
              <a:t>Detectable warnings</a:t>
            </a:r>
          </a:p>
        </p:txBody>
      </p:sp>
      <p:sp>
        <p:nvSpPr>
          <p:cNvPr id="12" name="TextBox 11"/>
          <p:cNvSpPr txBox="1"/>
          <p:nvPr/>
        </p:nvSpPr>
        <p:spPr>
          <a:xfrm>
            <a:off x="777240" y="2286000"/>
            <a:ext cx="5029200" cy="274320"/>
          </a:xfrm>
          <a:prstGeom prst="rect">
            <a:avLst/>
          </a:prstGeom>
          <a:noFill/>
        </p:spPr>
        <p:txBody>
          <a:bodyPr wrap="square" lIns="45720" rIns="45720" tIns="18288" bIns="18288" anchor="t">
            <a:spAutoFit/>
          </a:bodyPr>
          <a:lstStyle/>
          <a:p>
            <a:pPr algn="l"/>
            <a:r>
              <a:rPr sz="1100" b="0" i="1">
                <a:solidFill>
                  <a:srgbClr val="6B6659"/>
                </a:solidFill>
                <a:latin typeface="Calibri"/>
              </a:rPr>
              <a:t>(truncated domes)</a:t>
            </a:r>
          </a:p>
        </p:txBody>
      </p:sp>
      <p:sp>
        <p:nvSpPr>
          <p:cNvPr id="13" name="TextBox 12"/>
          <p:cNvSpPr txBox="1"/>
          <p:nvPr/>
        </p:nvSpPr>
        <p:spPr>
          <a:xfrm>
            <a:off x="5943600" y="1965960"/>
            <a:ext cx="5852160" cy="594360"/>
          </a:xfrm>
          <a:prstGeom prst="rect">
            <a:avLst/>
          </a:prstGeom>
          <a:noFill/>
        </p:spPr>
        <p:txBody>
          <a:bodyPr wrap="square" lIns="45720" rIns="45720" tIns="18288" bIns="18288" anchor="ctr">
            <a:spAutoFit/>
          </a:bodyPr>
          <a:lstStyle/>
          <a:p>
            <a:pPr algn="l"/>
            <a:r>
              <a:rPr sz="1200" b="0" i="0">
                <a:solidFill>
                  <a:srgbClr val="1A1A1A"/>
                </a:solidFill>
                <a:latin typeface="Calibri"/>
              </a:rPr>
              <a:t>Not in ANSI 1961. First appears in ADAAG (1991).</a:t>
            </a:r>
          </a:p>
        </p:txBody>
      </p:sp>
      <p:sp>
        <p:nvSpPr>
          <p:cNvPr id="14" name="Rectangle 13"/>
          <p:cNvSpPr/>
          <p:nvPr/>
        </p:nvSpPr>
        <p:spPr>
          <a:xfrm>
            <a:off x="502920" y="2651760"/>
            <a:ext cx="164592" cy="59436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697480"/>
            <a:ext cx="5029200" cy="274320"/>
          </a:xfrm>
          <a:prstGeom prst="rect">
            <a:avLst/>
          </a:prstGeom>
          <a:noFill/>
        </p:spPr>
        <p:txBody>
          <a:bodyPr wrap="square" lIns="45720" rIns="45720" tIns="18288" bIns="18288" anchor="t">
            <a:spAutoFit/>
          </a:bodyPr>
          <a:lstStyle/>
          <a:p>
            <a:pPr algn="l"/>
            <a:r>
              <a:rPr sz="1400" b="1" i="0">
                <a:solidFill>
                  <a:srgbClr val="1A2744"/>
                </a:solidFill>
                <a:latin typeface="Calibri"/>
              </a:rPr>
              <a:t>Van-accessible parking</a:t>
            </a:r>
          </a:p>
        </p:txBody>
      </p:sp>
      <p:sp>
        <p:nvSpPr>
          <p:cNvPr id="16" name="TextBox 15"/>
          <p:cNvSpPr txBox="1"/>
          <p:nvPr/>
        </p:nvSpPr>
        <p:spPr>
          <a:xfrm>
            <a:off x="777240" y="2971800"/>
            <a:ext cx="5029200" cy="274320"/>
          </a:xfrm>
          <a:prstGeom prst="rect">
            <a:avLst/>
          </a:prstGeom>
          <a:noFill/>
        </p:spPr>
        <p:txBody>
          <a:bodyPr wrap="square" lIns="45720" rIns="45720" tIns="18288" bIns="18288" anchor="t">
            <a:spAutoFit/>
          </a:bodyPr>
          <a:lstStyle/>
          <a:p>
            <a:pPr algn="l"/>
            <a:r>
              <a:rPr sz="1100" b="0" i="1">
                <a:solidFill>
                  <a:srgbClr val="6B6659"/>
                </a:solidFill>
                <a:latin typeface="Calibri"/>
              </a:rPr>
              <a:t>(96" aisle width)</a:t>
            </a:r>
          </a:p>
        </p:txBody>
      </p:sp>
      <p:sp>
        <p:nvSpPr>
          <p:cNvPr id="17" name="TextBox 16"/>
          <p:cNvSpPr txBox="1"/>
          <p:nvPr/>
        </p:nvSpPr>
        <p:spPr>
          <a:xfrm>
            <a:off x="5943600" y="2651760"/>
            <a:ext cx="5852160" cy="594360"/>
          </a:xfrm>
          <a:prstGeom prst="rect">
            <a:avLst/>
          </a:prstGeom>
          <a:noFill/>
        </p:spPr>
        <p:txBody>
          <a:bodyPr wrap="square" lIns="45720" rIns="45720" tIns="18288" bIns="18288" anchor="ctr">
            <a:spAutoFit/>
          </a:bodyPr>
          <a:lstStyle/>
          <a:p>
            <a:pPr algn="l"/>
            <a:r>
              <a:rPr sz="1200" b="0" i="0">
                <a:solidFill>
                  <a:srgbClr val="1A1A1A"/>
                </a:solidFill>
                <a:latin typeface="Calibri"/>
              </a:rPr>
              <a:t>Not in ANSI 1961. Specified in 1991 ADA 4.6 and 2010 ADA 502.3.3.</a:t>
            </a:r>
          </a:p>
        </p:txBody>
      </p:sp>
      <p:sp>
        <p:nvSpPr>
          <p:cNvPr id="18" name="Rectangle 17"/>
          <p:cNvSpPr/>
          <p:nvPr/>
        </p:nvSpPr>
        <p:spPr>
          <a:xfrm>
            <a:off x="502920" y="3337560"/>
            <a:ext cx="164592" cy="59436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383280"/>
            <a:ext cx="5029200" cy="274320"/>
          </a:xfrm>
          <a:prstGeom prst="rect">
            <a:avLst/>
          </a:prstGeom>
          <a:noFill/>
        </p:spPr>
        <p:txBody>
          <a:bodyPr wrap="square" lIns="45720" rIns="45720" tIns="18288" bIns="18288" anchor="t">
            <a:spAutoFit/>
          </a:bodyPr>
          <a:lstStyle/>
          <a:p>
            <a:pPr algn="l"/>
            <a:r>
              <a:rPr sz="1400" b="1" i="0">
                <a:solidFill>
                  <a:srgbClr val="1A2744"/>
                </a:solidFill>
                <a:latin typeface="Calibri"/>
              </a:rPr>
              <a:t>Accessible routes — slope ratio for cross slope</a:t>
            </a:r>
          </a:p>
        </p:txBody>
      </p:sp>
      <p:sp>
        <p:nvSpPr>
          <p:cNvPr id="20" name="TextBox 19"/>
          <p:cNvSpPr txBox="1"/>
          <p:nvPr/>
        </p:nvSpPr>
        <p:spPr>
          <a:xfrm>
            <a:off x="777240" y="3657600"/>
            <a:ext cx="5029200" cy="274320"/>
          </a:xfrm>
          <a:prstGeom prst="rect">
            <a:avLst/>
          </a:prstGeom>
          <a:noFill/>
        </p:spPr>
        <p:txBody>
          <a:bodyPr wrap="square" lIns="45720" rIns="45720" tIns="18288" bIns="18288" anchor="t">
            <a:spAutoFit/>
          </a:bodyPr>
          <a:lstStyle/>
          <a:p>
            <a:pPr algn="l"/>
            <a:r>
              <a:rPr sz="1100" b="0" i="1">
                <a:solidFill>
                  <a:srgbClr val="6B6659"/>
                </a:solidFill>
                <a:latin typeface="Calibri"/>
              </a:rPr>
              <a:t>(2% / 1:50 limit)</a:t>
            </a:r>
          </a:p>
        </p:txBody>
      </p:sp>
      <p:sp>
        <p:nvSpPr>
          <p:cNvPr id="21" name="TextBox 20"/>
          <p:cNvSpPr txBox="1"/>
          <p:nvPr/>
        </p:nvSpPr>
        <p:spPr>
          <a:xfrm>
            <a:off x="5943600" y="3337560"/>
            <a:ext cx="5852160" cy="594360"/>
          </a:xfrm>
          <a:prstGeom prst="rect">
            <a:avLst/>
          </a:prstGeom>
          <a:noFill/>
        </p:spPr>
        <p:txBody>
          <a:bodyPr wrap="square" lIns="45720" rIns="45720" tIns="18288" bIns="18288" anchor="ctr">
            <a:spAutoFit/>
          </a:bodyPr>
          <a:lstStyle/>
          <a:p>
            <a:pPr algn="l"/>
            <a:r>
              <a:rPr sz="1200" b="0" i="0">
                <a:solidFill>
                  <a:srgbClr val="1A1A1A"/>
                </a:solidFill>
                <a:latin typeface="Calibri"/>
              </a:rPr>
              <a:t>Not codified in ANSI 1961. Added in 1991/2010 ADA.</a:t>
            </a:r>
          </a:p>
        </p:txBody>
      </p:sp>
      <p:sp>
        <p:nvSpPr>
          <p:cNvPr id="22" name="Rectangle 21"/>
          <p:cNvSpPr/>
          <p:nvPr/>
        </p:nvSpPr>
        <p:spPr>
          <a:xfrm>
            <a:off x="502920" y="4023360"/>
            <a:ext cx="164592" cy="59436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69080"/>
            <a:ext cx="5029200" cy="274320"/>
          </a:xfrm>
          <a:prstGeom prst="rect">
            <a:avLst/>
          </a:prstGeom>
          <a:noFill/>
        </p:spPr>
        <p:txBody>
          <a:bodyPr wrap="square" lIns="45720" rIns="45720" tIns="18288" bIns="18288" anchor="t">
            <a:spAutoFit/>
          </a:bodyPr>
          <a:lstStyle/>
          <a:p>
            <a:pPr algn="l"/>
            <a:r>
              <a:rPr sz="1400" b="1" i="0">
                <a:solidFill>
                  <a:srgbClr val="1A2744"/>
                </a:solidFill>
                <a:latin typeface="Calibri"/>
              </a:rPr>
              <a:t>ISA tactile signage</a:t>
            </a:r>
          </a:p>
        </p:txBody>
      </p:sp>
      <p:sp>
        <p:nvSpPr>
          <p:cNvPr id="24" name="TextBox 23"/>
          <p:cNvSpPr txBox="1"/>
          <p:nvPr/>
        </p:nvSpPr>
        <p:spPr>
          <a:xfrm>
            <a:off x="777240" y="4343400"/>
            <a:ext cx="5029200" cy="274320"/>
          </a:xfrm>
          <a:prstGeom prst="rect">
            <a:avLst/>
          </a:prstGeom>
          <a:noFill/>
        </p:spPr>
        <p:txBody>
          <a:bodyPr wrap="square" lIns="45720" rIns="45720" tIns="18288" bIns="18288" anchor="t">
            <a:spAutoFit/>
          </a:bodyPr>
          <a:lstStyle/>
          <a:p>
            <a:pPr algn="l"/>
            <a:r>
              <a:rPr sz="1100" b="0" i="1">
                <a:solidFill>
                  <a:srgbClr val="6B6659"/>
                </a:solidFill>
                <a:latin typeface="Calibri"/>
              </a:rPr>
              <a:t>(48"–60" mounting)</a:t>
            </a:r>
          </a:p>
        </p:txBody>
      </p:sp>
      <p:sp>
        <p:nvSpPr>
          <p:cNvPr id="25" name="TextBox 24"/>
          <p:cNvSpPr txBox="1"/>
          <p:nvPr/>
        </p:nvSpPr>
        <p:spPr>
          <a:xfrm>
            <a:off x="5943600" y="4023360"/>
            <a:ext cx="5852160" cy="594360"/>
          </a:xfrm>
          <a:prstGeom prst="rect">
            <a:avLst/>
          </a:prstGeom>
          <a:noFill/>
        </p:spPr>
        <p:txBody>
          <a:bodyPr wrap="square" lIns="45720" rIns="45720" tIns="18288" bIns="18288" anchor="ctr">
            <a:spAutoFit/>
          </a:bodyPr>
          <a:lstStyle/>
          <a:p>
            <a:pPr algn="l"/>
            <a:r>
              <a:rPr sz="1200" b="0" i="0">
                <a:solidFill>
                  <a:srgbClr val="1A1A1A"/>
                </a:solidFill>
                <a:latin typeface="Calibri"/>
              </a:rPr>
              <a:t>Not specified in ANSI 1961. Specified in 1991 ADA 4.30 and 2010 ADA 703.</a:t>
            </a:r>
          </a:p>
        </p:txBody>
      </p:sp>
      <p:sp>
        <p:nvSpPr>
          <p:cNvPr id="26" name="Rectangle 25"/>
          <p:cNvSpPr/>
          <p:nvPr/>
        </p:nvSpPr>
        <p:spPr>
          <a:xfrm>
            <a:off x="502920" y="4709160"/>
            <a:ext cx="164592" cy="59436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754880"/>
            <a:ext cx="5029200" cy="274320"/>
          </a:xfrm>
          <a:prstGeom prst="rect">
            <a:avLst/>
          </a:prstGeom>
          <a:noFill/>
        </p:spPr>
        <p:txBody>
          <a:bodyPr wrap="square" lIns="45720" rIns="45720" tIns="18288" bIns="18288" anchor="t">
            <a:spAutoFit/>
          </a:bodyPr>
          <a:lstStyle/>
          <a:p>
            <a:pPr algn="l"/>
            <a:r>
              <a:rPr sz="1400" b="1" i="0">
                <a:solidFill>
                  <a:srgbClr val="1A2744"/>
                </a:solidFill>
                <a:latin typeface="Calibri"/>
              </a:rPr>
              <a:t>Communication features</a:t>
            </a:r>
          </a:p>
        </p:txBody>
      </p:sp>
      <p:sp>
        <p:nvSpPr>
          <p:cNvPr id="28" name="TextBox 27"/>
          <p:cNvSpPr txBox="1"/>
          <p:nvPr/>
        </p:nvSpPr>
        <p:spPr>
          <a:xfrm>
            <a:off x="777240" y="5029200"/>
            <a:ext cx="5029200" cy="274320"/>
          </a:xfrm>
          <a:prstGeom prst="rect">
            <a:avLst/>
          </a:prstGeom>
          <a:noFill/>
        </p:spPr>
        <p:txBody>
          <a:bodyPr wrap="square" lIns="45720" rIns="45720" tIns="18288" bIns="18288" anchor="t">
            <a:spAutoFit/>
          </a:bodyPr>
          <a:lstStyle/>
          <a:p>
            <a:pPr algn="l"/>
            <a:r>
              <a:rPr sz="1100" b="0" i="1">
                <a:solidFill>
                  <a:srgbClr val="6B6659"/>
                </a:solidFill>
                <a:latin typeface="Calibri"/>
              </a:rPr>
              <a:t>(VRS, captioning equipment)</a:t>
            </a:r>
          </a:p>
        </p:txBody>
      </p:sp>
      <p:sp>
        <p:nvSpPr>
          <p:cNvPr id="29" name="TextBox 28"/>
          <p:cNvSpPr txBox="1"/>
          <p:nvPr/>
        </p:nvSpPr>
        <p:spPr>
          <a:xfrm>
            <a:off x="5943600" y="4709160"/>
            <a:ext cx="5852160" cy="594360"/>
          </a:xfrm>
          <a:prstGeom prst="rect">
            <a:avLst/>
          </a:prstGeom>
          <a:noFill/>
        </p:spPr>
        <p:txBody>
          <a:bodyPr wrap="square" lIns="45720" rIns="45720" tIns="18288" bIns="18288" anchor="ctr">
            <a:spAutoFit/>
          </a:bodyPr>
          <a:lstStyle/>
          <a:p>
            <a:pPr algn="l"/>
            <a:r>
              <a:rPr sz="1200" b="0" i="0">
                <a:solidFill>
                  <a:srgbClr val="1A1A1A"/>
                </a:solidFill>
                <a:latin typeface="Calibri"/>
              </a:rPr>
              <a:t>Outside ANSI 1961 scope — covered later under ADA Title II auxiliary aids analysis.</a:t>
            </a:r>
          </a:p>
        </p:txBody>
      </p:sp>
      <p:sp>
        <p:nvSpPr>
          <p:cNvPr id="30" name="Rectangle 29"/>
          <p:cNvSpPr/>
          <p:nvPr/>
        </p:nvSpPr>
        <p:spPr>
          <a:xfrm>
            <a:off x="502920" y="5394960"/>
            <a:ext cx="164592" cy="59436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440680"/>
            <a:ext cx="5029200" cy="274320"/>
          </a:xfrm>
          <a:prstGeom prst="rect">
            <a:avLst/>
          </a:prstGeom>
          <a:noFill/>
        </p:spPr>
        <p:txBody>
          <a:bodyPr wrap="square" lIns="45720" rIns="45720" tIns="18288" bIns="18288" anchor="t">
            <a:spAutoFit/>
          </a:bodyPr>
          <a:lstStyle/>
          <a:p>
            <a:pPr algn="l"/>
            <a:r>
              <a:rPr sz="1400" b="1" i="0">
                <a:solidFill>
                  <a:srgbClr val="1A2744"/>
                </a:solidFill>
                <a:latin typeface="Calibri"/>
              </a:rPr>
              <a:t>Play structures, athletic field accessibility</a:t>
            </a:r>
          </a:p>
        </p:txBody>
      </p:sp>
      <p:sp>
        <p:nvSpPr>
          <p:cNvPr id="32" name="TextBox 31"/>
          <p:cNvSpPr txBox="1"/>
          <p:nvPr/>
        </p:nvSpPr>
        <p:spPr>
          <a:xfrm>
            <a:off x="5943600" y="5394960"/>
            <a:ext cx="5852160" cy="594360"/>
          </a:xfrm>
          <a:prstGeom prst="rect">
            <a:avLst/>
          </a:prstGeom>
          <a:noFill/>
        </p:spPr>
        <p:txBody>
          <a:bodyPr wrap="square" lIns="45720" rIns="45720" tIns="18288" bIns="18288" anchor="ctr">
            <a:spAutoFit/>
          </a:bodyPr>
          <a:lstStyle/>
          <a:p>
            <a:pPr algn="l"/>
            <a:r>
              <a:rPr sz="1200" b="0" i="0">
                <a:solidFill>
                  <a:srgbClr val="1A1A1A"/>
                </a:solidFill>
                <a:latin typeface="Calibri"/>
              </a:rPr>
              <a:t>Not in ANSI 1961. Specified in 2010 ADA Chapter 10.</a:t>
            </a:r>
          </a:p>
        </p:txBody>
      </p:sp>
      <p:sp>
        <p:nvSpPr>
          <p:cNvPr id="33" name="TextBox 32"/>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34" name="TextBox 33"/>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25 / 63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26 · UFAS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UFAS — Uniform Federal Accessibility Standards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058400" y="914400"/>
            <a:ext cx="1828800" cy="256032"/>
          </a:xfrm>
          <a:prstGeom prst="rect">
            <a:avLst/>
          </a:prstGeom>
          <a:solidFill>
            <a:srgbClr val="DBEAFE"/>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0" y="914400"/>
            <a:ext cx="1828800" cy="256032"/>
          </a:xfrm>
          <a:prstGeom prst="rect">
            <a:avLst/>
          </a:prstGeom>
          <a:noFill/>
        </p:spPr>
        <p:txBody>
          <a:bodyPr wrap="square" lIns="45720" rIns="45720" tIns="18288" bIns="18288" anchor="ctr">
            <a:spAutoFit/>
          </a:bodyPr>
          <a:lstStyle/>
          <a:p>
            <a:pPr algn="ctr"/>
            <a:r>
              <a:rPr sz="1000" b="1" i="0">
                <a:solidFill>
                  <a:srgbClr val="1E3A8A"/>
                </a:solidFill>
                <a:latin typeface="Consolas"/>
              </a:rPr>
              <a:t>UFAS</a:t>
            </a:r>
          </a:p>
        </p:txBody>
      </p:sp>
      <p:sp>
        <p:nvSpPr>
          <p:cNvPr id="11" name="TextBox 10"/>
          <p:cNvSpPr txBox="1"/>
          <p:nvPr/>
        </p:nvSpPr>
        <p:spPr>
          <a:xfrm>
            <a:off x="502920" y="1417320"/>
            <a:ext cx="11247120" cy="411480"/>
          </a:xfrm>
          <a:prstGeom prst="rect">
            <a:avLst/>
          </a:prstGeom>
          <a:noFill/>
        </p:spPr>
        <p:txBody>
          <a:bodyPr wrap="square" lIns="45720" rIns="45720" tIns="18288" bIns="18288" anchor="t">
            <a:spAutoFit/>
          </a:bodyPr>
          <a:lstStyle/>
          <a:p>
            <a:pPr algn="l"/>
            <a:r>
              <a:rPr sz="1500" b="0" i="1">
                <a:solidFill>
                  <a:srgbClr val="6B6659"/>
                </a:solidFill>
                <a:latin typeface="Calibri"/>
              </a:rPr>
              <a:t>The shortest window in §504 — but you still need to know it.</a:t>
            </a:r>
          </a:p>
        </p:txBody>
      </p:sp>
      <p:sp>
        <p:nvSpPr>
          <p:cNvPr id="12" name="TextBox 11"/>
          <p:cNvSpPr txBox="1"/>
          <p:nvPr/>
        </p:nvSpPr>
        <p:spPr>
          <a:xfrm>
            <a:off x="502920" y="1965960"/>
            <a:ext cx="5943600" cy="4572000"/>
          </a:xfrm>
          <a:prstGeom prst="rect">
            <a:avLst/>
          </a:prstGeom>
          <a:noFill/>
        </p:spPr>
        <p:txBody>
          <a:bodyPr wrap="square" lIns="45720" rIns="45720">
            <a:spAutoFit/>
          </a:bodyPr>
          <a:lstStyle/>
          <a:p>
            <a:pPr algn="l">
              <a:spcAft>
                <a:spcPts val="600"/>
              </a:spcAft>
            </a:pPr>
            <a:r>
              <a:rPr sz="1300" b="1">
                <a:solidFill>
                  <a:srgbClr val="1A1A1A"/>
                </a:solidFill>
                <a:latin typeface="Calibri"/>
              </a:rPr>
              <a:t>•  Authority.</a:t>
            </a:r>
            <a:r>
              <a:rPr sz="1300">
                <a:solidFill>
                  <a:srgbClr val="1A1A1A"/>
                </a:solidFill>
                <a:latin typeface="Calibri"/>
              </a:rPr>
              <a:t>  28 CFR § 35.151(a); 34 CFR § 104.23(c); Appendix A to 41 CFR § 101-19.6.</a:t>
            </a:r>
          </a:p>
          <a:p>
            <a:pPr algn="l">
              <a:spcAft>
                <a:spcPts val="600"/>
              </a:spcAft>
            </a:pPr>
            <a:r>
              <a:rPr sz="1300" b="1">
                <a:solidFill>
                  <a:srgbClr val="1A1A1A"/>
                </a:solidFill>
                <a:latin typeface="Calibri"/>
              </a:rPr>
              <a:t>•  Date window.</a:t>
            </a:r>
            <a:r>
              <a:rPr sz="1300">
                <a:solidFill>
                  <a:srgbClr val="1A1A1A"/>
                </a:solidFill>
                <a:latin typeface="Calibri"/>
              </a:rPr>
              <a:t>  January 18, 1991 – January 26, 1992, inclusive.  About 13 months.</a:t>
            </a:r>
          </a:p>
          <a:p>
            <a:pPr algn="l">
              <a:spcAft>
                <a:spcPts val="600"/>
              </a:spcAft>
            </a:pPr>
            <a:r>
              <a:rPr sz="1300" b="1">
                <a:solidFill>
                  <a:srgbClr val="1A1A1A"/>
                </a:solidFill>
                <a:latin typeface="Calibri"/>
              </a:rPr>
              <a:t>•  Published.</a:t>
            </a:r>
            <a:r>
              <a:rPr sz="1300">
                <a:solidFill>
                  <a:srgbClr val="1A1A1A"/>
                </a:solidFill>
                <a:latin typeface="Calibri"/>
              </a:rPr>
              <a:t>  U.S. General Services Administration, 1984.</a:t>
            </a:r>
          </a:p>
          <a:p>
            <a:pPr algn="l">
              <a:spcAft>
                <a:spcPts val="600"/>
              </a:spcAft>
            </a:pPr>
            <a:r>
              <a:rPr sz="1300" b="1">
                <a:solidFill>
                  <a:srgbClr val="1A1A1A"/>
                </a:solidFill>
                <a:latin typeface="Calibri"/>
              </a:rPr>
              <a:t>•  Origin.</a:t>
            </a:r>
            <a:r>
              <a:rPr sz="1300">
                <a:solidFill>
                  <a:srgbClr val="1A1A1A"/>
                </a:solidFill>
                <a:latin typeface="Calibri"/>
              </a:rPr>
              <a:t>  Standardized accessibility for federally-funded construction across all federal agencies (ABA / Architectural Barriers Act, 1968).</a:t>
            </a:r>
          </a:p>
          <a:p>
            <a:pPr algn="l">
              <a:spcAft>
                <a:spcPts val="600"/>
              </a:spcAft>
            </a:pPr>
            <a:r>
              <a:rPr sz="1300" b="1">
                <a:solidFill>
                  <a:srgbClr val="1A1A1A"/>
                </a:solidFill>
                <a:latin typeface="Calibri"/>
              </a:rPr>
              <a:t>•  Departures rule.</a:t>
            </a:r>
            <a:r>
              <a:rPr sz="1300">
                <a:solidFill>
                  <a:srgbClr val="1A1A1A"/>
                </a:solidFill>
                <a:latin typeface="Calibri"/>
              </a:rPr>
              <a:t>  Departures from technical / scoping requirements are permitted when substantially equivalent or greater access is provided. (28 CFR § 35.151(c)).</a:t>
            </a:r>
          </a:p>
          <a:p>
            <a:pPr algn="l">
              <a:spcAft>
                <a:spcPts val="600"/>
              </a:spcAft>
            </a:pPr>
            <a:r>
              <a:rPr sz="1300" b="1">
                <a:solidFill>
                  <a:srgbClr val="1A1A1A"/>
                </a:solidFill>
                <a:latin typeface="Calibri"/>
              </a:rPr>
              <a:t>•  Why short.</a:t>
            </a:r>
            <a:r>
              <a:rPr sz="1300">
                <a:solidFill>
                  <a:srgbClr val="1A1A1A"/>
                </a:solidFill>
                <a:latin typeface="Calibri"/>
              </a:rPr>
              <a:t>  DOJ replaced UFAS as the Title II standard when the 1991 ADA Standards were published. Education adopted the change effective Jan 27, 1992.</a:t>
            </a:r>
          </a:p>
        </p:txBody>
      </p:sp>
      <p:sp>
        <p:nvSpPr>
          <p:cNvPr id="13" name="Rectangle 12"/>
          <p:cNvSpPr/>
          <p:nvPr/>
        </p:nvSpPr>
        <p:spPr>
          <a:xfrm>
            <a:off x="6675120" y="1965960"/>
            <a:ext cx="5074920" cy="43891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2103120"/>
            <a:ext cx="4846320" cy="365760"/>
          </a:xfrm>
          <a:prstGeom prst="rect">
            <a:avLst/>
          </a:prstGeom>
          <a:noFill/>
        </p:spPr>
        <p:txBody>
          <a:bodyPr wrap="square" lIns="45720" rIns="45720" tIns="18288" bIns="18288" anchor="t">
            <a:spAutoFit/>
          </a:bodyPr>
          <a:lstStyle/>
          <a:p>
            <a:pPr algn="l"/>
            <a:r>
              <a:rPr sz="1400" b="1" i="0">
                <a:solidFill>
                  <a:srgbClr val="1A2744"/>
                </a:solidFill>
                <a:latin typeface="Calibri"/>
              </a:rPr>
              <a:t>When you'll see it</a:t>
            </a:r>
          </a:p>
        </p:txBody>
      </p:sp>
      <p:sp>
        <p:nvSpPr>
          <p:cNvPr id="15" name="TextBox 14"/>
          <p:cNvSpPr txBox="1"/>
          <p:nvPr/>
        </p:nvSpPr>
        <p:spPr>
          <a:xfrm>
            <a:off x="6858000" y="2514600"/>
            <a:ext cx="4846320" cy="3749039"/>
          </a:xfrm>
          <a:prstGeom prst="rect">
            <a:avLst/>
          </a:prstGeom>
          <a:noFill/>
        </p:spPr>
        <p:txBody>
          <a:bodyPr wrap="square" lIns="45720" rIns="45720">
            <a:spAutoFit/>
          </a:bodyPr>
          <a:lstStyle/>
          <a:p>
            <a:pPr algn="l">
              <a:spcAft>
                <a:spcPts val="800"/>
              </a:spcAft>
            </a:pPr>
            <a:r>
              <a:rPr sz="1200" b="0">
                <a:solidFill>
                  <a:srgbClr val="1A1A1A"/>
                </a:solidFill>
                <a:latin typeface="Calibri"/>
              </a:rPr>
              <a:t>•  Very rarely in CA K-12 — most schools were not built or altered in this 13-month window.</a:t>
            </a:r>
          </a:p>
          <a:p>
            <a:pPr algn="l">
              <a:spcAft>
                <a:spcPts val="800"/>
              </a:spcAft>
            </a:pPr>
            <a:r>
              <a:rPr sz="1200" b="0">
                <a:solidFill>
                  <a:srgbClr val="1A1A1A"/>
                </a:solidFill>
                <a:latin typeface="Calibri"/>
              </a:rPr>
              <a:t>•  Possible candidates: facilities completed in 1991 (calendar year) — check the DSA stamp date.</a:t>
            </a:r>
          </a:p>
          <a:p>
            <a:pPr algn="l">
              <a:spcAft>
                <a:spcPts val="800"/>
              </a:spcAft>
            </a:pPr>
            <a:r>
              <a:rPr sz="1200" b="0">
                <a:solidFill>
                  <a:srgbClr val="1A1A1A"/>
                </a:solidFill>
                <a:latin typeface="Calibri"/>
              </a:rPr>
              <a:t>•  If you see UFAS in the standard column, double-check the alteration / construction date against the table.</a:t>
            </a:r>
          </a:p>
          <a:p>
            <a:pPr algn="l">
              <a:spcAft>
                <a:spcPts val="800"/>
              </a:spcAft>
            </a:pPr>
            <a:r>
              <a:rPr sz="1200" b="0">
                <a:solidFill>
                  <a:srgbClr val="1A1A1A"/>
                </a:solidFill>
                <a:latin typeface="Calibri"/>
              </a:rPr>
              <a:t>•  When UFAS does apply, dimensions are similar to 1991 ADA — cite UFAS sections directly (UFAS 4.5 Ramps, 4.8 Doors, etc.).</a:t>
            </a:r>
          </a:p>
        </p:txBody>
      </p:sp>
      <p:sp>
        <p:nvSpPr>
          <p:cNvPr id="16" name="TextBox 15"/>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7" name="TextBox 16"/>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26 / 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27 · UFAS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UFAS in K-12 context — what to look for</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54864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17320"/>
            <a:ext cx="5486400" cy="4572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5486400" cy="457200"/>
          </a:xfrm>
          <a:prstGeom prst="rect">
            <a:avLst/>
          </a:prstGeom>
          <a:noFill/>
        </p:spPr>
        <p:txBody>
          <a:bodyPr wrap="square" lIns="45720" rIns="45720" tIns="18288" bIns="18288" anchor="ctr">
            <a:spAutoFit/>
          </a:bodyPr>
          <a:lstStyle/>
          <a:p>
            <a:pPr algn="ctr"/>
            <a:r>
              <a:rPr sz="1100" b="1" i="0">
                <a:solidFill>
                  <a:srgbClr val="C8A84B"/>
                </a:solidFill>
                <a:latin typeface="Consolas"/>
              </a:rPr>
              <a:t>WHERE UFAS MATCHES 1991 ADA</a:t>
            </a:r>
          </a:p>
        </p:txBody>
      </p:sp>
      <p:sp>
        <p:nvSpPr>
          <p:cNvPr id="12" name="TextBox 11"/>
          <p:cNvSpPr txBox="1"/>
          <p:nvPr/>
        </p:nvSpPr>
        <p:spPr>
          <a:xfrm>
            <a:off x="685800" y="1965960"/>
            <a:ext cx="5212080" cy="4297680"/>
          </a:xfrm>
          <a:prstGeom prst="rect">
            <a:avLst/>
          </a:prstGeom>
          <a:noFill/>
        </p:spPr>
        <p:txBody>
          <a:bodyPr wrap="square" lIns="45720" rIns="45720">
            <a:spAutoFit/>
          </a:bodyPr>
          <a:lstStyle/>
          <a:p>
            <a:pPr algn="l">
              <a:spcAft>
                <a:spcPts val="800"/>
              </a:spcAft>
            </a:pPr>
            <a:r>
              <a:rPr sz="1300" b="0">
                <a:solidFill>
                  <a:srgbClr val="1A1A1A"/>
                </a:solidFill>
                <a:latin typeface="Calibri"/>
              </a:rPr>
              <a:t>•  Ramp running slope (max 1:12).</a:t>
            </a:r>
          </a:p>
          <a:p>
            <a:pPr algn="l">
              <a:spcAft>
                <a:spcPts val="800"/>
              </a:spcAft>
            </a:pPr>
            <a:r>
              <a:rPr sz="1300" b="0">
                <a:solidFill>
                  <a:srgbClr val="1A1A1A"/>
                </a:solidFill>
                <a:latin typeface="Calibri"/>
              </a:rPr>
              <a:t>•  Handrail height (34"–38").</a:t>
            </a:r>
          </a:p>
          <a:p>
            <a:pPr algn="l">
              <a:spcAft>
                <a:spcPts val="800"/>
              </a:spcAft>
            </a:pPr>
            <a:r>
              <a:rPr sz="1300" b="0">
                <a:solidFill>
                  <a:srgbClr val="1A1A1A"/>
                </a:solidFill>
                <a:latin typeface="Calibri"/>
              </a:rPr>
              <a:t>•  Door clear width (32" min).</a:t>
            </a:r>
          </a:p>
          <a:p>
            <a:pPr algn="l">
              <a:spcAft>
                <a:spcPts val="800"/>
              </a:spcAft>
            </a:pPr>
            <a:r>
              <a:rPr sz="1300" b="0">
                <a:solidFill>
                  <a:srgbClr val="1A1A1A"/>
                </a:solidFill>
                <a:latin typeface="Calibri"/>
              </a:rPr>
              <a:t>•  Toilet seat height (17"–19").</a:t>
            </a:r>
          </a:p>
          <a:p>
            <a:pPr algn="l">
              <a:spcAft>
                <a:spcPts val="800"/>
              </a:spcAft>
            </a:pPr>
            <a:r>
              <a:rPr sz="1300" b="0">
                <a:solidFill>
                  <a:srgbClr val="1A1A1A"/>
                </a:solidFill>
                <a:latin typeface="Calibri"/>
              </a:rPr>
              <a:t>•  Grab bar height (33"–36").</a:t>
            </a:r>
          </a:p>
          <a:p>
            <a:pPr algn="l">
              <a:spcAft>
                <a:spcPts val="800"/>
              </a:spcAft>
            </a:pPr>
            <a:r>
              <a:rPr sz="1300" b="0">
                <a:solidFill>
                  <a:srgbClr val="1A1A1A"/>
                </a:solidFill>
                <a:latin typeface="Calibri"/>
              </a:rPr>
              <a:t>•  Drinking fountain spout height (max 36").</a:t>
            </a:r>
          </a:p>
        </p:txBody>
      </p:sp>
      <p:sp>
        <p:nvSpPr>
          <p:cNvPr id="13" name="Rectangle 12"/>
          <p:cNvSpPr/>
          <p:nvPr/>
        </p:nvSpPr>
        <p:spPr>
          <a:xfrm>
            <a:off x="6263640" y="1417320"/>
            <a:ext cx="54864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417320"/>
            <a:ext cx="5486400" cy="4572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417320"/>
            <a:ext cx="5486400" cy="457200"/>
          </a:xfrm>
          <a:prstGeom prst="rect">
            <a:avLst/>
          </a:prstGeom>
          <a:noFill/>
        </p:spPr>
        <p:txBody>
          <a:bodyPr wrap="square" lIns="45720" rIns="45720" tIns="18288" bIns="18288" anchor="ctr">
            <a:spAutoFit/>
          </a:bodyPr>
          <a:lstStyle/>
          <a:p>
            <a:pPr algn="ctr"/>
            <a:r>
              <a:rPr sz="1100" b="1" i="0">
                <a:solidFill>
                  <a:srgbClr val="C8A84B"/>
                </a:solidFill>
                <a:latin typeface="Consolas"/>
              </a:rPr>
              <a:t>UFAS QUIRKS</a:t>
            </a:r>
          </a:p>
        </p:txBody>
      </p:sp>
      <p:sp>
        <p:nvSpPr>
          <p:cNvPr id="16" name="TextBox 15"/>
          <p:cNvSpPr txBox="1"/>
          <p:nvPr/>
        </p:nvSpPr>
        <p:spPr>
          <a:xfrm>
            <a:off x="6446520" y="1965960"/>
            <a:ext cx="5212080" cy="4297680"/>
          </a:xfrm>
          <a:prstGeom prst="rect">
            <a:avLst/>
          </a:prstGeom>
          <a:noFill/>
        </p:spPr>
        <p:txBody>
          <a:bodyPr wrap="square" lIns="45720" rIns="45720">
            <a:spAutoFit/>
          </a:bodyPr>
          <a:lstStyle/>
          <a:p>
            <a:pPr algn="l">
              <a:spcAft>
                <a:spcPts val="600"/>
              </a:spcAft>
            </a:pPr>
            <a:r>
              <a:rPr sz="1200" b="1">
                <a:solidFill>
                  <a:srgbClr val="1A1A1A"/>
                </a:solidFill>
                <a:latin typeface="Calibri"/>
              </a:rPr>
              <a:t>•  Departure provision.</a:t>
            </a:r>
            <a:r>
              <a:rPr sz="1200">
                <a:solidFill>
                  <a:srgbClr val="1A1A1A"/>
                </a:solidFill>
                <a:latin typeface="Calibri"/>
              </a:rPr>
              <a:t>  UFAS 2.2 — substantial equivalent access is acceptable.</a:t>
            </a:r>
          </a:p>
          <a:p>
            <a:pPr algn="l">
              <a:spcAft>
                <a:spcPts val="600"/>
              </a:spcAft>
            </a:pPr>
            <a:r>
              <a:rPr sz="1200" b="1">
                <a:solidFill>
                  <a:srgbClr val="1A1A1A"/>
                </a:solidFill>
                <a:latin typeface="Calibri"/>
              </a:rPr>
              <a:t>•  Different section numbering.</a:t>
            </a:r>
            <a:r>
              <a:rPr sz="1200">
                <a:solidFill>
                  <a:srgbClr val="1A1A1A"/>
                </a:solidFill>
                <a:latin typeface="Calibri"/>
              </a:rPr>
              <a:t>  UFAS organizes by section number, not by use-case. 4.5 = ramps, 4.6 = parking.</a:t>
            </a:r>
          </a:p>
          <a:p>
            <a:pPr algn="l">
              <a:spcAft>
                <a:spcPts val="600"/>
              </a:spcAft>
            </a:pPr>
            <a:r>
              <a:rPr sz="1200" b="1">
                <a:solidFill>
                  <a:srgbClr val="1A1A1A"/>
                </a:solidFill>
                <a:latin typeface="Calibri"/>
              </a:rPr>
              <a:t>•  No detectable warnings.</a:t>
            </a:r>
            <a:r>
              <a:rPr sz="1200">
                <a:solidFill>
                  <a:srgbClr val="1A1A1A"/>
                </a:solidFill>
                <a:latin typeface="Calibri"/>
              </a:rPr>
              <a:t>  Predates 1991 ADAAG, no truncated domes required.</a:t>
            </a:r>
          </a:p>
          <a:p>
            <a:pPr algn="l">
              <a:spcAft>
                <a:spcPts val="600"/>
              </a:spcAft>
            </a:pPr>
            <a:r>
              <a:rPr sz="1200" b="1">
                <a:solidFill>
                  <a:srgbClr val="1A1A1A"/>
                </a:solidFill>
                <a:latin typeface="Calibri"/>
              </a:rPr>
              <a:t>•  Drinking fountain dual-height.</a:t>
            </a:r>
            <a:r>
              <a:rPr sz="1200">
                <a:solidFill>
                  <a:srgbClr val="1A1A1A"/>
                </a:solidFill>
                <a:latin typeface="Calibri"/>
              </a:rPr>
              <a:t>  Spec includes high and low fountain — pre-1991 ADA refinements.</a:t>
            </a:r>
          </a:p>
        </p:txBody>
      </p:sp>
      <p:sp>
        <p:nvSpPr>
          <p:cNvPr id="17" name="TextBox 16"/>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8" name="TextBox 17"/>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27 / 63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28 · 1991 ADA</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1991 ADA Standards / ADAAG — overview</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01200" y="914400"/>
            <a:ext cx="2286000" cy="256032"/>
          </a:xfrm>
          <a:prstGeom prst="rect">
            <a:avLst/>
          </a:prstGeom>
          <a:solidFill>
            <a:srgbClr val="D1FAE5"/>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914400"/>
            <a:ext cx="2286000" cy="256032"/>
          </a:xfrm>
          <a:prstGeom prst="rect">
            <a:avLst/>
          </a:prstGeom>
          <a:noFill/>
        </p:spPr>
        <p:txBody>
          <a:bodyPr wrap="square" lIns="45720" rIns="45720" tIns="18288" bIns="18288" anchor="ctr">
            <a:spAutoFit/>
          </a:bodyPr>
          <a:lstStyle/>
          <a:p>
            <a:pPr algn="ctr"/>
            <a:r>
              <a:rPr sz="1000" b="1" i="0">
                <a:solidFill>
                  <a:srgbClr val="064E3B"/>
                </a:solidFill>
                <a:latin typeface="Consolas"/>
              </a:rPr>
              <a:t>1991 ADA</a:t>
            </a:r>
          </a:p>
        </p:txBody>
      </p:sp>
      <p:sp>
        <p:nvSpPr>
          <p:cNvPr id="11" name="TextBox 10"/>
          <p:cNvSpPr txBox="1"/>
          <p:nvPr/>
        </p:nvSpPr>
        <p:spPr>
          <a:xfrm>
            <a:off x="502920" y="1417320"/>
            <a:ext cx="11247120" cy="411480"/>
          </a:xfrm>
          <a:prstGeom prst="rect">
            <a:avLst/>
          </a:prstGeom>
          <a:noFill/>
        </p:spPr>
        <p:txBody>
          <a:bodyPr wrap="square" lIns="45720" rIns="45720" tIns="18288" bIns="18288" anchor="t">
            <a:spAutoFit/>
          </a:bodyPr>
          <a:lstStyle/>
          <a:p>
            <a:pPr algn="l"/>
            <a:r>
              <a:rPr sz="1400" b="0" i="1">
                <a:solidFill>
                  <a:srgbClr val="6B6659"/>
                </a:solidFill>
                <a:latin typeface="Calibri"/>
              </a:rPr>
              <a:t>The first generation of ADA dimensional standards — controls 18+ years of CA school construction.</a:t>
            </a:r>
          </a:p>
        </p:txBody>
      </p:sp>
      <p:sp>
        <p:nvSpPr>
          <p:cNvPr id="12" name="TextBox 11"/>
          <p:cNvSpPr txBox="1"/>
          <p:nvPr/>
        </p:nvSpPr>
        <p:spPr>
          <a:xfrm>
            <a:off x="502920" y="1920240"/>
            <a:ext cx="5943600" cy="4572000"/>
          </a:xfrm>
          <a:prstGeom prst="rect">
            <a:avLst/>
          </a:prstGeom>
          <a:noFill/>
        </p:spPr>
        <p:txBody>
          <a:bodyPr wrap="square" lIns="45720" rIns="45720">
            <a:spAutoFit/>
          </a:bodyPr>
          <a:lstStyle/>
          <a:p>
            <a:pPr algn="l">
              <a:spcAft>
                <a:spcPts val="600"/>
              </a:spcAft>
            </a:pPr>
            <a:r>
              <a:rPr sz="1300" b="1">
                <a:solidFill>
                  <a:srgbClr val="1A1A1A"/>
                </a:solidFill>
                <a:latin typeface="Calibri"/>
              </a:rPr>
              <a:t>•  Authority.</a:t>
            </a:r>
            <a:r>
              <a:rPr sz="1300">
                <a:solidFill>
                  <a:srgbClr val="1A1A1A"/>
                </a:solidFill>
                <a:latin typeface="Calibri"/>
              </a:rPr>
              <a:t>  28 CFR Part 36, Appendix D; adopted into §504 via 34 CFR § 104.23.</a:t>
            </a:r>
          </a:p>
          <a:p>
            <a:pPr algn="l">
              <a:spcAft>
                <a:spcPts val="600"/>
              </a:spcAft>
            </a:pPr>
            <a:r>
              <a:rPr sz="1300" b="1">
                <a:solidFill>
                  <a:srgbClr val="1A1A1A"/>
                </a:solidFill>
                <a:latin typeface="Calibri"/>
              </a:rPr>
              <a:t>•  Date window.</a:t>
            </a:r>
            <a:r>
              <a:rPr sz="1300">
                <a:solidFill>
                  <a:srgbClr val="1A1A1A"/>
                </a:solidFill>
                <a:latin typeface="Calibri"/>
              </a:rPr>
              <a:t>  January 27, 1992 – September 14, 2010. Overlap with 2010 ADA from Sep 15, 2010 to Mar 14, 2012.</a:t>
            </a:r>
          </a:p>
          <a:p>
            <a:pPr algn="l">
              <a:spcAft>
                <a:spcPts val="600"/>
              </a:spcAft>
            </a:pPr>
            <a:r>
              <a:rPr sz="1300" b="1">
                <a:solidFill>
                  <a:srgbClr val="1A1A1A"/>
                </a:solidFill>
                <a:latin typeface="Calibri"/>
              </a:rPr>
              <a:t>•  Published.</a:t>
            </a:r>
            <a:r>
              <a:rPr sz="1300">
                <a:solidFill>
                  <a:srgbClr val="1A1A1A"/>
                </a:solidFill>
                <a:latin typeface="Calibri"/>
              </a:rPr>
              <a:t>  ADA Accessibility Guidelines for Buildings and Facilities (ADAAG), Department of Justice / Architectural and Transportation Barriers Compliance Board, 1991.</a:t>
            </a:r>
          </a:p>
          <a:p>
            <a:pPr algn="l">
              <a:spcAft>
                <a:spcPts val="600"/>
              </a:spcAft>
            </a:pPr>
            <a:r>
              <a:rPr sz="1300" b="1">
                <a:solidFill>
                  <a:srgbClr val="1A1A1A"/>
                </a:solidFill>
                <a:latin typeface="Calibri"/>
              </a:rPr>
              <a:t>•  Structure.</a:t>
            </a:r>
            <a:r>
              <a:rPr sz="1300">
                <a:solidFill>
                  <a:srgbClr val="1A1A1A"/>
                </a:solidFill>
                <a:latin typeface="Calibri"/>
              </a:rPr>
              <a:t>  Sections 4.1–4.34: building elements. Section 5 onwards: special occupancy types (restaurants, libraries, transient lodging, etc.).</a:t>
            </a:r>
          </a:p>
          <a:p>
            <a:pPr algn="l">
              <a:spcAft>
                <a:spcPts val="600"/>
              </a:spcAft>
            </a:pPr>
            <a:r>
              <a:rPr sz="1300" b="1">
                <a:solidFill>
                  <a:srgbClr val="1A1A1A"/>
                </a:solidFill>
                <a:latin typeface="Calibri"/>
              </a:rPr>
              <a:t>•  Key advance.</a:t>
            </a:r>
            <a:r>
              <a:rPr sz="1300">
                <a:solidFill>
                  <a:srgbClr val="1A1A1A"/>
                </a:solidFill>
                <a:latin typeface="Calibri"/>
              </a:rPr>
              <a:t>  First standard to include detectable warnings, van-accessible parking, ISA signage requirements, and comprehensive toilet-room geometry.</a:t>
            </a:r>
          </a:p>
        </p:txBody>
      </p:sp>
      <p:sp>
        <p:nvSpPr>
          <p:cNvPr id="13" name="Rectangle 12"/>
          <p:cNvSpPr/>
          <p:nvPr/>
        </p:nvSpPr>
        <p:spPr>
          <a:xfrm>
            <a:off x="6675120" y="1920240"/>
            <a:ext cx="5074920" cy="44348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1920240"/>
            <a:ext cx="507492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1920240"/>
            <a:ext cx="5074920" cy="411480"/>
          </a:xfrm>
          <a:prstGeom prst="rect">
            <a:avLst/>
          </a:prstGeom>
          <a:noFill/>
        </p:spPr>
        <p:txBody>
          <a:bodyPr wrap="square" lIns="45720" rIns="45720" tIns="18288" bIns="18288" anchor="ctr">
            <a:spAutoFit/>
          </a:bodyPr>
          <a:lstStyle/>
          <a:p>
            <a:pPr algn="ctr"/>
            <a:r>
              <a:rPr sz="1100" b="1" i="0">
                <a:solidFill>
                  <a:srgbClr val="C8A84B"/>
                </a:solidFill>
                <a:latin typeface="Consolas"/>
              </a:rPr>
              <a:t>1991 ADAAG — STRUCTURE</a:t>
            </a:r>
          </a:p>
        </p:txBody>
      </p:sp>
      <p:sp>
        <p:nvSpPr>
          <p:cNvPr id="16" name="TextBox 15"/>
          <p:cNvSpPr txBox="1"/>
          <p:nvPr/>
        </p:nvSpPr>
        <p:spPr>
          <a:xfrm>
            <a:off x="6858000" y="2377440"/>
            <a:ext cx="731520" cy="329184"/>
          </a:xfrm>
          <a:prstGeom prst="rect">
            <a:avLst/>
          </a:prstGeom>
          <a:noFill/>
        </p:spPr>
        <p:txBody>
          <a:bodyPr wrap="square" lIns="45720" rIns="45720" tIns="18288" bIns="18288" anchor="t">
            <a:spAutoFit/>
          </a:bodyPr>
          <a:lstStyle/>
          <a:p>
            <a:pPr algn="l"/>
            <a:r>
              <a:rPr sz="1000" b="1" i="0">
                <a:solidFill>
                  <a:srgbClr val="1A2744"/>
                </a:solidFill>
                <a:latin typeface="Consolas"/>
              </a:rPr>
              <a:t>4.1</a:t>
            </a:r>
          </a:p>
        </p:txBody>
      </p:sp>
      <p:sp>
        <p:nvSpPr>
          <p:cNvPr id="17" name="TextBox 16"/>
          <p:cNvSpPr txBox="1"/>
          <p:nvPr/>
        </p:nvSpPr>
        <p:spPr>
          <a:xfrm>
            <a:off x="7680960" y="2377440"/>
            <a:ext cx="4023360" cy="329184"/>
          </a:xfrm>
          <a:prstGeom prst="rect">
            <a:avLst/>
          </a:prstGeom>
          <a:noFill/>
        </p:spPr>
        <p:txBody>
          <a:bodyPr wrap="square" lIns="45720" rIns="45720" tIns="18288" bIns="18288" anchor="t">
            <a:spAutoFit/>
          </a:bodyPr>
          <a:lstStyle/>
          <a:p>
            <a:pPr algn="l"/>
            <a:r>
              <a:rPr sz="1100" b="0" i="0">
                <a:solidFill>
                  <a:srgbClr val="1A1A1A"/>
                </a:solidFill>
                <a:latin typeface="Calibri"/>
              </a:rPr>
              <a:t>Minimum requirements / scoping</a:t>
            </a:r>
          </a:p>
        </p:txBody>
      </p:sp>
      <p:sp>
        <p:nvSpPr>
          <p:cNvPr id="18" name="TextBox 17"/>
          <p:cNvSpPr txBox="1"/>
          <p:nvPr/>
        </p:nvSpPr>
        <p:spPr>
          <a:xfrm>
            <a:off x="6858000" y="2724912"/>
            <a:ext cx="731520" cy="329184"/>
          </a:xfrm>
          <a:prstGeom prst="rect">
            <a:avLst/>
          </a:prstGeom>
          <a:noFill/>
        </p:spPr>
        <p:txBody>
          <a:bodyPr wrap="square" lIns="45720" rIns="45720" tIns="18288" bIns="18288" anchor="t">
            <a:spAutoFit/>
          </a:bodyPr>
          <a:lstStyle/>
          <a:p>
            <a:pPr algn="l"/>
            <a:r>
              <a:rPr sz="1000" b="1" i="0">
                <a:solidFill>
                  <a:srgbClr val="1A2744"/>
                </a:solidFill>
                <a:latin typeface="Consolas"/>
              </a:rPr>
              <a:t>4.3</a:t>
            </a:r>
          </a:p>
        </p:txBody>
      </p:sp>
      <p:sp>
        <p:nvSpPr>
          <p:cNvPr id="19" name="TextBox 18"/>
          <p:cNvSpPr txBox="1"/>
          <p:nvPr/>
        </p:nvSpPr>
        <p:spPr>
          <a:xfrm>
            <a:off x="7680960" y="2724912"/>
            <a:ext cx="4023360" cy="329184"/>
          </a:xfrm>
          <a:prstGeom prst="rect">
            <a:avLst/>
          </a:prstGeom>
          <a:noFill/>
        </p:spPr>
        <p:txBody>
          <a:bodyPr wrap="square" lIns="45720" rIns="45720" tIns="18288" bIns="18288" anchor="t">
            <a:spAutoFit/>
          </a:bodyPr>
          <a:lstStyle/>
          <a:p>
            <a:pPr algn="l"/>
            <a:r>
              <a:rPr sz="1100" b="0" i="0">
                <a:solidFill>
                  <a:srgbClr val="1A1A1A"/>
                </a:solidFill>
                <a:latin typeface="Calibri"/>
              </a:rPr>
              <a:t>Accessible routes</a:t>
            </a:r>
          </a:p>
        </p:txBody>
      </p:sp>
      <p:sp>
        <p:nvSpPr>
          <p:cNvPr id="20" name="TextBox 19"/>
          <p:cNvSpPr txBox="1"/>
          <p:nvPr/>
        </p:nvSpPr>
        <p:spPr>
          <a:xfrm>
            <a:off x="6858000" y="3072384"/>
            <a:ext cx="731520" cy="329184"/>
          </a:xfrm>
          <a:prstGeom prst="rect">
            <a:avLst/>
          </a:prstGeom>
          <a:noFill/>
        </p:spPr>
        <p:txBody>
          <a:bodyPr wrap="square" lIns="45720" rIns="45720" tIns="18288" bIns="18288" anchor="t">
            <a:spAutoFit/>
          </a:bodyPr>
          <a:lstStyle/>
          <a:p>
            <a:pPr algn="l"/>
            <a:r>
              <a:rPr sz="1000" b="1" i="0">
                <a:solidFill>
                  <a:srgbClr val="1A2744"/>
                </a:solidFill>
                <a:latin typeface="Consolas"/>
              </a:rPr>
              <a:t>4.5</a:t>
            </a:r>
          </a:p>
        </p:txBody>
      </p:sp>
      <p:sp>
        <p:nvSpPr>
          <p:cNvPr id="21" name="TextBox 20"/>
          <p:cNvSpPr txBox="1"/>
          <p:nvPr/>
        </p:nvSpPr>
        <p:spPr>
          <a:xfrm>
            <a:off x="7680960" y="3072384"/>
            <a:ext cx="4023360" cy="329184"/>
          </a:xfrm>
          <a:prstGeom prst="rect">
            <a:avLst/>
          </a:prstGeom>
          <a:noFill/>
        </p:spPr>
        <p:txBody>
          <a:bodyPr wrap="square" lIns="45720" rIns="45720" tIns="18288" bIns="18288" anchor="t">
            <a:spAutoFit/>
          </a:bodyPr>
          <a:lstStyle/>
          <a:p>
            <a:pPr algn="l"/>
            <a:r>
              <a:rPr sz="1100" b="0" i="0">
                <a:solidFill>
                  <a:srgbClr val="1A1A1A"/>
                </a:solidFill>
                <a:latin typeface="Calibri"/>
              </a:rPr>
              <a:t>Ground &amp; floor surfaces</a:t>
            </a:r>
          </a:p>
        </p:txBody>
      </p:sp>
      <p:sp>
        <p:nvSpPr>
          <p:cNvPr id="22" name="TextBox 21"/>
          <p:cNvSpPr txBox="1"/>
          <p:nvPr/>
        </p:nvSpPr>
        <p:spPr>
          <a:xfrm>
            <a:off x="6858000" y="3419856"/>
            <a:ext cx="731520" cy="329184"/>
          </a:xfrm>
          <a:prstGeom prst="rect">
            <a:avLst/>
          </a:prstGeom>
          <a:noFill/>
        </p:spPr>
        <p:txBody>
          <a:bodyPr wrap="square" lIns="45720" rIns="45720" tIns="18288" bIns="18288" anchor="t">
            <a:spAutoFit/>
          </a:bodyPr>
          <a:lstStyle/>
          <a:p>
            <a:pPr algn="l"/>
            <a:r>
              <a:rPr sz="1000" b="1" i="0">
                <a:solidFill>
                  <a:srgbClr val="1A2744"/>
                </a:solidFill>
                <a:latin typeface="Consolas"/>
              </a:rPr>
              <a:t>4.6</a:t>
            </a:r>
          </a:p>
        </p:txBody>
      </p:sp>
      <p:sp>
        <p:nvSpPr>
          <p:cNvPr id="23" name="TextBox 22"/>
          <p:cNvSpPr txBox="1"/>
          <p:nvPr/>
        </p:nvSpPr>
        <p:spPr>
          <a:xfrm>
            <a:off x="7680960" y="3419856"/>
            <a:ext cx="4023360" cy="329184"/>
          </a:xfrm>
          <a:prstGeom prst="rect">
            <a:avLst/>
          </a:prstGeom>
          <a:noFill/>
        </p:spPr>
        <p:txBody>
          <a:bodyPr wrap="square" lIns="45720" rIns="45720" tIns="18288" bIns="18288" anchor="t">
            <a:spAutoFit/>
          </a:bodyPr>
          <a:lstStyle/>
          <a:p>
            <a:pPr algn="l"/>
            <a:r>
              <a:rPr sz="1100" b="0" i="0">
                <a:solidFill>
                  <a:srgbClr val="1A1A1A"/>
                </a:solidFill>
                <a:latin typeface="Calibri"/>
              </a:rPr>
              <a:t>Parking &amp; passenger loading</a:t>
            </a:r>
          </a:p>
        </p:txBody>
      </p:sp>
      <p:sp>
        <p:nvSpPr>
          <p:cNvPr id="24" name="TextBox 23"/>
          <p:cNvSpPr txBox="1"/>
          <p:nvPr/>
        </p:nvSpPr>
        <p:spPr>
          <a:xfrm>
            <a:off x="6858000" y="3767328"/>
            <a:ext cx="731520" cy="329184"/>
          </a:xfrm>
          <a:prstGeom prst="rect">
            <a:avLst/>
          </a:prstGeom>
          <a:noFill/>
        </p:spPr>
        <p:txBody>
          <a:bodyPr wrap="square" lIns="45720" rIns="45720" tIns="18288" bIns="18288" anchor="t">
            <a:spAutoFit/>
          </a:bodyPr>
          <a:lstStyle/>
          <a:p>
            <a:pPr algn="l"/>
            <a:r>
              <a:rPr sz="1000" b="1" i="0">
                <a:solidFill>
                  <a:srgbClr val="1A2744"/>
                </a:solidFill>
                <a:latin typeface="Consolas"/>
              </a:rPr>
              <a:t>4.8</a:t>
            </a:r>
          </a:p>
        </p:txBody>
      </p:sp>
      <p:sp>
        <p:nvSpPr>
          <p:cNvPr id="25" name="TextBox 24"/>
          <p:cNvSpPr txBox="1"/>
          <p:nvPr/>
        </p:nvSpPr>
        <p:spPr>
          <a:xfrm>
            <a:off x="7680960" y="3767328"/>
            <a:ext cx="4023360" cy="329184"/>
          </a:xfrm>
          <a:prstGeom prst="rect">
            <a:avLst/>
          </a:prstGeom>
          <a:noFill/>
        </p:spPr>
        <p:txBody>
          <a:bodyPr wrap="square" lIns="45720" rIns="45720" tIns="18288" bIns="18288" anchor="t">
            <a:spAutoFit/>
          </a:bodyPr>
          <a:lstStyle/>
          <a:p>
            <a:pPr algn="l"/>
            <a:r>
              <a:rPr sz="1100" b="0" i="0">
                <a:solidFill>
                  <a:srgbClr val="1A1A1A"/>
                </a:solidFill>
                <a:latin typeface="Calibri"/>
              </a:rPr>
              <a:t>Ramps</a:t>
            </a:r>
          </a:p>
        </p:txBody>
      </p:sp>
      <p:sp>
        <p:nvSpPr>
          <p:cNvPr id="26" name="TextBox 25"/>
          <p:cNvSpPr txBox="1"/>
          <p:nvPr/>
        </p:nvSpPr>
        <p:spPr>
          <a:xfrm>
            <a:off x="6858000" y="4114800"/>
            <a:ext cx="731520" cy="329184"/>
          </a:xfrm>
          <a:prstGeom prst="rect">
            <a:avLst/>
          </a:prstGeom>
          <a:noFill/>
        </p:spPr>
        <p:txBody>
          <a:bodyPr wrap="square" lIns="45720" rIns="45720" tIns="18288" bIns="18288" anchor="t">
            <a:spAutoFit/>
          </a:bodyPr>
          <a:lstStyle/>
          <a:p>
            <a:pPr algn="l"/>
            <a:r>
              <a:rPr sz="1000" b="1" i="0">
                <a:solidFill>
                  <a:srgbClr val="1A2744"/>
                </a:solidFill>
                <a:latin typeface="Consolas"/>
              </a:rPr>
              <a:t>4.13</a:t>
            </a:r>
          </a:p>
        </p:txBody>
      </p:sp>
      <p:sp>
        <p:nvSpPr>
          <p:cNvPr id="27" name="TextBox 26"/>
          <p:cNvSpPr txBox="1"/>
          <p:nvPr/>
        </p:nvSpPr>
        <p:spPr>
          <a:xfrm>
            <a:off x="7680960" y="4114800"/>
            <a:ext cx="4023360" cy="329184"/>
          </a:xfrm>
          <a:prstGeom prst="rect">
            <a:avLst/>
          </a:prstGeom>
          <a:noFill/>
        </p:spPr>
        <p:txBody>
          <a:bodyPr wrap="square" lIns="45720" rIns="45720" tIns="18288" bIns="18288" anchor="t">
            <a:spAutoFit/>
          </a:bodyPr>
          <a:lstStyle/>
          <a:p>
            <a:pPr algn="l"/>
            <a:r>
              <a:rPr sz="1100" b="0" i="0">
                <a:solidFill>
                  <a:srgbClr val="1A1A1A"/>
                </a:solidFill>
                <a:latin typeface="Calibri"/>
              </a:rPr>
              <a:t>Doors</a:t>
            </a:r>
          </a:p>
        </p:txBody>
      </p:sp>
      <p:sp>
        <p:nvSpPr>
          <p:cNvPr id="28" name="TextBox 27"/>
          <p:cNvSpPr txBox="1"/>
          <p:nvPr/>
        </p:nvSpPr>
        <p:spPr>
          <a:xfrm>
            <a:off x="6858000" y="4462272"/>
            <a:ext cx="731520" cy="329184"/>
          </a:xfrm>
          <a:prstGeom prst="rect">
            <a:avLst/>
          </a:prstGeom>
          <a:noFill/>
        </p:spPr>
        <p:txBody>
          <a:bodyPr wrap="square" lIns="45720" rIns="45720" tIns="18288" bIns="18288" anchor="t">
            <a:spAutoFit/>
          </a:bodyPr>
          <a:lstStyle/>
          <a:p>
            <a:pPr algn="l"/>
            <a:r>
              <a:rPr sz="1000" b="1" i="0">
                <a:solidFill>
                  <a:srgbClr val="1A2744"/>
                </a:solidFill>
                <a:latin typeface="Consolas"/>
              </a:rPr>
              <a:t>4.16</a:t>
            </a:r>
          </a:p>
        </p:txBody>
      </p:sp>
      <p:sp>
        <p:nvSpPr>
          <p:cNvPr id="29" name="TextBox 28"/>
          <p:cNvSpPr txBox="1"/>
          <p:nvPr/>
        </p:nvSpPr>
        <p:spPr>
          <a:xfrm>
            <a:off x="7680960" y="4462272"/>
            <a:ext cx="4023360" cy="329184"/>
          </a:xfrm>
          <a:prstGeom prst="rect">
            <a:avLst/>
          </a:prstGeom>
          <a:noFill/>
        </p:spPr>
        <p:txBody>
          <a:bodyPr wrap="square" lIns="45720" rIns="45720" tIns="18288" bIns="18288" anchor="t">
            <a:spAutoFit/>
          </a:bodyPr>
          <a:lstStyle/>
          <a:p>
            <a:pPr algn="l"/>
            <a:r>
              <a:rPr sz="1100" b="0" i="0">
                <a:solidFill>
                  <a:srgbClr val="1A1A1A"/>
                </a:solidFill>
                <a:latin typeface="Calibri"/>
              </a:rPr>
              <a:t>Water closets</a:t>
            </a:r>
          </a:p>
        </p:txBody>
      </p:sp>
      <p:sp>
        <p:nvSpPr>
          <p:cNvPr id="30" name="TextBox 29"/>
          <p:cNvSpPr txBox="1"/>
          <p:nvPr/>
        </p:nvSpPr>
        <p:spPr>
          <a:xfrm>
            <a:off x="6858000" y="4809744"/>
            <a:ext cx="731520" cy="329184"/>
          </a:xfrm>
          <a:prstGeom prst="rect">
            <a:avLst/>
          </a:prstGeom>
          <a:noFill/>
        </p:spPr>
        <p:txBody>
          <a:bodyPr wrap="square" lIns="45720" rIns="45720" tIns="18288" bIns="18288" anchor="t">
            <a:spAutoFit/>
          </a:bodyPr>
          <a:lstStyle/>
          <a:p>
            <a:pPr algn="l"/>
            <a:r>
              <a:rPr sz="1000" b="1" i="0">
                <a:solidFill>
                  <a:srgbClr val="1A2744"/>
                </a:solidFill>
                <a:latin typeface="Consolas"/>
              </a:rPr>
              <a:t>4.17</a:t>
            </a:r>
          </a:p>
        </p:txBody>
      </p:sp>
      <p:sp>
        <p:nvSpPr>
          <p:cNvPr id="31" name="TextBox 30"/>
          <p:cNvSpPr txBox="1"/>
          <p:nvPr/>
        </p:nvSpPr>
        <p:spPr>
          <a:xfrm>
            <a:off x="7680960" y="4809744"/>
            <a:ext cx="4023360" cy="329184"/>
          </a:xfrm>
          <a:prstGeom prst="rect">
            <a:avLst/>
          </a:prstGeom>
          <a:noFill/>
        </p:spPr>
        <p:txBody>
          <a:bodyPr wrap="square" lIns="45720" rIns="45720" tIns="18288" bIns="18288" anchor="t">
            <a:spAutoFit/>
          </a:bodyPr>
          <a:lstStyle/>
          <a:p>
            <a:pPr algn="l"/>
            <a:r>
              <a:rPr sz="1100" b="0" i="0">
                <a:solidFill>
                  <a:srgbClr val="1A1A1A"/>
                </a:solidFill>
                <a:latin typeface="Calibri"/>
              </a:rPr>
              <a:t>Toilet stalls</a:t>
            </a:r>
          </a:p>
        </p:txBody>
      </p:sp>
      <p:sp>
        <p:nvSpPr>
          <p:cNvPr id="32" name="TextBox 31"/>
          <p:cNvSpPr txBox="1"/>
          <p:nvPr/>
        </p:nvSpPr>
        <p:spPr>
          <a:xfrm>
            <a:off x="6858000" y="5157216"/>
            <a:ext cx="731520" cy="329184"/>
          </a:xfrm>
          <a:prstGeom prst="rect">
            <a:avLst/>
          </a:prstGeom>
          <a:noFill/>
        </p:spPr>
        <p:txBody>
          <a:bodyPr wrap="square" lIns="45720" rIns="45720" tIns="18288" bIns="18288" anchor="t">
            <a:spAutoFit/>
          </a:bodyPr>
          <a:lstStyle/>
          <a:p>
            <a:pPr algn="l"/>
            <a:r>
              <a:rPr sz="1000" b="1" i="0">
                <a:solidFill>
                  <a:srgbClr val="1A2744"/>
                </a:solidFill>
                <a:latin typeface="Consolas"/>
              </a:rPr>
              <a:t>4.25</a:t>
            </a:r>
          </a:p>
        </p:txBody>
      </p:sp>
      <p:sp>
        <p:nvSpPr>
          <p:cNvPr id="33" name="TextBox 32"/>
          <p:cNvSpPr txBox="1"/>
          <p:nvPr/>
        </p:nvSpPr>
        <p:spPr>
          <a:xfrm>
            <a:off x="7680960" y="5157216"/>
            <a:ext cx="4023360" cy="329184"/>
          </a:xfrm>
          <a:prstGeom prst="rect">
            <a:avLst/>
          </a:prstGeom>
          <a:noFill/>
        </p:spPr>
        <p:txBody>
          <a:bodyPr wrap="square" lIns="45720" rIns="45720" tIns="18288" bIns="18288" anchor="t">
            <a:spAutoFit/>
          </a:bodyPr>
          <a:lstStyle/>
          <a:p>
            <a:pPr algn="l"/>
            <a:r>
              <a:rPr sz="1100" b="0" i="0">
                <a:solidFill>
                  <a:srgbClr val="1A1A1A"/>
                </a:solidFill>
                <a:latin typeface="Calibri"/>
              </a:rPr>
              <a:t>Storage / coat hooks</a:t>
            </a:r>
          </a:p>
        </p:txBody>
      </p:sp>
      <p:sp>
        <p:nvSpPr>
          <p:cNvPr id="34" name="TextBox 33"/>
          <p:cNvSpPr txBox="1"/>
          <p:nvPr/>
        </p:nvSpPr>
        <p:spPr>
          <a:xfrm>
            <a:off x="6858000" y="5504688"/>
            <a:ext cx="731520" cy="329184"/>
          </a:xfrm>
          <a:prstGeom prst="rect">
            <a:avLst/>
          </a:prstGeom>
          <a:noFill/>
        </p:spPr>
        <p:txBody>
          <a:bodyPr wrap="square" lIns="45720" rIns="45720" tIns="18288" bIns="18288" anchor="t">
            <a:spAutoFit/>
          </a:bodyPr>
          <a:lstStyle/>
          <a:p>
            <a:pPr algn="l"/>
            <a:r>
              <a:rPr sz="1000" b="1" i="0">
                <a:solidFill>
                  <a:srgbClr val="1A2744"/>
                </a:solidFill>
                <a:latin typeface="Consolas"/>
              </a:rPr>
              <a:t>4.30</a:t>
            </a:r>
          </a:p>
        </p:txBody>
      </p:sp>
      <p:sp>
        <p:nvSpPr>
          <p:cNvPr id="35" name="TextBox 34"/>
          <p:cNvSpPr txBox="1"/>
          <p:nvPr/>
        </p:nvSpPr>
        <p:spPr>
          <a:xfrm>
            <a:off x="7680960" y="5504688"/>
            <a:ext cx="4023360" cy="329184"/>
          </a:xfrm>
          <a:prstGeom prst="rect">
            <a:avLst/>
          </a:prstGeom>
          <a:noFill/>
        </p:spPr>
        <p:txBody>
          <a:bodyPr wrap="square" lIns="45720" rIns="45720" tIns="18288" bIns="18288" anchor="t">
            <a:spAutoFit/>
          </a:bodyPr>
          <a:lstStyle/>
          <a:p>
            <a:pPr algn="l"/>
            <a:r>
              <a:rPr sz="1100" b="0" i="0">
                <a:solidFill>
                  <a:srgbClr val="1A1A1A"/>
                </a:solidFill>
                <a:latin typeface="Calibri"/>
              </a:rPr>
              <a:t>Signage</a:t>
            </a:r>
          </a:p>
        </p:txBody>
      </p:sp>
      <p:sp>
        <p:nvSpPr>
          <p:cNvPr id="36" name="TextBox 35"/>
          <p:cNvSpPr txBox="1"/>
          <p:nvPr/>
        </p:nvSpPr>
        <p:spPr>
          <a:xfrm>
            <a:off x="6858000" y="5852160"/>
            <a:ext cx="731520" cy="329184"/>
          </a:xfrm>
          <a:prstGeom prst="rect">
            <a:avLst/>
          </a:prstGeom>
          <a:noFill/>
        </p:spPr>
        <p:txBody>
          <a:bodyPr wrap="square" lIns="45720" rIns="45720" tIns="18288" bIns="18288" anchor="t">
            <a:spAutoFit/>
          </a:bodyPr>
          <a:lstStyle/>
          <a:p>
            <a:pPr algn="l"/>
            <a:r>
              <a:rPr sz="1000" b="1" i="0">
                <a:solidFill>
                  <a:srgbClr val="1A2744"/>
                </a:solidFill>
                <a:latin typeface="Consolas"/>
              </a:rPr>
              <a:t>4.32</a:t>
            </a:r>
          </a:p>
        </p:txBody>
      </p:sp>
      <p:sp>
        <p:nvSpPr>
          <p:cNvPr id="37" name="TextBox 36"/>
          <p:cNvSpPr txBox="1"/>
          <p:nvPr/>
        </p:nvSpPr>
        <p:spPr>
          <a:xfrm>
            <a:off x="7680960" y="5852160"/>
            <a:ext cx="4023360" cy="329184"/>
          </a:xfrm>
          <a:prstGeom prst="rect">
            <a:avLst/>
          </a:prstGeom>
          <a:noFill/>
        </p:spPr>
        <p:txBody>
          <a:bodyPr wrap="square" lIns="45720" rIns="45720" tIns="18288" bIns="18288" anchor="t">
            <a:spAutoFit/>
          </a:bodyPr>
          <a:lstStyle/>
          <a:p>
            <a:pPr algn="l"/>
            <a:r>
              <a:rPr sz="1100" b="0" i="0">
                <a:solidFill>
                  <a:srgbClr val="1A1A1A"/>
                </a:solidFill>
                <a:latin typeface="Calibri"/>
              </a:rPr>
              <a:t>Fixed seating and tables</a:t>
            </a:r>
          </a:p>
        </p:txBody>
      </p:sp>
      <p:sp>
        <p:nvSpPr>
          <p:cNvPr id="38" name="TextBox 37"/>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39" name="TextBox 38"/>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28 / 63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29 · 1991 ADA</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1991 ADA — key citations reviewers use</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402336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17320"/>
            <a:ext cx="402336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ELEMENT</a:t>
            </a:r>
          </a:p>
        </p:txBody>
      </p:sp>
      <p:sp>
        <p:nvSpPr>
          <p:cNvPr id="11" name="Rectangle 10"/>
          <p:cNvSpPr/>
          <p:nvPr/>
        </p:nvSpPr>
        <p:spPr>
          <a:xfrm>
            <a:off x="4572000" y="1417320"/>
            <a:ext cx="48006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417320"/>
            <a:ext cx="480060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REQUIREMENT</a:t>
            </a:r>
          </a:p>
        </p:txBody>
      </p:sp>
      <p:sp>
        <p:nvSpPr>
          <p:cNvPr id="13" name="Rectangle 12"/>
          <p:cNvSpPr/>
          <p:nvPr/>
        </p:nvSpPr>
        <p:spPr>
          <a:xfrm>
            <a:off x="9418320" y="1417320"/>
            <a:ext cx="233172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0" y="1417320"/>
            <a:ext cx="233172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CITE</a:t>
            </a:r>
          </a:p>
        </p:txBody>
      </p:sp>
      <p:sp>
        <p:nvSpPr>
          <p:cNvPr id="15" name="Rectangle 14"/>
          <p:cNvSpPr/>
          <p:nvPr/>
        </p:nvSpPr>
        <p:spPr>
          <a:xfrm>
            <a:off x="502920" y="1783080"/>
            <a:ext cx="402336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0" y="1783080"/>
            <a:ext cx="480060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418320" y="1783080"/>
            <a:ext cx="233172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1783080"/>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Door clear width</a:t>
            </a:r>
          </a:p>
        </p:txBody>
      </p:sp>
      <p:sp>
        <p:nvSpPr>
          <p:cNvPr id="19" name="TextBox 18"/>
          <p:cNvSpPr txBox="1"/>
          <p:nvPr/>
        </p:nvSpPr>
        <p:spPr>
          <a:xfrm>
            <a:off x="4663440" y="1783080"/>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32 inches minimum</a:t>
            </a:r>
          </a:p>
        </p:txBody>
      </p:sp>
      <p:sp>
        <p:nvSpPr>
          <p:cNvPr id="20" name="TextBox 19"/>
          <p:cNvSpPr txBox="1"/>
          <p:nvPr/>
        </p:nvSpPr>
        <p:spPr>
          <a:xfrm>
            <a:off x="9509760" y="1783080"/>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4.13.5</a:t>
            </a:r>
          </a:p>
        </p:txBody>
      </p:sp>
      <p:sp>
        <p:nvSpPr>
          <p:cNvPr id="21" name="Rectangle 20"/>
          <p:cNvSpPr/>
          <p:nvPr/>
        </p:nvSpPr>
        <p:spPr>
          <a:xfrm>
            <a:off x="502920" y="2130552"/>
            <a:ext cx="402336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0" y="2130552"/>
            <a:ext cx="480060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18320" y="2130552"/>
            <a:ext cx="233172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2130552"/>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Ramp running slope</a:t>
            </a:r>
          </a:p>
        </p:txBody>
      </p:sp>
      <p:sp>
        <p:nvSpPr>
          <p:cNvPr id="25" name="TextBox 24"/>
          <p:cNvSpPr txBox="1"/>
          <p:nvPr/>
        </p:nvSpPr>
        <p:spPr>
          <a:xfrm>
            <a:off x="4663440" y="2130552"/>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1:12 maximum (8.33%)</a:t>
            </a:r>
          </a:p>
        </p:txBody>
      </p:sp>
      <p:sp>
        <p:nvSpPr>
          <p:cNvPr id="26" name="TextBox 25"/>
          <p:cNvSpPr txBox="1"/>
          <p:nvPr/>
        </p:nvSpPr>
        <p:spPr>
          <a:xfrm>
            <a:off x="9509760" y="2130552"/>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4.8.2</a:t>
            </a:r>
          </a:p>
        </p:txBody>
      </p:sp>
      <p:sp>
        <p:nvSpPr>
          <p:cNvPr id="27" name="Rectangle 26"/>
          <p:cNvSpPr/>
          <p:nvPr/>
        </p:nvSpPr>
        <p:spPr>
          <a:xfrm>
            <a:off x="502920" y="2478024"/>
            <a:ext cx="402336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0" y="2478024"/>
            <a:ext cx="480060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418320" y="2478024"/>
            <a:ext cx="233172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2478024"/>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Ramp cross slope</a:t>
            </a:r>
          </a:p>
        </p:txBody>
      </p:sp>
      <p:sp>
        <p:nvSpPr>
          <p:cNvPr id="31" name="TextBox 30"/>
          <p:cNvSpPr txBox="1"/>
          <p:nvPr/>
        </p:nvSpPr>
        <p:spPr>
          <a:xfrm>
            <a:off x="4663440" y="2478024"/>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2% maximum (1:50)</a:t>
            </a:r>
          </a:p>
        </p:txBody>
      </p:sp>
      <p:sp>
        <p:nvSpPr>
          <p:cNvPr id="32" name="TextBox 31"/>
          <p:cNvSpPr txBox="1"/>
          <p:nvPr/>
        </p:nvSpPr>
        <p:spPr>
          <a:xfrm>
            <a:off x="9509760" y="2478024"/>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4.8.6</a:t>
            </a:r>
          </a:p>
        </p:txBody>
      </p:sp>
      <p:sp>
        <p:nvSpPr>
          <p:cNvPr id="33" name="Rectangle 32"/>
          <p:cNvSpPr/>
          <p:nvPr/>
        </p:nvSpPr>
        <p:spPr>
          <a:xfrm>
            <a:off x="502920" y="2825496"/>
            <a:ext cx="402336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0" y="2825496"/>
            <a:ext cx="480060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18320" y="2825496"/>
            <a:ext cx="233172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2825496"/>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Handrail height</a:t>
            </a:r>
          </a:p>
        </p:txBody>
      </p:sp>
      <p:sp>
        <p:nvSpPr>
          <p:cNvPr id="37" name="TextBox 36"/>
          <p:cNvSpPr txBox="1"/>
          <p:nvPr/>
        </p:nvSpPr>
        <p:spPr>
          <a:xfrm>
            <a:off x="4663440" y="2825496"/>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34" – 38" above ramp / stair nosing</a:t>
            </a:r>
          </a:p>
        </p:txBody>
      </p:sp>
      <p:sp>
        <p:nvSpPr>
          <p:cNvPr id="38" name="TextBox 37"/>
          <p:cNvSpPr txBox="1"/>
          <p:nvPr/>
        </p:nvSpPr>
        <p:spPr>
          <a:xfrm>
            <a:off x="9509760" y="2825496"/>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4.8.5</a:t>
            </a:r>
          </a:p>
        </p:txBody>
      </p:sp>
      <p:sp>
        <p:nvSpPr>
          <p:cNvPr id="39" name="Rectangle 38"/>
          <p:cNvSpPr/>
          <p:nvPr/>
        </p:nvSpPr>
        <p:spPr>
          <a:xfrm>
            <a:off x="502920" y="3172968"/>
            <a:ext cx="402336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0" y="3172968"/>
            <a:ext cx="480060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18320" y="3172968"/>
            <a:ext cx="233172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3172968"/>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Handrail extensions</a:t>
            </a:r>
          </a:p>
        </p:txBody>
      </p:sp>
      <p:sp>
        <p:nvSpPr>
          <p:cNvPr id="43" name="TextBox 42"/>
          <p:cNvSpPr txBox="1"/>
          <p:nvPr/>
        </p:nvSpPr>
        <p:spPr>
          <a:xfrm>
            <a:off x="4663440" y="3172968"/>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12" minimum, top and bottom</a:t>
            </a:r>
          </a:p>
        </p:txBody>
      </p:sp>
      <p:sp>
        <p:nvSpPr>
          <p:cNvPr id="44" name="TextBox 43"/>
          <p:cNvSpPr txBox="1"/>
          <p:nvPr/>
        </p:nvSpPr>
        <p:spPr>
          <a:xfrm>
            <a:off x="9509760" y="3172968"/>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4.8.5</a:t>
            </a:r>
          </a:p>
        </p:txBody>
      </p:sp>
      <p:sp>
        <p:nvSpPr>
          <p:cNvPr id="45" name="Rectangle 44"/>
          <p:cNvSpPr/>
          <p:nvPr/>
        </p:nvSpPr>
        <p:spPr>
          <a:xfrm>
            <a:off x="502920" y="3520439"/>
            <a:ext cx="402336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0" y="3520439"/>
            <a:ext cx="480060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418320" y="3520439"/>
            <a:ext cx="233172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3520439"/>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ISA signage mounting</a:t>
            </a:r>
          </a:p>
        </p:txBody>
      </p:sp>
      <p:sp>
        <p:nvSpPr>
          <p:cNvPr id="49" name="TextBox 48"/>
          <p:cNvSpPr txBox="1"/>
          <p:nvPr/>
        </p:nvSpPr>
        <p:spPr>
          <a:xfrm>
            <a:off x="4663440" y="3520439"/>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48" – 60" floor to centerline of tactile</a:t>
            </a:r>
          </a:p>
        </p:txBody>
      </p:sp>
      <p:sp>
        <p:nvSpPr>
          <p:cNvPr id="50" name="TextBox 49"/>
          <p:cNvSpPr txBox="1"/>
          <p:nvPr/>
        </p:nvSpPr>
        <p:spPr>
          <a:xfrm>
            <a:off x="9509760" y="3520439"/>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4.30.6</a:t>
            </a:r>
          </a:p>
        </p:txBody>
      </p:sp>
      <p:sp>
        <p:nvSpPr>
          <p:cNvPr id="51" name="Rectangle 50"/>
          <p:cNvSpPr/>
          <p:nvPr/>
        </p:nvSpPr>
        <p:spPr>
          <a:xfrm>
            <a:off x="502920" y="3867912"/>
            <a:ext cx="402336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0" y="3867912"/>
            <a:ext cx="480060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418320" y="3867912"/>
            <a:ext cx="233172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 y="3867912"/>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Grab bar height</a:t>
            </a:r>
          </a:p>
        </p:txBody>
      </p:sp>
      <p:sp>
        <p:nvSpPr>
          <p:cNvPr id="55" name="TextBox 54"/>
          <p:cNvSpPr txBox="1"/>
          <p:nvPr/>
        </p:nvSpPr>
        <p:spPr>
          <a:xfrm>
            <a:off x="4663440" y="3867912"/>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33" – 36" above floor</a:t>
            </a:r>
          </a:p>
        </p:txBody>
      </p:sp>
      <p:sp>
        <p:nvSpPr>
          <p:cNvPr id="56" name="TextBox 55"/>
          <p:cNvSpPr txBox="1"/>
          <p:nvPr/>
        </p:nvSpPr>
        <p:spPr>
          <a:xfrm>
            <a:off x="9509760" y="3867912"/>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4.26.2</a:t>
            </a:r>
          </a:p>
        </p:txBody>
      </p:sp>
      <p:sp>
        <p:nvSpPr>
          <p:cNvPr id="57" name="Rectangle 56"/>
          <p:cNvSpPr/>
          <p:nvPr/>
        </p:nvSpPr>
        <p:spPr>
          <a:xfrm>
            <a:off x="502920" y="4215384"/>
            <a:ext cx="402336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4215384"/>
            <a:ext cx="480060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418320" y="4215384"/>
            <a:ext cx="233172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94360" y="4215384"/>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Toilet seat height</a:t>
            </a:r>
          </a:p>
        </p:txBody>
      </p:sp>
      <p:sp>
        <p:nvSpPr>
          <p:cNvPr id="61" name="TextBox 60"/>
          <p:cNvSpPr txBox="1"/>
          <p:nvPr/>
        </p:nvSpPr>
        <p:spPr>
          <a:xfrm>
            <a:off x="4663440" y="4215384"/>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17" – 19" above floor</a:t>
            </a:r>
          </a:p>
        </p:txBody>
      </p:sp>
      <p:sp>
        <p:nvSpPr>
          <p:cNvPr id="62" name="TextBox 61"/>
          <p:cNvSpPr txBox="1"/>
          <p:nvPr/>
        </p:nvSpPr>
        <p:spPr>
          <a:xfrm>
            <a:off x="9509760" y="4215384"/>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4.16.3</a:t>
            </a:r>
          </a:p>
        </p:txBody>
      </p:sp>
      <p:sp>
        <p:nvSpPr>
          <p:cNvPr id="63" name="Rectangle 62"/>
          <p:cNvSpPr/>
          <p:nvPr/>
        </p:nvSpPr>
        <p:spPr>
          <a:xfrm>
            <a:off x="502920" y="4562856"/>
            <a:ext cx="402336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572000" y="4562856"/>
            <a:ext cx="480060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418320" y="4562856"/>
            <a:ext cx="233172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94360" y="4562856"/>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Accessible stall width</a:t>
            </a:r>
          </a:p>
        </p:txBody>
      </p:sp>
      <p:sp>
        <p:nvSpPr>
          <p:cNvPr id="67" name="TextBox 66"/>
          <p:cNvSpPr txBox="1"/>
          <p:nvPr/>
        </p:nvSpPr>
        <p:spPr>
          <a:xfrm>
            <a:off x="4663440" y="4562856"/>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60" minimum</a:t>
            </a:r>
          </a:p>
        </p:txBody>
      </p:sp>
      <p:sp>
        <p:nvSpPr>
          <p:cNvPr id="68" name="TextBox 67"/>
          <p:cNvSpPr txBox="1"/>
          <p:nvPr/>
        </p:nvSpPr>
        <p:spPr>
          <a:xfrm>
            <a:off x="9509760" y="4562856"/>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4.17.3</a:t>
            </a:r>
          </a:p>
        </p:txBody>
      </p:sp>
      <p:sp>
        <p:nvSpPr>
          <p:cNvPr id="69" name="Rectangle 68"/>
          <p:cNvSpPr/>
          <p:nvPr/>
        </p:nvSpPr>
        <p:spPr>
          <a:xfrm>
            <a:off x="502920" y="4910328"/>
            <a:ext cx="402336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572000" y="4910328"/>
            <a:ext cx="480060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418320" y="4910328"/>
            <a:ext cx="233172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94360" y="4910328"/>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Coat hooks</a:t>
            </a:r>
          </a:p>
        </p:txBody>
      </p:sp>
      <p:sp>
        <p:nvSpPr>
          <p:cNvPr id="73" name="TextBox 72"/>
          <p:cNvSpPr txBox="1"/>
          <p:nvPr/>
        </p:nvSpPr>
        <p:spPr>
          <a:xfrm>
            <a:off x="4663440" y="4910328"/>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48" max forward reach</a:t>
            </a:r>
          </a:p>
        </p:txBody>
      </p:sp>
      <p:sp>
        <p:nvSpPr>
          <p:cNvPr id="74" name="TextBox 73"/>
          <p:cNvSpPr txBox="1"/>
          <p:nvPr/>
        </p:nvSpPr>
        <p:spPr>
          <a:xfrm>
            <a:off x="9509760" y="4910328"/>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4.25.3</a:t>
            </a:r>
          </a:p>
        </p:txBody>
      </p:sp>
      <p:sp>
        <p:nvSpPr>
          <p:cNvPr id="75" name="Rectangle 74"/>
          <p:cNvSpPr/>
          <p:nvPr/>
        </p:nvSpPr>
        <p:spPr>
          <a:xfrm>
            <a:off x="502920" y="5257800"/>
            <a:ext cx="402336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572000" y="5257800"/>
            <a:ext cx="480060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418320" y="5257800"/>
            <a:ext cx="233172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94360" y="5257800"/>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Knee clearance</a:t>
            </a:r>
          </a:p>
        </p:txBody>
      </p:sp>
      <p:sp>
        <p:nvSpPr>
          <p:cNvPr id="79" name="TextBox 78"/>
          <p:cNvSpPr txBox="1"/>
          <p:nvPr/>
        </p:nvSpPr>
        <p:spPr>
          <a:xfrm>
            <a:off x="4663440" y="5257800"/>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27"H × 30"W × 19"D minimum</a:t>
            </a:r>
          </a:p>
        </p:txBody>
      </p:sp>
      <p:sp>
        <p:nvSpPr>
          <p:cNvPr id="80" name="TextBox 79"/>
          <p:cNvSpPr txBox="1"/>
          <p:nvPr/>
        </p:nvSpPr>
        <p:spPr>
          <a:xfrm>
            <a:off x="9509760" y="5257800"/>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4.32.3</a:t>
            </a:r>
          </a:p>
        </p:txBody>
      </p:sp>
      <p:sp>
        <p:nvSpPr>
          <p:cNvPr id="81" name="Rectangle 80"/>
          <p:cNvSpPr/>
          <p:nvPr/>
        </p:nvSpPr>
        <p:spPr>
          <a:xfrm>
            <a:off x="502920" y="5605272"/>
            <a:ext cx="402336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4572000" y="5605272"/>
            <a:ext cx="480060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418320" y="5605272"/>
            <a:ext cx="2331720" cy="347472"/>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94360" y="5605272"/>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Counter height</a:t>
            </a:r>
          </a:p>
        </p:txBody>
      </p:sp>
      <p:sp>
        <p:nvSpPr>
          <p:cNvPr id="85" name="TextBox 84"/>
          <p:cNvSpPr txBox="1"/>
          <p:nvPr/>
        </p:nvSpPr>
        <p:spPr>
          <a:xfrm>
            <a:off x="4663440" y="5605272"/>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34" maximum</a:t>
            </a:r>
          </a:p>
        </p:txBody>
      </p:sp>
      <p:sp>
        <p:nvSpPr>
          <p:cNvPr id="86" name="TextBox 85"/>
          <p:cNvSpPr txBox="1"/>
          <p:nvPr/>
        </p:nvSpPr>
        <p:spPr>
          <a:xfrm>
            <a:off x="9509760" y="5605272"/>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7.2</a:t>
            </a:r>
          </a:p>
        </p:txBody>
      </p:sp>
      <p:sp>
        <p:nvSpPr>
          <p:cNvPr id="87" name="Rectangle 86"/>
          <p:cNvSpPr/>
          <p:nvPr/>
        </p:nvSpPr>
        <p:spPr>
          <a:xfrm>
            <a:off x="502920" y="5952744"/>
            <a:ext cx="402336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572000" y="5952744"/>
            <a:ext cx="480060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418320" y="5952744"/>
            <a:ext cx="2331720" cy="347472"/>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94360" y="5952744"/>
            <a:ext cx="4023360" cy="347472"/>
          </a:xfrm>
          <a:prstGeom prst="rect">
            <a:avLst/>
          </a:prstGeom>
          <a:noFill/>
        </p:spPr>
        <p:txBody>
          <a:bodyPr wrap="square" lIns="45720" rIns="45720" tIns="18288" bIns="18288" anchor="ctr">
            <a:spAutoFit/>
          </a:bodyPr>
          <a:lstStyle/>
          <a:p>
            <a:pPr algn="l"/>
            <a:r>
              <a:rPr sz="1100" b="1" i="0">
                <a:solidFill>
                  <a:srgbClr val="1A2744"/>
                </a:solidFill>
                <a:latin typeface="Calibri"/>
              </a:rPr>
              <a:t>Drinking fountain</a:t>
            </a:r>
          </a:p>
        </p:txBody>
      </p:sp>
      <p:sp>
        <p:nvSpPr>
          <p:cNvPr id="91" name="TextBox 90"/>
          <p:cNvSpPr txBox="1"/>
          <p:nvPr/>
        </p:nvSpPr>
        <p:spPr>
          <a:xfrm>
            <a:off x="4663440" y="5952744"/>
            <a:ext cx="4800600" cy="347472"/>
          </a:xfrm>
          <a:prstGeom prst="rect">
            <a:avLst/>
          </a:prstGeom>
          <a:noFill/>
        </p:spPr>
        <p:txBody>
          <a:bodyPr wrap="square" lIns="45720" rIns="45720" tIns="18288" bIns="18288" anchor="ctr">
            <a:spAutoFit/>
          </a:bodyPr>
          <a:lstStyle/>
          <a:p>
            <a:pPr algn="l"/>
            <a:r>
              <a:rPr sz="1100" b="0" i="0">
                <a:solidFill>
                  <a:srgbClr val="1A1A1A"/>
                </a:solidFill>
                <a:latin typeface="Calibri"/>
              </a:rPr>
              <a:t>36" max spout height</a:t>
            </a:r>
          </a:p>
        </p:txBody>
      </p:sp>
      <p:sp>
        <p:nvSpPr>
          <p:cNvPr id="92" name="TextBox 91"/>
          <p:cNvSpPr txBox="1"/>
          <p:nvPr/>
        </p:nvSpPr>
        <p:spPr>
          <a:xfrm>
            <a:off x="9509760" y="5952744"/>
            <a:ext cx="2331720" cy="347472"/>
          </a:xfrm>
          <a:prstGeom prst="rect">
            <a:avLst/>
          </a:prstGeom>
          <a:noFill/>
        </p:spPr>
        <p:txBody>
          <a:bodyPr wrap="square" lIns="45720" rIns="45720" tIns="18288" bIns="18288" anchor="ctr">
            <a:spAutoFit/>
          </a:bodyPr>
          <a:lstStyle/>
          <a:p>
            <a:pPr algn="l"/>
            <a:r>
              <a:rPr sz="1000" b="0" i="0">
                <a:solidFill>
                  <a:srgbClr val="1A2744"/>
                </a:solidFill>
                <a:latin typeface="Consolas"/>
              </a:rPr>
              <a:t>1991 ADA 4.15.2</a:t>
            </a:r>
          </a:p>
        </p:txBody>
      </p:sp>
      <p:sp>
        <p:nvSpPr>
          <p:cNvPr id="93" name="TextBox 92"/>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94" name="TextBox 93"/>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29 / 63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10972800" cy="457200"/>
          </a:xfrm>
          <a:prstGeom prst="rect">
            <a:avLst/>
          </a:prstGeom>
          <a:noFill/>
        </p:spPr>
        <p:txBody>
          <a:bodyPr wrap="square" lIns="45720" rIns="45720" tIns="18288" bIns="18288" anchor="t">
            <a:spAutoFit/>
          </a:bodyPr>
          <a:lstStyle/>
          <a:p>
            <a:pPr algn="l"/>
            <a:r>
              <a:rPr sz="1200" b="1" i="0">
                <a:solidFill>
                  <a:srgbClr val="C8A84B"/>
                </a:solidFill>
                <a:latin typeface="Consolas"/>
              </a:rPr>
              <a:t>KNOWLEDGE CHECK · 03</a:t>
            </a:r>
          </a:p>
        </p:txBody>
      </p:sp>
      <p:sp>
        <p:nvSpPr>
          <p:cNvPr id="5" name="TextBox 4"/>
          <p:cNvSpPr txBox="1"/>
          <p:nvPr/>
        </p:nvSpPr>
        <p:spPr>
          <a:xfrm>
            <a:off x="777240" y="1005840"/>
            <a:ext cx="10972800" cy="822960"/>
          </a:xfrm>
          <a:prstGeom prst="rect">
            <a:avLst/>
          </a:prstGeom>
          <a:noFill/>
        </p:spPr>
        <p:txBody>
          <a:bodyPr wrap="square" lIns="45720" rIns="45720" tIns="18288" bIns="18288" anchor="t">
            <a:spAutoFit/>
          </a:bodyPr>
          <a:lstStyle/>
          <a:p>
            <a:pPr algn="l"/>
            <a:r>
              <a:rPr sz="3000" b="1" i="0">
                <a:solidFill>
                  <a:srgbClr val="FFFFFF"/>
                </a:solidFill>
                <a:latin typeface="Georgia"/>
              </a:rPr>
              <a:t>Cite the right standard — 1991 ADA</a:t>
            </a:r>
          </a:p>
        </p:txBody>
      </p:sp>
      <p:sp>
        <p:nvSpPr>
          <p:cNvPr id="6" name="Rectangle 5"/>
          <p:cNvSpPr/>
          <p:nvPr/>
        </p:nvSpPr>
        <p:spPr>
          <a:xfrm>
            <a:off x="777240" y="2011680"/>
            <a:ext cx="10927080" cy="155448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48840"/>
            <a:ext cx="10515600" cy="1371600"/>
          </a:xfrm>
          <a:prstGeom prst="rect">
            <a:avLst/>
          </a:prstGeom>
          <a:noFill/>
        </p:spPr>
        <p:txBody>
          <a:bodyPr wrap="square" lIns="45720" rIns="45720" tIns="18288" bIns="18288" anchor="t">
            <a:spAutoFit/>
          </a:bodyPr>
          <a:lstStyle/>
          <a:p>
            <a:pPr algn="l"/>
            <a:r>
              <a:rPr sz="1400" b="0" i="0">
                <a:solidFill>
                  <a:srgbClr val="FFFFFF"/>
                </a:solidFill>
                <a:latin typeface="Calibri"/>
              </a:rPr>
              <a:t>Madera HS culinary classroom built 1998. Last alteration: 2005 paint and HVAC (not accessibility-affecting).</a:t>
            </a:r>
          </a:p>
          <a:p>
            <a:pPr algn="l"/>
            <a:r>
              <a:rPr sz="1400" b="0" i="0">
                <a:solidFill>
                  <a:srgbClr val="FFFFFF"/>
                </a:solidFill>
                <a:latin typeface="Calibri"/>
              </a:rPr>
              <a:t/>
            </a:r>
          </a:p>
          <a:p>
            <a:pPr algn="l"/>
            <a:r>
              <a:rPr sz="1400" b="0" i="0">
                <a:solidFill>
                  <a:srgbClr val="FFFFFF"/>
                </a:solidFill>
                <a:latin typeface="Calibri"/>
              </a:rPr>
              <a:t>Field measurements: counter prep surface at 38" above floor; ISA signage at 44" to centerline of tactile characters; door clear width 31".</a:t>
            </a:r>
          </a:p>
          <a:p>
            <a:pPr algn="l"/>
            <a:r>
              <a:rPr sz="1400" b="0" i="0">
                <a:solidFill>
                  <a:srgbClr val="FFFFFF"/>
                </a:solidFill>
                <a:latin typeface="Calibri"/>
              </a:rPr>
              <a:t/>
            </a:r>
          </a:p>
          <a:p>
            <a:pPr algn="l"/>
            <a:r>
              <a:rPr sz="1400" b="0" i="0">
                <a:solidFill>
                  <a:srgbClr val="FFFFFF"/>
                </a:solidFill>
                <a:latin typeface="Calibri"/>
              </a:rPr>
              <a:t>Write the violation row.</a:t>
            </a:r>
          </a:p>
        </p:txBody>
      </p:sp>
      <p:sp>
        <p:nvSpPr>
          <p:cNvPr id="8" name="TextBox 7"/>
          <p:cNvSpPr txBox="1"/>
          <p:nvPr/>
        </p:nvSpPr>
        <p:spPr>
          <a:xfrm>
            <a:off x="777240" y="3657600"/>
            <a:ext cx="10972800" cy="365760"/>
          </a:xfrm>
          <a:prstGeom prst="rect">
            <a:avLst/>
          </a:prstGeom>
          <a:noFill/>
        </p:spPr>
        <p:txBody>
          <a:bodyPr wrap="square" lIns="45720" rIns="45720" tIns="18288" bIns="18288" anchor="t">
            <a:spAutoFit/>
          </a:bodyPr>
          <a:lstStyle/>
          <a:p>
            <a:pPr algn="l"/>
            <a:r>
              <a:rPr sz="1200" b="1" i="0">
                <a:solidFill>
                  <a:srgbClr val="C8A84B"/>
                </a:solidFill>
                <a:latin typeface="Consolas"/>
              </a:rPr>
              <a:t>WRITE OUT YOUR ANSWER — ALL THREE VIOLATIONS WITH CITES:</a:t>
            </a:r>
          </a:p>
        </p:txBody>
      </p:sp>
      <p:sp>
        <p:nvSpPr>
          <p:cNvPr id="9" name="Rectangle 8"/>
          <p:cNvSpPr/>
          <p:nvPr/>
        </p:nvSpPr>
        <p:spPr>
          <a:xfrm>
            <a:off x="777240" y="4114800"/>
            <a:ext cx="10927080" cy="2286000"/>
          </a:xfrm>
          <a:prstGeom prst="rect">
            <a:avLst/>
          </a:prstGeom>
          <a:solidFill>
            <a:srgbClr val="243460"/>
          </a:solidFill>
          <a:ln w="9525">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251960"/>
            <a:ext cx="10515600" cy="2194560"/>
          </a:xfrm>
          <a:prstGeom prst="rect">
            <a:avLst/>
          </a:prstGeom>
          <a:noFill/>
        </p:spPr>
        <p:txBody>
          <a:bodyPr wrap="square" lIns="45720" rIns="45720" tIns="18288" bIns="18288" anchor="t">
            <a:spAutoFit/>
          </a:bodyPr>
          <a:lstStyle/>
          <a:p>
            <a:pPr algn="l"/>
            <a:r>
              <a:rPr sz="1400" b="0" i="0">
                <a:solidFill>
                  <a:srgbClr val="E8D08A"/>
                </a:solidFill>
                <a:latin typeface="Consolas"/>
              </a:rPr>
              <a:t>Standard applies: ____________________________________</a:t>
            </a:r>
          </a:p>
          <a:p>
            <a:pPr algn="l"/>
            <a:r>
              <a:rPr sz="1400" b="0" i="0">
                <a:solidFill>
                  <a:srgbClr val="E8D08A"/>
                </a:solidFill>
                <a:latin typeface="Consolas"/>
              </a:rPr>
              <a:t/>
            </a:r>
          </a:p>
          <a:p>
            <a:pPr algn="l"/>
            <a:r>
              <a:rPr sz="1400" b="0" i="0">
                <a:solidFill>
                  <a:srgbClr val="E8D08A"/>
                </a:solidFill>
                <a:latin typeface="Consolas"/>
              </a:rPr>
              <a:t>Violation 1: ____________________________________________</a:t>
            </a:r>
          </a:p>
          <a:p>
            <a:pPr algn="l"/>
            <a:r>
              <a:rPr sz="1400" b="0" i="0">
                <a:solidFill>
                  <a:srgbClr val="E8D08A"/>
                </a:solidFill>
                <a:latin typeface="Consolas"/>
              </a:rPr>
              <a:t/>
            </a:r>
          </a:p>
          <a:p>
            <a:pPr algn="l"/>
            <a:r>
              <a:rPr sz="1400" b="0" i="0">
                <a:solidFill>
                  <a:srgbClr val="E8D08A"/>
                </a:solidFill>
                <a:latin typeface="Consolas"/>
              </a:rPr>
              <a:t>Violation 2: ____________________________________________</a:t>
            </a:r>
          </a:p>
          <a:p>
            <a:pPr algn="l"/>
            <a:r>
              <a:rPr sz="1400" b="0" i="0">
                <a:solidFill>
                  <a:srgbClr val="E8D08A"/>
                </a:solidFill>
                <a:latin typeface="Consolas"/>
              </a:rPr>
              <a:t/>
            </a:r>
          </a:p>
          <a:p>
            <a:pPr algn="l"/>
            <a:r>
              <a:rPr sz="1400" b="0" i="0">
                <a:solidFill>
                  <a:srgbClr val="E8D08A"/>
                </a:solidFill>
                <a:latin typeface="Consolas"/>
              </a:rPr>
              <a:t>Violation 3: ____________________________________________</a:t>
            </a:r>
          </a:p>
        </p:txBody>
      </p:sp>
      <p:sp>
        <p:nvSpPr>
          <p:cNvPr id="11" name="TextBox 10"/>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2" name="TextBox 11"/>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30 / 63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31 · 2010 ADA</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2010 ADA Standards — the current default</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01200" y="914400"/>
            <a:ext cx="2286000" cy="256032"/>
          </a:xfrm>
          <a:prstGeom prst="rect">
            <a:avLst/>
          </a:prstGeom>
          <a:solidFill>
            <a:srgbClr val="FEE2E2"/>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914400"/>
            <a:ext cx="2286000" cy="256032"/>
          </a:xfrm>
          <a:prstGeom prst="rect">
            <a:avLst/>
          </a:prstGeom>
          <a:noFill/>
        </p:spPr>
        <p:txBody>
          <a:bodyPr wrap="square" lIns="45720" rIns="45720" tIns="18288" bIns="18288" anchor="ctr">
            <a:spAutoFit/>
          </a:bodyPr>
          <a:lstStyle/>
          <a:p>
            <a:pPr algn="ctr"/>
            <a:r>
              <a:rPr sz="1000" b="1" i="0">
                <a:solidFill>
                  <a:srgbClr val="7F1D1D"/>
                </a:solidFill>
                <a:latin typeface="Consolas"/>
              </a:rPr>
              <a:t>2010 ADA</a:t>
            </a:r>
          </a:p>
        </p:txBody>
      </p:sp>
      <p:sp>
        <p:nvSpPr>
          <p:cNvPr id="11" name="TextBox 10"/>
          <p:cNvSpPr txBox="1"/>
          <p:nvPr/>
        </p:nvSpPr>
        <p:spPr>
          <a:xfrm>
            <a:off x="502920" y="1417320"/>
            <a:ext cx="11247120" cy="411480"/>
          </a:xfrm>
          <a:prstGeom prst="rect">
            <a:avLst/>
          </a:prstGeom>
          <a:noFill/>
        </p:spPr>
        <p:txBody>
          <a:bodyPr wrap="square" lIns="45720" rIns="45720" tIns="18288" bIns="18288" anchor="t">
            <a:spAutoFit/>
          </a:bodyPr>
          <a:lstStyle/>
          <a:p>
            <a:pPr algn="l"/>
            <a:r>
              <a:rPr sz="1400" b="0" i="1">
                <a:solidFill>
                  <a:srgbClr val="6B6659"/>
                </a:solidFill>
                <a:latin typeface="Calibri"/>
              </a:rPr>
              <a:t>This is the standard that applies to anything built or altered today. Most modern CRR findings cite 2010 ADA sections.</a:t>
            </a:r>
          </a:p>
        </p:txBody>
      </p:sp>
      <p:sp>
        <p:nvSpPr>
          <p:cNvPr id="12" name="TextBox 11"/>
          <p:cNvSpPr txBox="1"/>
          <p:nvPr/>
        </p:nvSpPr>
        <p:spPr>
          <a:xfrm>
            <a:off x="502920" y="1920240"/>
            <a:ext cx="11247120" cy="4572000"/>
          </a:xfrm>
          <a:prstGeom prst="rect">
            <a:avLst/>
          </a:prstGeom>
          <a:noFill/>
        </p:spPr>
        <p:txBody>
          <a:bodyPr wrap="square" lIns="45720" rIns="45720">
            <a:spAutoFit/>
          </a:bodyPr>
          <a:lstStyle/>
          <a:p>
            <a:pPr algn="l">
              <a:spcAft>
                <a:spcPts val="600"/>
              </a:spcAft>
            </a:pPr>
            <a:r>
              <a:rPr sz="1300" b="1">
                <a:solidFill>
                  <a:srgbClr val="1A1A1A"/>
                </a:solidFill>
                <a:latin typeface="Calibri"/>
              </a:rPr>
              <a:t>•  Authority.</a:t>
            </a:r>
            <a:r>
              <a:rPr sz="1300">
                <a:solidFill>
                  <a:srgbClr val="1A1A1A"/>
                </a:solidFill>
                <a:latin typeface="Calibri"/>
              </a:rPr>
              <a:t>  28 CFR Part 35, Appendix B (Title II); 28 CFR Part 36, Appendix A (Title III). Adopted into §504 via 34 CFR § 104.23.</a:t>
            </a:r>
          </a:p>
          <a:p>
            <a:pPr algn="l">
              <a:spcAft>
                <a:spcPts val="600"/>
              </a:spcAft>
            </a:pPr>
            <a:r>
              <a:rPr sz="1300" b="1">
                <a:solidFill>
                  <a:srgbClr val="1A1A1A"/>
                </a:solidFill>
                <a:latin typeface="Calibri"/>
              </a:rPr>
              <a:t>•  Date window.</a:t>
            </a:r>
            <a:r>
              <a:rPr sz="1300">
                <a:solidFill>
                  <a:srgbClr val="1A1A1A"/>
                </a:solidFill>
                <a:latin typeface="Calibri"/>
              </a:rPr>
              <a:t>  Required for facilities designed for construction or alteration on or after March 15, 2012.  Available as an election from September 15, 2010.</a:t>
            </a:r>
          </a:p>
          <a:p>
            <a:pPr algn="l">
              <a:spcAft>
                <a:spcPts val="600"/>
              </a:spcAft>
            </a:pPr>
            <a:r>
              <a:rPr sz="1300" b="1">
                <a:solidFill>
                  <a:srgbClr val="1A1A1A"/>
                </a:solidFill>
                <a:latin typeface="Calibri"/>
              </a:rPr>
              <a:t>•  Published.</a:t>
            </a:r>
            <a:r>
              <a:rPr sz="1300">
                <a:solidFill>
                  <a:srgbClr val="1A1A1A"/>
                </a:solidFill>
                <a:latin typeface="Calibri"/>
              </a:rPr>
              <a:t>  U.S. Access Board / DOJ — final rule September 15, 2010.</a:t>
            </a:r>
          </a:p>
          <a:p>
            <a:pPr algn="l">
              <a:spcAft>
                <a:spcPts val="600"/>
              </a:spcAft>
            </a:pPr>
            <a:r>
              <a:rPr sz="1300" b="1">
                <a:solidFill>
                  <a:srgbClr val="1A1A1A"/>
                </a:solidFill>
                <a:latin typeface="Calibri"/>
              </a:rPr>
              <a:t>•  Structure.</a:t>
            </a:r>
            <a:r>
              <a:rPr sz="1300">
                <a:solidFill>
                  <a:srgbClr val="1A1A1A"/>
                </a:solidFill>
                <a:latin typeface="Calibri"/>
              </a:rPr>
              <a:t>  Reorganized from 1991 ADAAG. Renumbered: Chapters 1 (application), 2 (scoping), 3 (building blocks), 4 (accessible routes), 5 (general site &amp; building elements), 6 (plumbing), 7 (communication), 8 (special rooms), 9 (built-in elements), 10 (recreation).</a:t>
            </a:r>
          </a:p>
          <a:p>
            <a:pPr algn="l">
              <a:spcAft>
                <a:spcPts val="600"/>
              </a:spcAft>
            </a:pPr>
            <a:r>
              <a:rPr sz="1300" b="1">
                <a:solidFill>
                  <a:srgbClr val="1A1A1A"/>
                </a:solidFill>
                <a:latin typeface="Calibri"/>
              </a:rPr>
              <a:t>•  Safe harbor.</a:t>
            </a:r>
            <a:r>
              <a:rPr sz="1300">
                <a:solidFill>
                  <a:srgbClr val="1A1A1A"/>
                </a:solidFill>
                <a:latin typeface="Calibri"/>
              </a:rPr>
              <a:t>  Existing elements that complied with 1991 ADA and remain unaltered are deemed compliant under 2010 ADA — no retrofit required unless the element is altered.</a:t>
            </a:r>
          </a:p>
          <a:p>
            <a:pPr algn="l">
              <a:spcAft>
                <a:spcPts val="600"/>
              </a:spcAft>
            </a:pPr>
            <a:r>
              <a:rPr sz="1300" b="1">
                <a:solidFill>
                  <a:srgbClr val="1A1A1A"/>
                </a:solidFill>
                <a:latin typeface="Calibri"/>
              </a:rPr>
              <a:t>•  Key advances.</a:t>
            </a:r>
            <a:r>
              <a:rPr sz="1300">
                <a:solidFill>
                  <a:srgbClr val="1A1A1A"/>
                </a:solidFill>
                <a:latin typeface="Calibri"/>
              </a:rPr>
              <a:t>  Comprehensive play-area scoping (Chapter 10), updated reach ranges, refined clear floor space and turning space, expanded signage and assistive listening, recreational facility requirements.</a:t>
            </a:r>
          </a:p>
        </p:txBody>
      </p:sp>
      <p:sp>
        <p:nvSpPr>
          <p:cNvPr id="13" name="TextBox 12"/>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4" name="TextBox 13"/>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31 / 63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32 · 2010 ADA</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2010 ADA — reach ranges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Reach ranges control where operable parts (controls, switches, dispensers, hooks) can be mounted.</a:t>
            </a:r>
          </a:p>
        </p:txBody>
      </p:sp>
      <p:sp>
        <p:nvSpPr>
          <p:cNvPr id="10" name="Rectangle 9"/>
          <p:cNvSpPr/>
          <p:nvPr/>
        </p:nvSpPr>
        <p:spPr>
          <a:xfrm>
            <a:off x="502920" y="1920240"/>
            <a:ext cx="5349240" cy="41148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920240"/>
            <a:ext cx="5349240" cy="4572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920240"/>
            <a:ext cx="5349240" cy="457200"/>
          </a:xfrm>
          <a:prstGeom prst="rect">
            <a:avLst/>
          </a:prstGeom>
          <a:noFill/>
        </p:spPr>
        <p:txBody>
          <a:bodyPr wrap="square" lIns="45720" rIns="45720" tIns="18288" bIns="18288" anchor="ctr">
            <a:spAutoFit/>
          </a:bodyPr>
          <a:lstStyle/>
          <a:p>
            <a:pPr algn="ctr"/>
            <a:r>
              <a:rPr sz="1100" b="1" i="0">
                <a:solidFill>
                  <a:srgbClr val="C8A84B"/>
                </a:solidFill>
                <a:latin typeface="Consolas"/>
              </a:rPr>
              <a:t>FORWARD REACH</a:t>
            </a:r>
          </a:p>
        </p:txBody>
      </p:sp>
      <p:sp>
        <p:nvSpPr>
          <p:cNvPr id="13" name="TextBox 12"/>
          <p:cNvSpPr txBox="1"/>
          <p:nvPr/>
        </p:nvSpPr>
        <p:spPr>
          <a:xfrm>
            <a:off x="685800" y="2468880"/>
            <a:ext cx="5029200" cy="365760"/>
          </a:xfrm>
          <a:prstGeom prst="rect">
            <a:avLst/>
          </a:prstGeom>
          <a:noFill/>
        </p:spPr>
        <p:txBody>
          <a:bodyPr wrap="square" lIns="45720" rIns="45720" tIns="18288" bIns="18288" anchor="t">
            <a:spAutoFit/>
          </a:bodyPr>
          <a:lstStyle/>
          <a:p>
            <a:pPr algn="l"/>
            <a:r>
              <a:rPr sz="1100" b="1" i="0">
                <a:solidFill>
                  <a:srgbClr val="1A2744"/>
                </a:solidFill>
                <a:latin typeface="Consolas"/>
              </a:rPr>
              <a:t>2010 ADA 308.2</a:t>
            </a:r>
          </a:p>
        </p:txBody>
      </p:sp>
      <p:sp>
        <p:nvSpPr>
          <p:cNvPr id="14" name="TextBox 13"/>
          <p:cNvSpPr txBox="1"/>
          <p:nvPr/>
        </p:nvSpPr>
        <p:spPr>
          <a:xfrm>
            <a:off x="685800" y="2880360"/>
            <a:ext cx="5029200" cy="3108960"/>
          </a:xfrm>
          <a:prstGeom prst="rect">
            <a:avLst/>
          </a:prstGeom>
          <a:noFill/>
        </p:spPr>
        <p:txBody>
          <a:bodyPr wrap="square" lIns="45720" rIns="45720">
            <a:spAutoFit/>
          </a:bodyPr>
          <a:lstStyle/>
          <a:p>
            <a:pPr algn="l">
              <a:spcAft>
                <a:spcPts val="800"/>
              </a:spcAft>
            </a:pPr>
            <a:r>
              <a:rPr sz="1200" b="1">
                <a:solidFill>
                  <a:srgbClr val="1A1A1A"/>
                </a:solidFill>
                <a:latin typeface="Calibri"/>
              </a:rPr>
              <a:t>•  Unobstructed forward reach:</a:t>
            </a:r>
            <a:r>
              <a:rPr sz="1200">
                <a:solidFill>
                  <a:srgbClr val="1A1A1A"/>
                </a:solidFill>
                <a:latin typeface="Calibri"/>
              </a:rPr>
              <a:t>  15" min — 48" max above the floor.</a:t>
            </a:r>
          </a:p>
          <a:p>
            <a:pPr algn="l">
              <a:spcAft>
                <a:spcPts val="800"/>
              </a:spcAft>
            </a:pPr>
            <a:r>
              <a:rPr sz="1200" b="1">
                <a:solidFill>
                  <a:srgbClr val="1A1A1A"/>
                </a:solidFill>
                <a:latin typeface="Calibri"/>
              </a:rPr>
              <a:t>•  Obstructed high forward reach (≤ 20" deep obstruction):</a:t>
            </a:r>
            <a:r>
              <a:rPr sz="1200">
                <a:solidFill>
                  <a:srgbClr val="1A1A1A"/>
                </a:solidFill>
                <a:latin typeface="Calibri"/>
              </a:rPr>
              <a:t>  48" max.</a:t>
            </a:r>
          </a:p>
          <a:p>
            <a:pPr algn="l">
              <a:spcAft>
                <a:spcPts val="800"/>
              </a:spcAft>
            </a:pPr>
            <a:r>
              <a:rPr sz="1200" b="1">
                <a:solidFill>
                  <a:srgbClr val="1A1A1A"/>
                </a:solidFill>
                <a:latin typeface="Calibri"/>
              </a:rPr>
              <a:t>•  Obstructed high forward reach (20"–25" deep):</a:t>
            </a:r>
            <a:r>
              <a:rPr sz="1200">
                <a:solidFill>
                  <a:srgbClr val="1A1A1A"/>
                </a:solidFill>
                <a:latin typeface="Calibri"/>
              </a:rPr>
              <a:t>  44" max.</a:t>
            </a:r>
          </a:p>
          <a:p>
            <a:pPr algn="l">
              <a:spcAft>
                <a:spcPts val="800"/>
              </a:spcAft>
            </a:pPr>
            <a:r>
              <a:rPr sz="1200" b="1">
                <a:solidFill>
                  <a:srgbClr val="1A1A1A"/>
                </a:solidFill>
                <a:latin typeface="Calibri"/>
              </a:rPr>
              <a:t>•  Obstructed reach depths &gt; 25":</a:t>
            </a:r>
            <a:r>
              <a:rPr sz="1200">
                <a:solidFill>
                  <a:srgbClr val="1A1A1A"/>
                </a:solidFill>
                <a:latin typeface="Calibri"/>
              </a:rPr>
              <a:t>  not permitted — find another location.</a:t>
            </a:r>
          </a:p>
        </p:txBody>
      </p:sp>
      <p:sp>
        <p:nvSpPr>
          <p:cNvPr id="15" name="Rectangle 14"/>
          <p:cNvSpPr/>
          <p:nvPr/>
        </p:nvSpPr>
        <p:spPr>
          <a:xfrm>
            <a:off x="6355080" y="1920240"/>
            <a:ext cx="5349240" cy="41148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55080" y="1920240"/>
            <a:ext cx="5349240" cy="4572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920240"/>
            <a:ext cx="5349240" cy="457200"/>
          </a:xfrm>
          <a:prstGeom prst="rect">
            <a:avLst/>
          </a:prstGeom>
          <a:noFill/>
        </p:spPr>
        <p:txBody>
          <a:bodyPr wrap="square" lIns="45720" rIns="45720" tIns="18288" bIns="18288" anchor="ctr">
            <a:spAutoFit/>
          </a:bodyPr>
          <a:lstStyle/>
          <a:p>
            <a:pPr algn="ctr"/>
            <a:r>
              <a:rPr sz="1100" b="1" i="0">
                <a:solidFill>
                  <a:srgbClr val="C8A84B"/>
                </a:solidFill>
                <a:latin typeface="Consolas"/>
              </a:rPr>
              <a:t>SIDE REACH</a:t>
            </a:r>
          </a:p>
        </p:txBody>
      </p:sp>
      <p:sp>
        <p:nvSpPr>
          <p:cNvPr id="18" name="TextBox 17"/>
          <p:cNvSpPr txBox="1"/>
          <p:nvPr/>
        </p:nvSpPr>
        <p:spPr>
          <a:xfrm>
            <a:off x="6537960" y="2468880"/>
            <a:ext cx="5029200" cy="365760"/>
          </a:xfrm>
          <a:prstGeom prst="rect">
            <a:avLst/>
          </a:prstGeom>
          <a:noFill/>
        </p:spPr>
        <p:txBody>
          <a:bodyPr wrap="square" lIns="45720" rIns="45720" tIns="18288" bIns="18288" anchor="t">
            <a:spAutoFit/>
          </a:bodyPr>
          <a:lstStyle/>
          <a:p>
            <a:pPr algn="l"/>
            <a:r>
              <a:rPr sz="1100" b="1" i="0">
                <a:solidFill>
                  <a:srgbClr val="1A2744"/>
                </a:solidFill>
                <a:latin typeface="Consolas"/>
              </a:rPr>
              <a:t>2010 ADA 308.3</a:t>
            </a:r>
          </a:p>
        </p:txBody>
      </p:sp>
      <p:sp>
        <p:nvSpPr>
          <p:cNvPr id="19" name="TextBox 18"/>
          <p:cNvSpPr txBox="1"/>
          <p:nvPr/>
        </p:nvSpPr>
        <p:spPr>
          <a:xfrm>
            <a:off x="6537960" y="2880360"/>
            <a:ext cx="5029200" cy="3108960"/>
          </a:xfrm>
          <a:prstGeom prst="rect">
            <a:avLst/>
          </a:prstGeom>
          <a:noFill/>
        </p:spPr>
        <p:txBody>
          <a:bodyPr wrap="square" lIns="45720" rIns="45720">
            <a:spAutoFit/>
          </a:bodyPr>
          <a:lstStyle/>
          <a:p>
            <a:pPr algn="l">
              <a:spcAft>
                <a:spcPts val="800"/>
              </a:spcAft>
            </a:pPr>
            <a:r>
              <a:rPr sz="1200" b="1">
                <a:solidFill>
                  <a:srgbClr val="1A1A1A"/>
                </a:solidFill>
                <a:latin typeface="Calibri"/>
              </a:rPr>
              <a:t>•  Unobstructed side reach:</a:t>
            </a:r>
            <a:r>
              <a:rPr sz="1200">
                <a:solidFill>
                  <a:srgbClr val="1A1A1A"/>
                </a:solidFill>
                <a:latin typeface="Calibri"/>
              </a:rPr>
              <a:t>  15" min — 48" max above the floor.</a:t>
            </a:r>
          </a:p>
          <a:p>
            <a:pPr algn="l">
              <a:spcAft>
                <a:spcPts val="800"/>
              </a:spcAft>
            </a:pPr>
            <a:r>
              <a:rPr sz="1200" b="1">
                <a:solidFill>
                  <a:srgbClr val="1A1A1A"/>
                </a:solidFill>
                <a:latin typeface="Calibri"/>
              </a:rPr>
              <a:t>•  Side reach over an obstruction (≤ 10" deep, ≤ 34" high):</a:t>
            </a:r>
            <a:r>
              <a:rPr sz="1200">
                <a:solidFill>
                  <a:srgbClr val="1A1A1A"/>
                </a:solidFill>
                <a:latin typeface="Calibri"/>
              </a:rPr>
              <a:t>  48" max.</a:t>
            </a:r>
          </a:p>
          <a:p>
            <a:pPr algn="l">
              <a:spcAft>
                <a:spcPts val="800"/>
              </a:spcAft>
            </a:pPr>
            <a:r>
              <a:rPr sz="1200" b="1">
                <a:solidFill>
                  <a:srgbClr val="1A1A1A"/>
                </a:solidFill>
                <a:latin typeface="Calibri"/>
              </a:rPr>
              <a:t>•  Obstructed side reach (10"–24" deep):</a:t>
            </a:r>
            <a:r>
              <a:rPr sz="1200">
                <a:solidFill>
                  <a:srgbClr val="1A1A1A"/>
                </a:solidFill>
                <a:latin typeface="Calibri"/>
              </a:rPr>
              <a:t>  46" max.</a:t>
            </a:r>
          </a:p>
          <a:p>
            <a:pPr algn="l">
              <a:spcAft>
                <a:spcPts val="800"/>
              </a:spcAft>
            </a:pPr>
            <a:r>
              <a:rPr sz="1200" b="1">
                <a:solidFill>
                  <a:srgbClr val="1A1A1A"/>
                </a:solidFill>
                <a:latin typeface="Calibri"/>
              </a:rPr>
              <a:t>•  Obstructed reach depths &gt; 24":</a:t>
            </a:r>
            <a:r>
              <a:rPr sz="1200">
                <a:solidFill>
                  <a:srgbClr val="1A1A1A"/>
                </a:solidFill>
                <a:latin typeface="Calibri"/>
              </a:rPr>
              <a:t>  not permitted.</a:t>
            </a:r>
          </a:p>
        </p:txBody>
      </p:sp>
      <p:sp>
        <p:nvSpPr>
          <p:cNvPr id="20" name="Rectangle 19"/>
          <p:cNvSpPr/>
          <p:nvPr/>
        </p:nvSpPr>
        <p:spPr>
          <a:xfrm>
            <a:off x="502920" y="6126480"/>
            <a:ext cx="11247120" cy="411480"/>
          </a:xfrm>
          <a:prstGeom prst="rect">
            <a:avLst/>
          </a:prstGeom>
          <a:solidFill>
            <a:srgbClr val="FEE2E2"/>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6126480"/>
            <a:ext cx="10972800" cy="411480"/>
          </a:xfrm>
          <a:prstGeom prst="rect">
            <a:avLst/>
          </a:prstGeom>
          <a:noFill/>
        </p:spPr>
        <p:txBody>
          <a:bodyPr wrap="square" lIns="45720" rIns="45720" tIns="18288" bIns="18288" anchor="ctr">
            <a:spAutoFit/>
          </a:bodyPr>
          <a:lstStyle/>
          <a:p>
            <a:pPr algn="l"/>
            <a:r>
              <a:rPr sz="1200" b="1" i="0">
                <a:solidFill>
                  <a:srgbClr val="B91C1C"/>
                </a:solidFill>
                <a:latin typeface="Calibri"/>
              </a:rPr>
              <a:t>Most common reach violations:  coat hooks &gt; 48"  ·  paper towel dispensers &gt; 48"  ·  switches behind deep counters</a:t>
            </a:r>
          </a:p>
        </p:txBody>
      </p:sp>
      <p:sp>
        <p:nvSpPr>
          <p:cNvPr id="22" name="TextBox 21"/>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23" name="TextBox 22"/>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32 / 63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33 · 2010 ADA</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2010 ADA — clear floor space &amp; turning space</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91640"/>
            <a:ext cx="5486400" cy="2240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91640"/>
            <a:ext cx="164592" cy="224028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828800"/>
            <a:ext cx="5120640" cy="365760"/>
          </a:xfrm>
          <a:prstGeom prst="rect">
            <a:avLst/>
          </a:prstGeom>
          <a:noFill/>
        </p:spPr>
        <p:txBody>
          <a:bodyPr wrap="square" lIns="45720" rIns="45720" tIns="18288" bIns="18288" anchor="t">
            <a:spAutoFit/>
          </a:bodyPr>
          <a:lstStyle/>
          <a:p>
            <a:pPr algn="l"/>
            <a:r>
              <a:rPr sz="1400" b="1" i="0">
                <a:solidFill>
                  <a:srgbClr val="1A2744"/>
                </a:solidFill>
                <a:latin typeface="Calibri"/>
              </a:rPr>
              <a:t>Clear floor space</a:t>
            </a:r>
          </a:p>
        </p:txBody>
      </p:sp>
      <p:sp>
        <p:nvSpPr>
          <p:cNvPr id="12" name="TextBox 11"/>
          <p:cNvSpPr txBox="1"/>
          <p:nvPr/>
        </p:nvSpPr>
        <p:spPr>
          <a:xfrm>
            <a:off x="822960" y="2240280"/>
            <a:ext cx="5120640" cy="502920"/>
          </a:xfrm>
          <a:prstGeom prst="rect">
            <a:avLst/>
          </a:prstGeom>
          <a:noFill/>
        </p:spPr>
        <p:txBody>
          <a:bodyPr wrap="square" lIns="45720" rIns="45720" tIns="18288" bIns="18288" anchor="t">
            <a:spAutoFit/>
          </a:bodyPr>
          <a:lstStyle/>
          <a:p>
            <a:pPr algn="l"/>
            <a:r>
              <a:rPr sz="2200" b="1" i="0">
                <a:solidFill>
                  <a:srgbClr val="1A1A1A"/>
                </a:solidFill>
                <a:latin typeface="Georgia"/>
              </a:rPr>
              <a:t>30" × 48" minimum</a:t>
            </a:r>
          </a:p>
        </p:txBody>
      </p:sp>
      <p:sp>
        <p:nvSpPr>
          <p:cNvPr id="13" name="TextBox 12"/>
          <p:cNvSpPr txBox="1"/>
          <p:nvPr/>
        </p:nvSpPr>
        <p:spPr>
          <a:xfrm>
            <a:off x="822960" y="2788920"/>
            <a:ext cx="5120640" cy="365760"/>
          </a:xfrm>
          <a:prstGeom prst="rect">
            <a:avLst/>
          </a:prstGeom>
          <a:noFill/>
        </p:spPr>
        <p:txBody>
          <a:bodyPr wrap="square" lIns="45720" rIns="45720" tIns="18288" bIns="18288" anchor="t">
            <a:spAutoFit/>
          </a:bodyPr>
          <a:lstStyle/>
          <a:p>
            <a:pPr algn="l"/>
            <a:r>
              <a:rPr sz="1100" b="1" i="0">
                <a:solidFill>
                  <a:srgbClr val="1A2744"/>
                </a:solidFill>
                <a:latin typeface="Consolas"/>
              </a:rPr>
              <a:t>2010 ADA 305</a:t>
            </a:r>
          </a:p>
        </p:txBody>
      </p:sp>
      <p:sp>
        <p:nvSpPr>
          <p:cNvPr id="14" name="TextBox 13"/>
          <p:cNvSpPr txBox="1"/>
          <p:nvPr/>
        </p:nvSpPr>
        <p:spPr>
          <a:xfrm>
            <a:off x="822960" y="3108960"/>
            <a:ext cx="5120640" cy="777240"/>
          </a:xfrm>
          <a:prstGeom prst="rect">
            <a:avLst/>
          </a:prstGeom>
          <a:noFill/>
        </p:spPr>
        <p:txBody>
          <a:bodyPr wrap="square" lIns="45720" rIns="45720" tIns="18288" bIns="18288" anchor="t">
            <a:spAutoFit/>
          </a:bodyPr>
          <a:lstStyle/>
          <a:p>
            <a:pPr algn="l"/>
            <a:r>
              <a:rPr sz="1100" b="0" i="1">
                <a:solidFill>
                  <a:srgbClr val="1A1A1A"/>
                </a:solidFill>
                <a:latin typeface="Calibri"/>
              </a:rPr>
              <a:t>The footprint a wheelchair user occupies. Required at every accessible element.</a:t>
            </a:r>
          </a:p>
        </p:txBody>
      </p:sp>
      <p:sp>
        <p:nvSpPr>
          <p:cNvPr id="15" name="Rectangle 14"/>
          <p:cNvSpPr/>
          <p:nvPr/>
        </p:nvSpPr>
        <p:spPr>
          <a:xfrm>
            <a:off x="6172200" y="1691640"/>
            <a:ext cx="5486400" cy="2240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691640"/>
            <a:ext cx="164592" cy="224028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828800"/>
            <a:ext cx="5120640" cy="365760"/>
          </a:xfrm>
          <a:prstGeom prst="rect">
            <a:avLst/>
          </a:prstGeom>
          <a:noFill/>
        </p:spPr>
        <p:txBody>
          <a:bodyPr wrap="square" lIns="45720" rIns="45720" tIns="18288" bIns="18288" anchor="t">
            <a:spAutoFit/>
          </a:bodyPr>
          <a:lstStyle/>
          <a:p>
            <a:pPr algn="l"/>
            <a:r>
              <a:rPr sz="1400" b="1" i="0">
                <a:solidFill>
                  <a:srgbClr val="1A2744"/>
                </a:solidFill>
                <a:latin typeface="Calibri"/>
              </a:rPr>
              <a:t>Turning space — circle</a:t>
            </a:r>
          </a:p>
        </p:txBody>
      </p:sp>
      <p:sp>
        <p:nvSpPr>
          <p:cNvPr id="18" name="TextBox 17"/>
          <p:cNvSpPr txBox="1"/>
          <p:nvPr/>
        </p:nvSpPr>
        <p:spPr>
          <a:xfrm>
            <a:off x="6492240" y="2240280"/>
            <a:ext cx="5120640" cy="502920"/>
          </a:xfrm>
          <a:prstGeom prst="rect">
            <a:avLst/>
          </a:prstGeom>
          <a:noFill/>
        </p:spPr>
        <p:txBody>
          <a:bodyPr wrap="square" lIns="45720" rIns="45720" tIns="18288" bIns="18288" anchor="t">
            <a:spAutoFit/>
          </a:bodyPr>
          <a:lstStyle/>
          <a:p>
            <a:pPr algn="l"/>
            <a:r>
              <a:rPr sz="2200" b="1" i="0">
                <a:solidFill>
                  <a:srgbClr val="1A1A1A"/>
                </a:solidFill>
                <a:latin typeface="Georgia"/>
              </a:rPr>
              <a:t>60" diameter</a:t>
            </a:r>
          </a:p>
        </p:txBody>
      </p:sp>
      <p:sp>
        <p:nvSpPr>
          <p:cNvPr id="19" name="TextBox 18"/>
          <p:cNvSpPr txBox="1"/>
          <p:nvPr/>
        </p:nvSpPr>
        <p:spPr>
          <a:xfrm>
            <a:off x="6492240" y="2788920"/>
            <a:ext cx="5120640" cy="365760"/>
          </a:xfrm>
          <a:prstGeom prst="rect">
            <a:avLst/>
          </a:prstGeom>
          <a:noFill/>
        </p:spPr>
        <p:txBody>
          <a:bodyPr wrap="square" lIns="45720" rIns="45720" tIns="18288" bIns="18288" anchor="t">
            <a:spAutoFit/>
          </a:bodyPr>
          <a:lstStyle/>
          <a:p>
            <a:pPr algn="l"/>
            <a:r>
              <a:rPr sz="1100" b="1" i="0">
                <a:solidFill>
                  <a:srgbClr val="1A2744"/>
                </a:solidFill>
                <a:latin typeface="Consolas"/>
              </a:rPr>
              <a:t>2010 ADA 304.3.1</a:t>
            </a:r>
          </a:p>
        </p:txBody>
      </p:sp>
      <p:sp>
        <p:nvSpPr>
          <p:cNvPr id="20" name="TextBox 19"/>
          <p:cNvSpPr txBox="1"/>
          <p:nvPr/>
        </p:nvSpPr>
        <p:spPr>
          <a:xfrm>
            <a:off x="6492240" y="3108960"/>
            <a:ext cx="5120640" cy="777240"/>
          </a:xfrm>
          <a:prstGeom prst="rect">
            <a:avLst/>
          </a:prstGeom>
          <a:noFill/>
        </p:spPr>
        <p:txBody>
          <a:bodyPr wrap="square" lIns="45720" rIns="45720" tIns="18288" bIns="18288" anchor="t">
            <a:spAutoFit/>
          </a:bodyPr>
          <a:lstStyle/>
          <a:p>
            <a:pPr algn="l"/>
            <a:r>
              <a:rPr sz="1100" b="0" i="1">
                <a:solidFill>
                  <a:srgbClr val="1A1A1A"/>
                </a:solidFill>
                <a:latin typeface="Calibri"/>
              </a:rPr>
              <a:t>Permits a 180° turn. Used in toilet rooms, kitchens, and dead-end spaces.</a:t>
            </a:r>
          </a:p>
        </p:txBody>
      </p:sp>
      <p:sp>
        <p:nvSpPr>
          <p:cNvPr id="21" name="Rectangle 20"/>
          <p:cNvSpPr/>
          <p:nvPr/>
        </p:nvSpPr>
        <p:spPr>
          <a:xfrm>
            <a:off x="502920" y="4069080"/>
            <a:ext cx="5486400" cy="2240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069080"/>
            <a:ext cx="164592" cy="224028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206240"/>
            <a:ext cx="5120640" cy="365760"/>
          </a:xfrm>
          <a:prstGeom prst="rect">
            <a:avLst/>
          </a:prstGeom>
          <a:noFill/>
        </p:spPr>
        <p:txBody>
          <a:bodyPr wrap="square" lIns="45720" rIns="45720" tIns="18288" bIns="18288" anchor="t">
            <a:spAutoFit/>
          </a:bodyPr>
          <a:lstStyle/>
          <a:p>
            <a:pPr algn="l"/>
            <a:r>
              <a:rPr sz="1400" b="1" i="0">
                <a:solidFill>
                  <a:srgbClr val="1A2744"/>
                </a:solidFill>
                <a:latin typeface="Calibri"/>
              </a:rPr>
              <a:t>Turning space — T-shape</a:t>
            </a:r>
          </a:p>
        </p:txBody>
      </p:sp>
      <p:sp>
        <p:nvSpPr>
          <p:cNvPr id="24" name="TextBox 23"/>
          <p:cNvSpPr txBox="1"/>
          <p:nvPr/>
        </p:nvSpPr>
        <p:spPr>
          <a:xfrm>
            <a:off x="822960" y="4617720"/>
            <a:ext cx="5120640" cy="502920"/>
          </a:xfrm>
          <a:prstGeom prst="rect">
            <a:avLst/>
          </a:prstGeom>
          <a:noFill/>
        </p:spPr>
        <p:txBody>
          <a:bodyPr wrap="square" lIns="45720" rIns="45720" tIns="18288" bIns="18288" anchor="t">
            <a:spAutoFit/>
          </a:bodyPr>
          <a:lstStyle/>
          <a:p>
            <a:pPr algn="l"/>
            <a:r>
              <a:rPr sz="2200" b="1" i="0">
                <a:solidFill>
                  <a:srgbClr val="1A1A1A"/>
                </a:solidFill>
                <a:latin typeface="Georgia"/>
              </a:rPr>
              <a:t>60" × 60" with 36"-wide arms</a:t>
            </a:r>
          </a:p>
        </p:txBody>
      </p:sp>
      <p:sp>
        <p:nvSpPr>
          <p:cNvPr id="25" name="TextBox 24"/>
          <p:cNvSpPr txBox="1"/>
          <p:nvPr/>
        </p:nvSpPr>
        <p:spPr>
          <a:xfrm>
            <a:off x="822960" y="5166360"/>
            <a:ext cx="5120640" cy="365760"/>
          </a:xfrm>
          <a:prstGeom prst="rect">
            <a:avLst/>
          </a:prstGeom>
          <a:noFill/>
        </p:spPr>
        <p:txBody>
          <a:bodyPr wrap="square" lIns="45720" rIns="45720" tIns="18288" bIns="18288" anchor="t">
            <a:spAutoFit/>
          </a:bodyPr>
          <a:lstStyle/>
          <a:p>
            <a:pPr algn="l"/>
            <a:r>
              <a:rPr sz="1100" b="1" i="0">
                <a:solidFill>
                  <a:srgbClr val="1A2744"/>
                </a:solidFill>
                <a:latin typeface="Consolas"/>
              </a:rPr>
              <a:t>2010 ADA 304.3.2</a:t>
            </a:r>
          </a:p>
        </p:txBody>
      </p:sp>
      <p:sp>
        <p:nvSpPr>
          <p:cNvPr id="26" name="TextBox 25"/>
          <p:cNvSpPr txBox="1"/>
          <p:nvPr/>
        </p:nvSpPr>
        <p:spPr>
          <a:xfrm>
            <a:off x="822960" y="5486400"/>
            <a:ext cx="5120640" cy="777240"/>
          </a:xfrm>
          <a:prstGeom prst="rect">
            <a:avLst/>
          </a:prstGeom>
          <a:noFill/>
        </p:spPr>
        <p:txBody>
          <a:bodyPr wrap="square" lIns="45720" rIns="45720" tIns="18288" bIns="18288" anchor="t">
            <a:spAutoFit/>
          </a:bodyPr>
          <a:lstStyle/>
          <a:p>
            <a:pPr algn="l"/>
            <a:r>
              <a:rPr sz="1100" b="0" i="1">
                <a:solidFill>
                  <a:srgbClr val="1A1A1A"/>
                </a:solidFill>
                <a:latin typeface="Calibri"/>
              </a:rPr>
              <a:t>Alternate to the circle. Required minimum arm length 36", base 60".</a:t>
            </a:r>
          </a:p>
        </p:txBody>
      </p:sp>
      <p:sp>
        <p:nvSpPr>
          <p:cNvPr id="27" name="Rectangle 26"/>
          <p:cNvSpPr/>
          <p:nvPr/>
        </p:nvSpPr>
        <p:spPr>
          <a:xfrm>
            <a:off x="6172200" y="4069080"/>
            <a:ext cx="5486400" cy="2240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72200" y="4069080"/>
            <a:ext cx="164592" cy="224028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4206240"/>
            <a:ext cx="5120640" cy="365760"/>
          </a:xfrm>
          <a:prstGeom prst="rect">
            <a:avLst/>
          </a:prstGeom>
          <a:noFill/>
        </p:spPr>
        <p:txBody>
          <a:bodyPr wrap="square" lIns="45720" rIns="45720" tIns="18288" bIns="18288" anchor="t">
            <a:spAutoFit/>
          </a:bodyPr>
          <a:lstStyle/>
          <a:p>
            <a:pPr algn="l"/>
            <a:r>
              <a:rPr sz="1400" b="1" i="0">
                <a:solidFill>
                  <a:srgbClr val="1A2744"/>
                </a:solidFill>
                <a:latin typeface="Calibri"/>
              </a:rPr>
              <a:t>Knee &amp; toe clearance</a:t>
            </a:r>
          </a:p>
        </p:txBody>
      </p:sp>
      <p:sp>
        <p:nvSpPr>
          <p:cNvPr id="30" name="TextBox 29"/>
          <p:cNvSpPr txBox="1"/>
          <p:nvPr/>
        </p:nvSpPr>
        <p:spPr>
          <a:xfrm>
            <a:off x="6492240" y="4617720"/>
            <a:ext cx="5120640" cy="502920"/>
          </a:xfrm>
          <a:prstGeom prst="rect">
            <a:avLst/>
          </a:prstGeom>
          <a:noFill/>
        </p:spPr>
        <p:txBody>
          <a:bodyPr wrap="square" lIns="45720" rIns="45720" tIns="18288" bIns="18288" anchor="t">
            <a:spAutoFit/>
          </a:bodyPr>
          <a:lstStyle/>
          <a:p>
            <a:pPr algn="l"/>
            <a:r>
              <a:rPr sz="2200" b="1" i="0">
                <a:solidFill>
                  <a:srgbClr val="1A1A1A"/>
                </a:solidFill>
                <a:latin typeface="Georgia"/>
              </a:rPr>
              <a:t>27"H × 30"W × 19"D</a:t>
            </a:r>
          </a:p>
        </p:txBody>
      </p:sp>
      <p:sp>
        <p:nvSpPr>
          <p:cNvPr id="31" name="TextBox 30"/>
          <p:cNvSpPr txBox="1"/>
          <p:nvPr/>
        </p:nvSpPr>
        <p:spPr>
          <a:xfrm>
            <a:off x="6492240" y="5166360"/>
            <a:ext cx="5120640" cy="365760"/>
          </a:xfrm>
          <a:prstGeom prst="rect">
            <a:avLst/>
          </a:prstGeom>
          <a:noFill/>
        </p:spPr>
        <p:txBody>
          <a:bodyPr wrap="square" lIns="45720" rIns="45720" tIns="18288" bIns="18288" anchor="t">
            <a:spAutoFit/>
          </a:bodyPr>
          <a:lstStyle/>
          <a:p>
            <a:pPr algn="l"/>
            <a:r>
              <a:rPr sz="1100" b="1" i="0">
                <a:solidFill>
                  <a:srgbClr val="1A2744"/>
                </a:solidFill>
                <a:latin typeface="Consolas"/>
              </a:rPr>
              <a:t>2010 ADA 306</a:t>
            </a:r>
          </a:p>
        </p:txBody>
      </p:sp>
      <p:sp>
        <p:nvSpPr>
          <p:cNvPr id="32" name="TextBox 31"/>
          <p:cNvSpPr txBox="1"/>
          <p:nvPr/>
        </p:nvSpPr>
        <p:spPr>
          <a:xfrm>
            <a:off x="6492240" y="5486400"/>
            <a:ext cx="5120640" cy="777240"/>
          </a:xfrm>
          <a:prstGeom prst="rect">
            <a:avLst/>
          </a:prstGeom>
          <a:noFill/>
        </p:spPr>
        <p:txBody>
          <a:bodyPr wrap="square" lIns="45720" rIns="45720" tIns="18288" bIns="18288" anchor="t">
            <a:spAutoFit/>
          </a:bodyPr>
          <a:lstStyle/>
          <a:p>
            <a:pPr algn="l"/>
            <a:r>
              <a:rPr sz="1100" b="0" i="1">
                <a:solidFill>
                  <a:srgbClr val="1A1A1A"/>
                </a:solidFill>
                <a:latin typeface="Calibri"/>
              </a:rPr>
              <a:t>Required under counters, lavatories, drinking fountains, and other elements designed for forward approach.</a:t>
            </a:r>
          </a:p>
        </p:txBody>
      </p:sp>
      <p:sp>
        <p:nvSpPr>
          <p:cNvPr id="33" name="TextBox 32"/>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34" name="TextBox 33"/>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33 / 63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34 · 2010 ADA</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2010 ADA — ramps, slopes, and curb ramps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11247120" cy="22860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Triangle 9"/>
          <p:cNvSpPr/>
          <p:nvPr/>
        </p:nvSpPr>
        <p:spPr>
          <a:xfrm>
            <a:off x="2286000" y="2560320"/>
            <a:ext cx="4114800" cy="914400"/>
          </a:xfrm>
          <a:prstGeom prst="rtTriangle">
            <a:avLst/>
          </a:prstGeom>
          <a:solidFill>
            <a:srgbClr val="243460"/>
          </a:solidFill>
          <a:ln>
            <a:solidFill>
              <a:srgbClr val="1A27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2560320"/>
            <a:ext cx="1371600" cy="914400"/>
          </a:xfrm>
          <a:prstGeom prst="rect">
            <a:avLst/>
          </a:prstGeom>
          <a:solidFill>
            <a:srgbClr val="C8A84B"/>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560320"/>
            <a:ext cx="1371600" cy="914400"/>
          </a:xfrm>
          <a:prstGeom prst="rect">
            <a:avLst/>
          </a:prstGeom>
          <a:noFill/>
        </p:spPr>
        <p:txBody>
          <a:bodyPr wrap="square" lIns="45720" rIns="45720" tIns="18288" bIns="18288" anchor="ctr">
            <a:spAutoFit/>
          </a:bodyPr>
          <a:lstStyle/>
          <a:p>
            <a:pPr algn="ctr"/>
            <a:r>
              <a:rPr sz="1000" b="1" i="0">
                <a:solidFill>
                  <a:srgbClr val="1A2744"/>
                </a:solidFill>
                <a:latin typeface="Consolas"/>
              </a:rPr>
              <a:t>LANDING</a:t>
            </a:r>
          </a:p>
          <a:p>
            <a:pPr algn="ctr"/>
            <a:r>
              <a:rPr sz="1000" b="1" i="0">
                <a:solidFill>
                  <a:srgbClr val="1A2744"/>
                </a:solidFill>
                <a:latin typeface="Consolas"/>
              </a:rPr>
              <a:t>60"×60"</a:t>
            </a:r>
          </a:p>
        </p:txBody>
      </p:sp>
      <p:sp>
        <p:nvSpPr>
          <p:cNvPr id="13" name="TextBox 12"/>
          <p:cNvSpPr txBox="1"/>
          <p:nvPr/>
        </p:nvSpPr>
        <p:spPr>
          <a:xfrm>
            <a:off x="2286000" y="2103120"/>
            <a:ext cx="4114800" cy="365760"/>
          </a:xfrm>
          <a:prstGeom prst="rect">
            <a:avLst/>
          </a:prstGeom>
          <a:noFill/>
        </p:spPr>
        <p:txBody>
          <a:bodyPr wrap="square" lIns="45720" rIns="45720" tIns="18288" bIns="18288" anchor="t">
            <a:spAutoFit/>
          </a:bodyPr>
          <a:lstStyle/>
          <a:p>
            <a:pPr algn="ctr"/>
            <a:r>
              <a:rPr sz="1200" b="1" i="0">
                <a:solidFill>
                  <a:srgbClr val="1A2744"/>
                </a:solidFill>
                <a:latin typeface="Calibri"/>
              </a:rPr>
              <a:t>Running slope 1:12 max  ·  Cross slope 1:48 (2.1%) max</a:t>
            </a:r>
          </a:p>
        </p:txBody>
      </p:sp>
      <p:sp>
        <p:nvSpPr>
          <p:cNvPr id="14" name="TextBox 13"/>
          <p:cNvSpPr txBox="1"/>
          <p:nvPr/>
        </p:nvSpPr>
        <p:spPr>
          <a:xfrm>
            <a:off x="2286000" y="3520440"/>
            <a:ext cx="4114800" cy="274320"/>
          </a:xfrm>
          <a:prstGeom prst="rect">
            <a:avLst/>
          </a:prstGeom>
          <a:noFill/>
        </p:spPr>
        <p:txBody>
          <a:bodyPr wrap="square" lIns="45720" rIns="45720" tIns="18288" bIns="18288" anchor="t">
            <a:spAutoFit/>
          </a:bodyPr>
          <a:lstStyle/>
          <a:p>
            <a:pPr algn="ctr"/>
            <a:r>
              <a:rPr sz="1100" b="0" i="1">
                <a:solidFill>
                  <a:srgbClr val="6B6659"/>
                </a:solidFill>
                <a:latin typeface="Consolas"/>
              </a:rPr>
              <a:t>Rise max 30" between landings</a:t>
            </a:r>
          </a:p>
        </p:txBody>
      </p:sp>
      <p:sp>
        <p:nvSpPr>
          <p:cNvPr id="15" name="TextBox 14"/>
          <p:cNvSpPr txBox="1"/>
          <p:nvPr/>
        </p:nvSpPr>
        <p:spPr>
          <a:xfrm>
            <a:off x="7955279" y="1828800"/>
            <a:ext cx="3657600" cy="365760"/>
          </a:xfrm>
          <a:prstGeom prst="rect">
            <a:avLst/>
          </a:prstGeom>
          <a:noFill/>
        </p:spPr>
        <p:txBody>
          <a:bodyPr wrap="square" lIns="45720" rIns="45720" tIns="18288" bIns="18288" anchor="t">
            <a:spAutoFit/>
          </a:bodyPr>
          <a:lstStyle/>
          <a:p>
            <a:pPr algn="l"/>
            <a:r>
              <a:rPr sz="1100" b="1" i="0">
                <a:solidFill>
                  <a:srgbClr val="1A2744"/>
                </a:solidFill>
                <a:latin typeface="Consolas"/>
              </a:rPr>
              <a:t>Handrails 34"–38"  ·  12" extensions both ends</a:t>
            </a:r>
          </a:p>
        </p:txBody>
      </p:sp>
      <p:sp>
        <p:nvSpPr>
          <p:cNvPr id="16" name="TextBox 15"/>
          <p:cNvSpPr txBox="1"/>
          <p:nvPr/>
        </p:nvSpPr>
        <p:spPr>
          <a:xfrm>
            <a:off x="7955279" y="2194560"/>
            <a:ext cx="3657600" cy="274320"/>
          </a:xfrm>
          <a:prstGeom prst="rect">
            <a:avLst/>
          </a:prstGeom>
          <a:noFill/>
        </p:spPr>
        <p:txBody>
          <a:bodyPr wrap="square" lIns="45720" rIns="45720" tIns="18288" bIns="18288" anchor="t">
            <a:spAutoFit/>
          </a:bodyPr>
          <a:lstStyle/>
          <a:p>
            <a:pPr algn="l"/>
            <a:r>
              <a:rPr sz="1000" b="0" i="1">
                <a:solidFill>
                  <a:srgbClr val="6B6659"/>
                </a:solidFill>
                <a:latin typeface="Calibri"/>
              </a:rPr>
              <a:t>Required when rise &gt; 6" or run &gt; 72"</a:t>
            </a:r>
          </a:p>
        </p:txBody>
      </p:sp>
      <p:sp>
        <p:nvSpPr>
          <p:cNvPr id="17" name="Rectangle 16"/>
          <p:cNvSpPr/>
          <p:nvPr/>
        </p:nvSpPr>
        <p:spPr>
          <a:xfrm>
            <a:off x="502920" y="3886200"/>
            <a:ext cx="3657600" cy="1143000"/>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977640"/>
            <a:ext cx="3291840" cy="274320"/>
          </a:xfrm>
          <a:prstGeom prst="rect">
            <a:avLst/>
          </a:prstGeom>
          <a:noFill/>
        </p:spPr>
        <p:txBody>
          <a:bodyPr wrap="square" lIns="45720" rIns="45720" tIns="18288" bIns="18288" anchor="t">
            <a:spAutoFit/>
          </a:bodyPr>
          <a:lstStyle/>
          <a:p>
            <a:pPr algn="l"/>
            <a:r>
              <a:rPr sz="1100" b="1" i="0">
                <a:solidFill>
                  <a:srgbClr val="1A2744"/>
                </a:solidFill>
                <a:latin typeface="Consolas"/>
              </a:rPr>
              <a:t>2010 ADA 405.2</a:t>
            </a:r>
          </a:p>
        </p:txBody>
      </p:sp>
      <p:sp>
        <p:nvSpPr>
          <p:cNvPr id="19" name="TextBox 18"/>
          <p:cNvSpPr txBox="1"/>
          <p:nvPr/>
        </p:nvSpPr>
        <p:spPr>
          <a:xfrm>
            <a:off x="685800" y="4251960"/>
            <a:ext cx="3291840" cy="365760"/>
          </a:xfrm>
          <a:prstGeom prst="rect">
            <a:avLst/>
          </a:prstGeom>
          <a:noFill/>
        </p:spPr>
        <p:txBody>
          <a:bodyPr wrap="square" lIns="45720" rIns="45720" tIns="18288" bIns="18288" anchor="t">
            <a:spAutoFit/>
          </a:bodyPr>
          <a:lstStyle/>
          <a:p>
            <a:pPr algn="l"/>
            <a:r>
              <a:rPr sz="1300" b="1" i="0">
                <a:solidFill>
                  <a:srgbClr val="1A1A1A"/>
                </a:solidFill>
                <a:latin typeface="Calibri"/>
              </a:rPr>
              <a:t>Ramp running slope</a:t>
            </a:r>
          </a:p>
        </p:txBody>
      </p:sp>
      <p:sp>
        <p:nvSpPr>
          <p:cNvPr id="20" name="TextBox 19"/>
          <p:cNvSpPr txBox="1"/>
          <p:nvPr/>
        </p:nvSpPr>
        <p:spPr>
          <a:xfrm>
            <a:off x="685800" y="4617720"/>
            <a:ext cx="3291840" cy="365760"/>
          </a:xfrm>
          <a:prstGeom prst="rect">
            <a:avLst/>
          </a:prstGeom>
          <a:noFill/>
        </p:spPr>
        <p:txBody>
          <a:bodyPr wrap="square" lIns="45720" rIns="45720" tIns="18288" bIns="18288" anchor="t">
            <a:spAutoFit/>
          </a:bodyPr>
          <a:lstStyle/>
          <a:p>
            <a:pPr algn="l"/>
            <a:r>
              <a:rPr sz="1200" b="0" i="0">
                <a:solidFill>
                  <a:srgbClr val="1A1A1A"/>
                </a:solidFill>
                <a:latin typeface="Calibri"/>
              </a:rPr>
              <a:t>Max 1:12 (8.33%)</a:t>
            </a:r>
          </a:p>
        </p:txBody>
      </p:sp>
      <p:sp>
        <p:nvSpPr>
          <p:cNvPr id="21" name="Rectangle 20"/>
          <p:cNvSpPr/>
          <p:nvPr/>
        </p:nvSpPr>
        <p:spPr>
          <a:xfrm>
            <a:off x="4343400" y="3886200"/>
            <a:ext cx="3657600" cy="1143000"/>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80" y="3977640"/>
            <a:ext cx="3291840" cy="274320"/>
          </a:xfrm>
          <a:prstGeom prst="rect">
            <a:avLst/>
          </a:prstGeom>
          <a:noFill/>
        </p:spPr>
        <p:txBody>
          <a:bodyPr wrap="square" lIns="45720" rIns="45720" tIns="18288" bIns="18288" anchor="t">
            <a:spAutoFit/>
          </a:bodyPr>
          <a:lstStyle/>
          <a:p>
            <a:pPr algn="l"/>
            <a:r>
              <a:rPr sz="1100" b="1" i="0">
                <a:solidFill>
                  <a:srgbClr val="1A2744"/>
                </a:solidFill>
                <a:latin typeface="Consolas"/>
              </a:rPr>
              <a:t>2010 ADA 405.3</a:t>
            </a:r>
          </a:p>
        </p:txBody>
      </p:sp>
      <p:sp>
        <p:nvSpPr>
          <p:cNvPr id="23" name="TextBox 22"/>
          <p:cNvSpPr txBox="1"/>
          <p:nvPr/>
        </p:nvSpPr>
        <p:spPr>
          <a:xfrm>
            <a:off x="4526280" y="4251960"/>
            <a:ext cx="3291840" cy="365760"/>
          </a:xfrm>
          <a:prstGeom prst="rect">
            <a:avLst/>
          </a:prstGeom>
          <a:noFill/>
        </p:spPr>
        <p:txBody>
          <a:bodyPr wrap="square" lIns="45720" rIns="45720" tIns="18288" bIns="18288" anchor="t">
            <a:spAutoFit/>
          </a:bodyPr>
          <a:lstStyle/>
          <a:p>
            <a:pPr algn="l"/>
            <a:r>
              <a:rPr sz="1300" b="1" i="0">
                <a:solidFill>
                  <a:srgbClr val="1A1A1A"/>
                </a:solidFill>
                <a:latin typeface="Calibri"/>
              </a:rPr>
              <a:t>Ramp cross slope</a:t>
            </a:r>
          </a:p>
        </p:txBody>
      </p:sp>
      <p:sp>
        <p:nvSpPr>
          <p:cNvPr id="24" name="TextBox 23"/>
          <p:cNvSpPr txBox="1"/>
          <p:nvPr/>
        </p:nvSpPr>
        <p:spPr>
          <a:xfrm>
            <a:off x="4526280" y="4617720"/>
            <a:ext cx="3291840" cy="365760"/>
          </a:xfrm>
          <a:prstGeom prst="rect">
            <a:avLst/>
          </a:prstGeom>
          <a:noFill/>
        </p:spPr>
        <p:txBody>
          <a:bodyPr wrap="square" lIns="45720" rIns="45720" tIns="18288" bIns="18288" anchor="t">
            <a:spAutoFit/>
          </a:bodyPr>
          <a:lstStyle/>
          <a:p>
            <a:pPr algn="l"/>
            <a:r>
              <a:rPr sz="1200" b="0" i="0">
                <a:solidFill>
                  <a:srgbClr val="1A1A1A"/>
                </a:solidFill>
                <a:latin typeface="Calibri"/>
              </a:rPr>
              <a:t>Max 2% (1:48)</a:t>
            </a:r>
          </a:p>
        </p:txBody>
      </p:sp>
      <p:sp>
        <p:nvSpPr>
          <p:cNvPr id="25" name="Rectangle 24"/>
          <p:cNvSpPr/>
          <p:nvPr/>
        </p:nvSpPr>
        <p:spPr>
          <a:xfrm>
            <a:off x="8183880" y="3886200"/>
            <a:ext cx="3657600" cy="1143000"/>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66760" y="3977640"/>
            <a:ext cx="3291840" cy="274320"/>
          </a:xfrm>
          <a:prstGeom prst="rect">
            <a:avLst/>
          </a:prstGeom>
          <a:noFill/>
        </p:spPr>
        <p:txBody>
          <a:bodyPr wrap="square" lIns="45720" rIns="45720" tIns="18288" bIns="18288" anchor="t">
            <a:spAutoFit/>
          </a:bodyPr>
          <a:lstStyle/>
          <a:p>
            <a:pPr algn="l"/>
            <a:r>
              <a:rPr sz="1100" b="1" i="0">
                <a:solidFill>
                  <a:srgbClr val="1A2744"/>
                </a:solidFill>
                <a:latin typeface="Consolas"/>
              </a:rPr>
              <a:t>2010 ADA 405.7</a:t>
            </a:r>
          </a:p>
        </p:txBody>
      </p:sp>
      <p:sp>
        <p:nvSpPr>
          <p:cNvPr id="27" name="TextBox 26"/>
          <p:cNvSpPr txBox="1"/>
          <p:nvPr/>
        </p:nvSpPr>
        <p:spPr>
          <a:xfrm>
            <a:off x="8366760" y="4251960"/>
            <a:ext cx="3291840" cy="365760"/>
          </a:xfrm>
          <a:prstGeom prst="rect">
            <a:avLst/>
          </a:prstGeom>
          <a:noFill/>
        </p:spPr>
        <p:txBody>
          <a:bodyPr wrap="square" lIns="45720" rIns="45720" tIns="18288" bIns="18288" anchor="t">
            <a:spAutoFit/>
          </a:bodyPr>
          <a:lstStyle/>
          <a:p>
            <a:pPr algn="l"/>
            <a:r>
              <a:rPr sz="1300" b="1" i="0">
                <a:solidFill>
                  <a:srgbClr val="1A1A1A"/>
                </a:solidFill>
                <a:latin typeface="Calibri"/>
              </a:rPr>
              <a:t>Landings</a:t>
            </a:r>
          </a:p>
        </p:txBody>
      </p:sp>
      <p:sp>
        <p:nvSpPr>
          <p:cNvPr id="28" name="TextBox 27"/>
          <p:cNvSpPr txBox="1"/>
          <p:nvPr/>
        </p:nvSpPr>
        <p:spPr>
          <a:xfrm>
            <a:off x="8366760" y="4617720"/>
            <a:ext cx="3291840" cy="365760"/>
          </a:xfrm>
          <a:prstGeom prst="rect">
            <a:avLst/>
          </a:prstGeom>
          <a:noFill/>
        </p:spPr>
        <p:txBody>
          <a:bodyPr wrap="square" lIns="45720" rIns="45720" tIns="18288" bIns="18288" anchor="t">
            <a:spAutoFit/>
          </a:bodyPr>
          <a:lstStyle/>
          <a:p>
            <a:pPr algn="l"/>
            <a:r>
              <a:rPr sz="1200" b="0" i="0">
                <a:solidFill>
                  <a:srgbClr val="1A1A1A"/>
                </a:solidFill>
                <a:latin typeface="Calibri"/>
              </a:rPr>
              <a:t>60" min length each end</a:t>
            </a:r>
          </a:p>
        </p:txBody>
      </p:sp>
      <p:sp>
        <p:nvSpPr>
          <p:cNvPr id="29" name="Rectangle 28"/>
          <p:cNvSpPr/>
          <p:nvPr/>
        </p:nvSpPr>
        <p:spPr>
          <a:xfrm>
            <a:off x="502920" y="5166360"/>
            <a:ext cx="3657600" cy="1143000"/>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257800"/>
            <a:ext cx="3291840" cy="274320"/>
          </a:xfrm>
          <a:prstGeom prst="rect">
            <a:avLst/>
          </a:prstGeom>
          <a:noFill/>
        </p:spPr>
        <p:txBody>
          <a:bodyPr wrap="square" lIns="45720" rIns="45720" tIns="18288" bIns="18288" anchor="t">
            <a:spAutoFit/>
          </a:bodyPr>
          <a:lstStyle/>
          <a:p>
            <a:pPr algn="l"/>
            <a:r>
              <a:rPr sz="1100" b="1" i="0">
                <a:solidFill>
                  <a:srgbClr val="1A2744"/>
                </a:solidFill>
                <a:latin typeface="Consolas"/>
              </a:rPr>
              <a:t>2010 ADA 406.1</a:t>
            </a:r>
          </a:p>
        </p:txBody>
      </p:sp>
      <p:sp>
        <p:nvSpPr>
          <p:cNvPr id="31" name="TextBox 30"/>
          <p:cNvSpPr txBox="1"/>
          <p:nvPr/>
        </p:nvSpPr>
        <p:spPr>
          <a:xfrm>
            <a:off x="685800" y="5532120"/>
            <a:ext cx="3291840" cy="365760"/>
          </a:xfrm>
          <a:prstGeom prst="rect">
            <a:avLst/>
          </a:prstGeom>
          <a:noFill/>
        </p:spPr>
        <p:txBody>
          <a:bodyPr wrap="square" lIns="45720" rIns="45720" tIns="18288" bIns="18288" anchor="t">
            <a:spAutoFit/>
          </a:bodyPr>
          <a:lstStyle/>
          <a:p>
            <a:pPr algn="l"/>
            <a:r>
              <a:rPr sz="1300" b="1" i="0">
                <a:solidFill>
                  <a:srgbClr val="1A1A1A"/>
                </a:solidFill>
                <a:latin typeface="Calibri"/>
              </a:rPr>
              <a:t>Curb ramp slope</a:t>
            </a:r>
          </a:p>
        </p:txBody>
      </p:sp>
      <p:sp>
        <p:nvSpPr>
          <p:cNvPr id="32" name="TextBox 31"/>
          <p:cNvSpPr txBox="1"/>
          <p:nvPr/>
        </p:nvSpPr>
        <p:spPr>
          <a:xfrm>
            <a:off x="685800" y="5897880"/>
            <a:ext cx="3291840" cy="365760"/>
          </a:xfrm>
          <a:prstGeom prst="rect">
            <a:avLst/>
          </a:prstGeom>
          <a:noFill/>
        </p:spPr>
        <p:txBody>
          <a:bodyPr wrap="square" lIns="45720" rIns="45720" tIns="18288" bIns="18288" anchor="t">
            <a:spAutoFit/>
          </a:bodyPr>
          <a:lstStyle/>
          <a:p>
            <a:pPr algn="l"/>
            <a:r>
              <a:rPr sz="1200" b="0" i="0">
                <a:solidFill>
                  <a:srgbClr val="1A1A1A"/>
                </a:solidFill>
                <a:latin typeface="Calibri"/>
              </a:rPr>
              <a:t>Max 1:12 running, 2% cross</a:t>
            </a:r>
          </a:p>
        </p:txBody>
      </p:sp>
      <p:sp>
        <p:nvSpPr>
          <p:cNvPr id="33" name="Rectangle 32"/>
          <p:cNvSpPr/>
          <p:nvPr/>
        </p:nvSpPr>
        <p:spPr>
          <a:xfrm>
            <a:off x="4343400" y="5166360"/>
            <a:ext cx="3657600" cy="1143000"/>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26280" y="5257800"/>
            <a:ext cx="3291840" cy="274320"/>
          </a:xfrm>
          <a:prstGeom prst="rect">
            <a:avLst/>
          </a:prstGeom>
          <a:noFill/>
        </p:spPr>
        <p:txBody>
          <a:bodyPr wrap="square" lIns="45720" rIns="45720" tIns="18288" bIns="18288" anchor="t">
            <a:spAutoFit/>
          </a:bodyPr>
          <a:lstStyle/>
          <a:p>
            <a:pPr algn="l"/>
            <a:r>
              <a:rPr sz="1100" b="1" i="0">
                <a:solidFill>
                  <a:srgbClr val="1A2744"/>
                </a:solidFill>
                <a:latin typeface="Consolas"/>
              </a:rPr>
              <a:t>2010 ADA 505.4 / .10</a:t>
            </a:r>
          </a:p>
        </p:txBody>
      </p:sp>
      <p:sp>
        <p:nvSpPr>
          <p:cNvPr id="35" name="TextBox 34"/>
          <p:cNvSpPr txBox="1"/>
          <p:nvPr/>
        </p:nvSpPr>
        <p:spPr>
          <a:xfrm>
            <a:off x="4526280" y="5532120"/>
            <a:ext cx="3291840" cy="365760"/>
          </a:xfrm>
          <a:prstGeom prst="rect">
            <a:avLst/>
          </a:prstGeom>
          <a:noFill/>
        </p:spPr>
        <p:txBody>
          <a:bodyPr wrap="square" lIns="45720" rIns="45720" tIns="18288" bIns="18288" anchor="t">
            <a:spAutoFit/>
          </a:bodyPr>
          <a:lstStyle/>
          <a:p>
            <a:pPr algn="l"/>
            <a:r>
              <a:rPr sz="1300" b="1" i="0">
                <a:solidFill>
                  <a:srgbClr val="1A1A1A"/>
                </a:solidFill>
                <a:latin typeface="Calibri"/>
              </a:rPr>
              <a:t>Handrails</a:t>
            </a:r>
          </a:p>
        </p:txBody>
      </p:sp>
      <p:sp>
        <p:nvSpPr>
          <p:cNvPr id="36" name="TextBox 35"/>
          <p:cNvSpPr txBox="1"/>
          <p:nvPr/>
        </p:nvSpPr>
        <p:spPr>
          <a:xfrm>
            <a:off x="4526280" y="5897880"/>
            <a:ext cx="3291840" cy="365760"/>
          </a:xfrm>
          <a:prstGeom prst="rect">
            <a:avLst/>
          </a:prstGeom>
          <a:noFill/>
        </p:spPr>
        <p:txBody>
          <a:bodyPr wrap="square" lIns="45720" rIns="45720" tIns="18288" bIns="18288" anchor="t">
            <a:spAutoFit/>
          </a:bodyPr>
          <a:lstStyle/>
          <a:p>
            <a:pPr algn="l"/>
            <a:r>
              <a:rPr sz="1200" b="0" i="0">
                <a:solidFill>
                  <a:srgbClr val="1A1A1A"/>
                </a:solidFill>
                <a:latin typeface="Calibri"/>
              </a:rPr>
              <a:t>34"–38", 12" extensions</a:t>
            </a:r>
          </a:p>
        </p:txBody>
      </p:sp>
      <p:sp>
        <p:nvSpPr>
          <p:cNvPr id="37" name="Rectangle 36"/>
          <p:cNvSpPr/>
          <p:nvPr/>
        </p:nvSpPr>
        <p:spPr>
          <a:xfrm>
            <a:off x="8183880" y="5166360"/>
            <a:ext cx="3657600" cy="1143000"/>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66760" y="5257800"/>
            <a:ext cx="3291840" cy="274320"/>
          </a:xfrm>
          <a:prstGeom prst="rect">
            <a:avLst/>
          </a:prstGeom>
          <a:noFill/>
        </p:spPr>
        <p:txBody>
          <a:bodyPr wrap="square" lIns="45720" rIns="45720" tIns="18288" bIns="18288" anchor="t">
            <a:spAutoFit/>
          </a:bodyPr>
          <a:lstStyle/>
          <a:p>
            <a:pPr algn="l"/>
            <a:r>
              <a:rPr sz="1100" b="1" i="0">
                <a:solidFill>
                  <a:srgbClr val="1A2744"/>
                </a:solidFill>
                <a:latin typeface="Consolas"/>
              </a:rPr>
              <a:t>2010 ADA 405.9</a:t>
            </a:r>
          </a:p>
        </p:txBody>
      </p:sp>
      <p:sp>
        <p:nvSpPr>
          <p:cNvPr id="39" name="TextBox 38"/>
          <p:cNvSpPr txBox="1"/>
          <p:nvPr/>
        </p:nvSpPr>
        <p:spPr>
          <a:xfrm>
            <a:off x="8366760" y="5532120"/>
            <a:ext cx="3291840" cy="365760"/>
          </a:xfrm>
          <a:prstGeom prst="rect">
            <a:avLst/>
          </a:prstGeom>
          <a:noFill/>
        </p:spPr>
        <p:txBody>
          <a:bodyPr wrap="square" lIns="45720" rIns="45720" tIns="18288" bIns="18288" anchor="t">
            <a:spAutoFit/>
          </a:bodyPr>
          <a:lstStyle/>
          <a:p>
            <a:pPr algn="l"/>
            <a:r>
              <a:rPr sz="1300" b="1" i="0">
                <a:solidFill>
                  <a:srgbClr val="1A1A1A"/>
                </a:solidFill>
                <a:latin typeface="Calibri"/>
              </a:rPr>
              <a:t>Edge protection</a:t>
            </a:r>
          </a:p>
        </p:txBody>
      </p:sp>
      <p:sp>
        <p:nvSpPr>
          <p:cNvPr id="40" name="TextBox 39"/>
          <p:cNvSpPr txBox="1"/>
          <p:nvPr/>
        </p:nvSpPr>
        <p:spPr>
          <a:xfrm>
            <a:off x="8366760" y="5897880"/>
            <a:ext cx="3291840" cy="365760"/>
          </a:xfrm>
          <a:prstGeom prst="rect">
            <a:avLst/>
          </a:prstGeom>
          <a:noFill/>
        </p:spPr>
        <p:txBody>
          <a:bodyPr wrap="square" lIns="45720" rIns="45720" tIns="18288" bIns="18288" anchor="t">
            <a:spAutoFit/>
          </a:bodyPr>
          <a:lstStyle/>
          <a:p>
            <a:pPr algn="l"/>
            <a:r>
              <a:rPr sz="1200" b="0" i="0">
                <a:solidFill>
                  <a:srgbClr val="1A1A1A"/>
                </a:solidFill>
                <a:latin typeface="Calibri"/>
              </a:rPr>
              <a:t>4" min curb / wall</a:t>
            </a:r>
          </a:p>
        </p:txBody>
      </p:sp>
      <p:sp>
        <p:nvSpPr>
          <p:cNvPr id="41" name="TextBox 40"/>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42" name="TextBox 41"/>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34 / 63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35 · 2010 ADA</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2010 ADA — signage and the ISA</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5943600" cy="365760"/>
          </a:xfrm>
          <a:prstGeom prst="rect">
            <a:avLst/>
          </a:prstGeom>
          <a:noFill/>
        </p:spPr>
        <p:txBody>
          <a:bodyPr wrap="square" lIns="45720" rIns="45720" tIns="18288" bIns="18288" anchor="t">
            <a:spAutoFit/>
          </a:bodyPr>
          <a:lstStyle/>
          <a:p>
            <a:pPr algn="l"/>
            <a:r>
              <a:rPr sz="1400" b="0" i="1">
                <a:solidFill>
                  <a:srgbClr val="6B6659"/>
                </a:solidFill>
                <a:latin typeface="Calibri"/>
              </a:rPr>
              <a:t>International Symbol of Accessibility (ISA) — required at the most-used elements.</a:t>
            </a:r>
          </a:p>
        </p:txBody>
      </p:sp>
      <p:sp>
        <p:nvSpPr>
          <p:cNvPr id="10" name="TextBox 9"/>
          <p:cNvSpPr txBox="1"/>
          <p:nvPr/>
        </p:nvSpPr>
        <p:spPr>
          <a:xfrm>
            <a:off x="502920" y="1874519"/>
            <a:ext cx="5943600" cy="4572000"/>
          </a:xfrm>
          <a:prstGeom prst="rect">
            <a:avLst/>
          </a:prstGeom>
          <a:noFill/>
        </p:spPr>
        <p:txBody>
          <a:bodyPr wrap="square" lIns="45720" rIns="45720">
            <a:spAutoFit/>
          </a:bodyPr>
          <a:lstStyle/>
          <a:p>
            <a:pPr algn="l">
              <a:spcAft>
                <a:spcPts val="600"/>
              </a:spcAft>
            </a:pPr>
            <a:r>
              <a:rPr sz="1200" b="1">
                <a:solidFill>
                  <a:srgbClr val="1A1A1A"/>
                </a:solidFill>
                <a:latin typeface="Calibri"/>
              </a:rPr>
              <a:t>•  Mounting height.</a:t>
            </a:r>
            <a:r>
              <a:rPr sz="1200">
                <a:solidFill>
                  <a:srgbClr val="1A1A1A"/>
                </a:solidFill>
                <a:latin typeface="Calibri"/>
              </a:rPr>
              <a:t>  48"–60" from finished floor to BASELINE of tactile characters. (2010 ADA 703.4.1)</a:t>
            </a:r>
          </a:p>
          <a:p>
            <a:pPr algn="l">
              <a:spcAft>
                <a:spcPts val="600"/>
              </a:spcAft>
            </a:pPr>
            <a:r>
              <a:rPr sz="1200" b="1">
                <a:solidFill>
                  <a:srgbClr val="1A1A1A"/>
                </a:solidFill>
                <a:latin typeface="Calibri"/>
              </a:rPr>
              <a:t>•  Location.</a:t>
            </a:r>
            <a:r>
              <a:rPr sz="1200">
                <a:solidFill>
                  <a:srgbClr val="1A1A1A"/>
                </a:solidFill>
                <a:latin typeface="Calibri"/>
              </a:rPr>
              <a:t>  Latch side of door, 18" centered (max) from door frame. Single-leaf doors only. (2010 ADA 703.4.2)</a:t>
            </a:r>
          </a:p>
          <a:p>
            <a:pPr algn="l">
              <a:spcAft>
                <a:spcPts val="600"/>
              </a:spcAft>
            </a:pPr>
            <a:r>
              <a:rPr sz="1200" b="1">
                <a:solidFill>
                  <a:srgbClr val="1A1A1A"/>
                </a:solidFill>
                <a:latin typeface="Calibri"/>
              </a:rPr>
              <a:t>•  Tactile characters.</a:t>
            </a:r>
            <a:r>
              <a:rPr sz="1200">
                <a:solidFill>
                  <a:srgbClr val="1A1A1A"/>
                </a:solidFill>
                <a:latin typeface="Calibri"/>
              </a:rPr>
              <a:t>  Raised 1/32" min; sans-serif uppercase. Grade 2 Braille required adjacent. (2010 ADA 703.2 / 703.3)</a:t>
            </a:r>
          </a:p>
          <a:p>
            <a:pPr algn="l">
              <a:spcAft>
                <a:spcPts val="600"/>
              </a:spcAft>
            </a:pPr>
            <a:r>
              <a:rPr sz="1200" b="1">
                <a:solidFill>
                  <a:srgbClr val="1A1A1A"/>
                </a:solidFill>
                <a:latin typeface="Calibri"/>
              </a:rPr>
              <a:t>•  ISA appearance.</a:t>
            </a:r>
            <a:r>
              <a:rPr sz="1200">
                <a:solidFill>
                  <a:srgbClr val="1A1A1A"/>
                </a:solidFill>
                <a:latin typeface="Calibri"/>
              </a:rPr>
              <a:t>  White on blue, or contrasting colors. 6" minimum size at room entries. (2010 ADA 703.7.2.1)</a:t>
            </a:r>
          </a:p>
          <a:p>
            <a:pPr algn="l">
              <a:spcAft>
                <a:spcPts val="600"/>
              </a:spcAft>
            </a:pPr>
            <a:r>
              <a:rPr sz="1200" b="1">
                <a:solidFill>
                  <a:srgbClr val="1A1A1A"/>
                </a:solidFill>
                <a:latin typeface="Calibri"/>
              </a:rPr>
              <a:t>•  Required at:</a:t>
            </a:r>
            <a:r>
              <a:rPr sz="1200">
                <a:solidFill>
                  <a:srgbClr val="1A1A1A"/>
                </a:solidFill>
                <a:latin typeface="Calibri"/>
              </a:rPr>
              <a:t>  Accessible parking, accessible entrances, accessible restrooms, accessible routes when not obvious.</a:t>
            </a:r>
          </a:p>
          <a:p>
            <a:pPr algn="l">
              <a:spcAft>
                <a:spcPts val="600"/>
              </a:spcAft>
            </a:pPr>
            <a:r>
              <a:rPr sz="1200" b="1">
                <a:solidFill>
                  <a:srgbClr val="1A1A1A"/>
                </a:solidFill>
                <a:latin typeface="Calibri"/>
              </a:rPr>
              <a:t>•  Directional signs.</a:t>
            </a:r>
            <a:r>
              <a:rPr sz="1200">
                <a:solidFill>
                  <a:srgbClr val="1A1A1A"/>
                </a:solidFill>
                <a:latin typeface="Calibri"/>
              </a:rPr>
              <a:t>  Where accessible route differs from main route — direct users to accessible alternative. (2010 ADA 216.3 / 216.6)</a:t>
            </a:r>
          </a:p>
        </p:txBody>
      </p:sp>
      <p:sp>
        <p:nvSpPr>
          <p:cNvPr id="11" name="Rectangle 10"/>
          <p:cNvSpPr/>
          <p:nvPr/>
        </p:nvSpPr>
        <p:spPr>
          <a:xfrm>
            <a:off x="6858000" y="1874519"/>
            <a:ext cx="4937760" cy="4526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965960"/>
            <a:ext cx="4937760" cy="365760"/>
          </a:xfrm>
          <a:prstGeom prst="rect">
            <a:avLst/>
          </a:prstGeom>
          <a:noFill/>
        </p:spPr>
        <p:txBody>
          <a:bodyPr wrap="square" lIns="45720" rIns="45720" tIns="18288" bIns="18288" anchor="t">
            <a:spAutoFit/>
          </a:bodyPr>
          <a:lstStyle/>
          <a:p>
            <a:pPr algn="ctr"/>
            <a:r>
              <a:rPr sz="1200" b="1" i="0">
                <a:solidFill>
                  <a:srgbClr val="1A2744"/>
                </a:solidFill>
                <a:latin typeface="Calibri"/>
              </a:rPr>
              <a:t>Sample ISA placement</a:t>
            </a:r>
          </a:p>
        </p:txBody>
      </p:sp>
      <p:sp>
        <p:nvSpPr>
          <p:cNvPr id="13" name="Rectangle 12"/>
          <p:cNvSpPr/>
          <p:nvPr/>
        </p:nvSpPr>
        <p:spPr>
          <a:xfrm>
            <a:off x="7680960" y="2514600"/>
            <a:ext cx="2194560" cy="3474720"/>
          </a:xfrm>
          <a:prstGeom prst="rect">
            <a:avLst/>
          </a:prstGeom>
          <a:solidFill>
            <a:srgbClr val="FFFFFF"/>
          </a:solidFill>
          <a:ln w="9525">
            <a:solidFill>
              <a:srgbClr val="1A27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2514600"/>
            <a:ext cx="2194560" cy="274320"/>
          </a:xfrm>
          <a:prstGeom prst="rect">
            <a:avLst/>
          </a:prstGeom>
          <a:noFill/>
        </p:spPr>
        <p:txBody>
          <a:bodyPr wrap="square" lIns="45720" rIns="45720" tIns="18288" bIns="18288" anchor="t">
            <a:spAutoFit/>
          </a:bodyPr>
          <a:lstStyle/>
          <a:p>
            <a:pPr algn="ctr"/>
            <a:r>
              <a:rPr sz="1000" b="0" i="0">
                <a:solidFill>
                  <a:srgbClr val="1A2744"/>
                </a:solidFill>
                <a:latin typeface="Consolas"/>
              </a:rPr>
              <a:t>DOOR</a:t>
            </a:r>
          </a:p>
        </p:txBody>
      </p:sp>
      <p:sp>
        <p:nvSpPr>
          <p:cNvPr id="15" name="Rectangle 14"/>
          <p:cNvSpPr/>
          <p:nvPr/>
        </p:nvSpPr>
        <p:spPr>
          <a:xfrm>
            <a:off x="10058400" y="3703320"/>
            <a:ext cx="914400" cy="914400"/>
          </a:xfrm>
          <a:prstGeom prst="rect">
            <a:avLst/>
          </a:prstGeom>
          <a:solidFill>
            <a:srgbClr val="C8A84B"/>
          </a:solidFill>
          <a:ln w="9525">
            <a:solidFill>
              <a:srgbClr val="1A27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0" y="3703320"/>
            <a:ext cx="914400" cy="914400"/>
          </a:xfrm>
          <a:prstGeom prst="rect">
            <a:avLst/>
          </a:prstGeom>
          <a:noFill/>
        </p:spPr>
        <p:txBody>
          <a:bodyPr wrap="square" lIns="45720" rIns="45720" tIns="18288" bIns="18288" anchor="ctr">
            <a:spAutoFit/>
          </a:bodyPr>
          <a:lstStyle/>
          <a:p>
            <a:pPr algn="ctr"/>
            <a:r>
              <a:rPr sz="1400" b="1" i="0">
                <a:solidFill>
                  <a:srgbClr val="1A2744"/>
                </a:solidFill>
                <a:latin typeface="Calibri"/>
              </a:rPr>
              <a:t>ISA</a:t>
            </a:r>
          </a:p>
        </p:txBody>
      </p:sp>
      <p:sp>
        <p:nvSpPr>
          <p:cNvPr id="17" name="Rectangle 16"/>
          <p:cNvSpPr/>
          <p:nvPr/>
        </p:nvSpPr>
        <p:spPr>
          <a:xfrm>
            <a:off x="11247120" y="4160520"/>
            <a:ext cx="18288" cy="1828800"/>
          </a:xfrm>
          <a:prstGeom prst="rect">
            <a:avLst/>
          </a:prstGeom>
          <a:solidFill>
            <a:srgbClr val="6B66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27080" y="4114800"/>
            <a:ext cx="548640" cy="274320"/>
          </a:xfrm>
          <a:prstGeom prst="rect">
            <a:avLst/>
          </a:prstGeom>
          <a:noFill/>
        </p:spPr>
        <p:txBody>
          <a:bodyPr wrap="square" lIns="45720" rIns="45720" tIns="18288" bIns="18288" anchor="t">
            <a:spAutoFit/>
          </a:bodyPr>
          <a:lstStyle/>
          <a:p>
            <a:pPr algn="l"/>
            <a:r>
              <a:rPr sz="1000" b="0" i="0">
                <a:solidFill>
                  <a:srgbClr val="1A2744"/>
                </a:solidFill>
                <a:latin typeface="Consolas"/>
              </a:rPr>
              <a:t>60"</a:t>
            </a:r>
          </a:p>
        </p:txBody>
      </p:sp>
      <p:sp>
        <p:nvSpPr>
          <p:cNvPr id="19" name="TextBox 18"/>
          <p:cNvSpPr txBox="1"/>
          <p:nvPr/>
        </p:nvSpPr>
        <p:spPr>
          <a:xfrm>
            <a:off x="10927080" y="5760720"/>
            <a:ext cx="548640" cy="274320"/>
          </a:xfrm>
          <a:prstGeom prst="rect">
            <a:avLst/>
          </a:prstGeom>
          <a:noFill/>
        </p:spPr>
        <p:txBody>
          <a:bodyPr wrap="square" lIns="45720" rIns="45720" tIns="18288" bIns="18288" anchor="t">
            <a:spAutoFit/>
          </a:bodyPr>
          <a:lstStyle/>
          <a:p>
            <a:pPr algn="l"/>
            <a:r>
              <a:rPr sz="1000" b="0" i="0">
                <a:solidFill>
                  <a:srgbClr val="1A2744"/>
                </a:solidFill>
                <a:latin typeface="Consolas"/>
              </a:rPr>
              <a:t>48"</a:t>
            </a:r>
          </a:p>
        </p:txBody>
      </p:sp>
      <p:sp>
        <p:nvSpPr>
          <p:cNvPr id="20" name="TextBox 19"/>
          <p:cNvSpPr txBox="1"/>
          <p:nvPr/>
        </p:nvSpPr>
        <p:spPr>
          <a:xfrm>
            <a:off x="10927080" y="6035040"/>
            <a:ext cx="914400" cy="274320"/>
          </a:xfrm>
          <a:prstGeom prst="rect">
            <a:avLst/>
          </a:prstGeom>
          <a:noFill/>
        </p:spPr>
        <p:txBody>
          <a:bodyPr wrap="square" lIns="45720" rIns="45720" tIns="18288" bIns="18288" anchor="t">
            <a:spAutoFit/>
          </a:bodyPr>
          <a:lstStyle/>
          <a:p>
            <a:pPr algn="l"/>
            <a:r>
              <a:rPr sz="800" b="0" i="0">
                <a:solidFill>
                  <a:srgbClr val="6B6659"/>
                </a:solidFill>
                <a:latin typeface="Consolas"/>
              </a:rPr>
              <a:t>FLOOR</a:t>
            </a:r>
          </a:p>
        </p:txBody>
      </p:sp>
      <p:sp>
        <p:nvSpPr>
          <p:cNvPr id="21" name="TextBox 20"/>
          <p:cNvSpPr txBox="1"/>
          <p:nvPr/>
        </p:nvSpPr>
        <p:spPr>
          <a:xfrm>
            <a:off x="6858000" y="6035040"/>
            <a:ext cx="4937760" cy="365760"/>
          </a:xfrm>
          <a:prstGeom prst="rect">
            <a:avLst/>
          </a:prstGeom>
          <a:noFill/>
        </p:spPr>
        <p:txBody>
          <a:bodyPr wrap="square" lIns="45720" rIns="45720" tIns="18288" bIns="18288" anchor="t">
            <a:spAutoFit/>
          </a:bodyPr>
          <a:lstStyle/>
          <a:p>
            <a:pPr algn="ctr"/>
            <a:r>
              <a:rPr sz="1000" b="0" i="1">
                <a:solidFill>
                  <a:srgbClr val="6B6659"/>
                </a:solidFill>
                <a:latin typeface="Consolas"/>
              </a:rPr>
              <a:t>Latch side · 18" max to frame · centered between 48"–60"</a:t>
            </a:r>
          </a:p>
        </p:txBody>
      </p:sp>
      <p:sp>
        <p:nvSpPr>
          <p:cNvPr id="22" name="TextBox 21"/>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23" name="TextBox 22"/>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35 / 63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36 · 2010 ADA</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2010 ADA — restroom essentials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54864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17320"/>
            <a:ext cx="5486400" cy="4572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5486400" cy="457200"/>
          </a:xfrm>
          <a:prstGeom prst="rect">
            <a:avLst/>
          </a:prstGeom>
          <a:noFill/>
        </p:spPr>
        <p:txBody>
          <a:bodyPr wrap="square" lIns="45720" rIns="45720" tIns="18288" bIns="18288" anchor="ctr">
            <a:spAutoFit/>
          </a:bodyPr>
          <a:lstStyle/>
          <a:p>
            <a:pPr algn="ctr"/>
            <a:r>
              <a:rPr sz="1100" b="1" i="0">
                <a:solidFill>
                  <a:srgbClr val="C8A84B"/>
                </a:solidFill>
                <a:latin typeface="Consolas"/>
              </a:rPr>
              <a:t>WATER CLOSET &amp; STALL</a:t>
            </a:r>
          </a:p>
        </p:txBody>
      </p:sp>
      <p:sp>
        <p:nvSpPr>
          <p:cNvPr id="12" name="TextBox 11"/>
          <p:cNvSpPr txBox="1"/>
          <p:nvPr/>
        </p:nvSpPr>
        <p:spPr>
          <a:xfrm>
            <a:off x="685800" y="1965960"/>
            <a:ext cx="5212080" cy="4389120"/>
          </a:xfrm>
          <a:prstGeom prst="rect">
            <a:avLst/>
          </a:prstGeom>
          <a:noFill/>
        </p:spPr>
        <p:txBody>
          <a:bodyPr wrap="square" lIns="45720" rIns="45720">
            <a:spAutoFit/>
          </a:bodyPr>
          <a:lstStyle/>
          <a:p>
            <a:pPr algn="l">
              <a:spcAft>
                <a:spcPts val="400"/>
              </a:spcAft>
            </a:pPr>
            <a:r>
              <a:rPr sz="1100" b="1">
                <a:solidFill>
                  <a:srgbClr val="1A1A1A"/>
                </a:solidFill>
                <a:latin typeface="Calibri"/>
              </a:rPr>
              <a:t>•  Stall width (accessible)</a:t>
            </a:r>
            <a:r>
              <a:rPr sz="1100">
                <a:solidFill>
                  <a:srgbClr val="1A1A1A"/>
                </a:solidFill>
                <a:latin typeface="Calibri"/>
              </a:rPr>
              <a:t>  60" minimum  ·  604.8.1.1</a:t>
            </a:r>
          </a:p>
          <a:p>
            <a:pPr algn="l">
              <a:spcAft>
                <a:spcPts val="400"/>
              </a:spcAft>
            </a:pPr>
            <a:r>
              <a:rPr sz="1100" b="1">
                <a:solidFill>
                  <a:srgbClr val="1A1A1A"/>
                </a:solidFill>
                <a:latin typeface="Calibri"/>
              </a:rPr>
              <a:t>•  Stall depth</a:t>
            </a:r>
            <a:r>
              <a:rPr sz="1100">
                <a:solidFill>
                  <a:srgbClr val="1A1A1A"/>
                </a:solidFill>
                <a:latin typeface="Calibri"/>
              </a:rPr>
              <a:t>  56" wall-mount / 59" floor-mount min  ·  604.8.1.1</a:t>
            </a:r>
          </a:p>
          <a:p>
            <a:pPr algn="l">
              <a:spcAft>
                <a:spcPts val="400"/>
              </a:spcAft>
            </a:pPr>
            <a:r>
              <a:rPr sz="1100" b="1">
                <a:solidFill>
                  <a:srgbClr val="1A1A1A"/>
                </a:solidFill>
                <a:latin typeface="Calibri"/>
              </a:rPr>
              <a:t>•  Toilet seat height</a:t>
            </a:r>
            <a:r>
              <a:rPr sz="1100">
                <a:solidFill>
                  <a:srgbClr val="1A1A1A"/>
                </a:solidFill>
                <a:latin typeface="Calibri"/>
              </a:rPr>
              <a:t>  17"–19" above floor  ·  604.4</a:t>
            </a:r>
          </a:p>
          <a:p>
            <a:pPr algn="l">
              <a:spcAft>
                <a:spcPts val="400"/>
              </a:spcAft>
            </a:pPr>
            <a:r>
              <a:rPr sz="1100" b="1">
                <a:solidFill>
                  <a:srgbClr val="1A1A1A"/>
                </a:solidFill>
                <a:latin typeface="Calibri"/>
              </a:rPr>
              <a:t>•  Centerline of WC</a:t>
            </a:r>
            <a:r>
              <a:rPr sz="1100">
                <a:solidFill>
                  <a:srgbClr val="1A1A1A"/>
                </a:solidFill>
                <a:latin typeface="Calibri"/>
              </a:rPr>
              <a:t>  16"–18" from sidewall  ·  604.2</a:t>
            </a:r>
          </a:p>
          <a:p>
            <a:pPr algn="l">
              <a:spcAft>
                <a:spcPts val="400"/>
              </a:spcAft>
            </a:pPr>
            <a:r>
              <a:rPr sz="1100" b="1">
                <a:solidFill>
                  <a:srgbClr val="1A1A1A"/>
                </a:solidFill>
                <a:latin typeface="Calibri"/>
              </a:rPr>
              <a:t>•  Side grab bar</a:t>
            </a:r>
            <a:r>
              <a:rPr sz="1100">
                <a:solidFill>
                  <a:srgbClr val="1A1A1A"/>
                </a:solidFill>
                <a:latin typeface="Calibri"/>
              </a:rPr>
              <a:t>  42" min, 12" from rear wall  ·  604.5.1</a:t>
            </a:r>
          </a:p>
          <a:p>
            <a:pPr algn="l">
              <a:spcAft>
                <a:spcPts val="400"/>
              </a:spcAft>
            </a:pPr>
            <a:r>
              <a:rPr sz="1100" b="1">
                <a:solidFill>
                  <a:srgbClr val="1A1A1A"/>
                </a:solidFill>
                <a:latin typeface="Calibri"/>
              </a:rPr>
              <a:t>•  Rear grab bar</a:t>
            </a:r>
            <a:r>
              <a:rPr sz="1100">
                <a:solidFill>
                  <a:srgbClr val="1A1A1A"/>
                </a:solidFill>
                <a:latin typeface="Calibri"/>
              </a:rPr>
              <a:t>  36" min  ·  604.5.2</a:t>
            </a:r>
          </a:p>
          <a:p>
            <a:pPr algn="l">
              <a:spcAft>
                <a:spcPts val="400"/>
              </a:spcAft>
            </a:pPr>
            <a:r>
              <a:rPr sz="1100" b="1">
                <a:solidFill>
                  <a:srgbClr val="1A1A1A"/>
                </a:solidFill>
                <a:latin typeface="Calibri"/>
              </a:rPr>
              <a:t>•  Grab bar height</a:t>
            </a:r>
            <a:r>
              <a:rPr sz="1100">
                <a:solidFill>
                  <a:srgbClr val="1A1A1A"/>
                </a:solidFill>
                <a:latin typeface="Calibri"/>
              </a:rPr>
              <a:t>  33"–36" above floor  ·  609.4</a:t>
            </a:r>
          </a:p>
          <a:p>
            <a:pPr algn="l">
              <a:spcAft>
                <a:spcPts val="400"/>
              </a:spcAft>
            </a:pPr>
            <a:r>
              <a:rPr sz="1100" b="1">
                <a:solidFill>
                  <a:srgbClr val="1A1A1A"/>
                </a:solidFill>
                <a:latin typeface="Calibri"/>
              </a:rPr>
              <a:t>•  Flush controls</a:t>
            </a:r>
            <a:r>
              <a:rPr sz="1100">
                <a:solidFill>
                  <a:srgbClr val="1A1A1A"/>
                </a:solidFill>
                <a:latin typeface="Calibri"/>
              </a:rPr>
              <a:t>  Open side of WC  ·  604.6</a:t>
            </a:r>
          </a:p>
          <a:p>
            <a:pPr algn="l">
              <a:spcAft>
                <a:spcPts val="400"/>
              </a:spcAft>
            </a:pPr>
            <a:r>
              <a:rPr sz="1100" b="1">
                <a:solidFill>
                  <a:srgbClr val="1A1A1A"/>
                </a:solidFill>
                <a:latin typeface="Calibri"/>
              </a:rPr>
              <a:t>•  TP dispenser</a:t>
            </a:r>
            <a:r>
              <a:rPr sz="1100">
                <a:solidFill>
                  <a:srgbClr val="1A1A1A"/>
                </a:solidFill>
                <a:latin typeface="Calibri"/>
              </a:rPr>
              <a:t>  15"–48" above floor; 7"–9" in front of WC  ·  604.7</a:t>
            </a:r>
          </a:p>
        </p:txBody>
      </p:sp>
      <p:sp>
        <p:nvSpPr>
          <p:cNvPr id="13" name="Rectangle 12"/>
          <p:cNvSpPr/>
          <p:nvPr/>
        </p:nvSpPr>
        <p:spPr>
          <a:xfrm>
            <a:off x="6263640" y="1417320"/>
            <a:ext cx="54864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417320"/>
            <a:ext cx="5486400" cy="4572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417320"/>
            <a:ext cx="5486400" cy="457200"/>
          </a:xfrm>
          <a:prstGeom prst="rect">
            <a:avLst/>
          </a:prstGeom>
          <a:noFill/>
        </p:spPr>
        <p:txBody>
          <a:bodyPr wrap="square" lIns="45720" rIns="45720" tIns="18288" bIns="18288" anchor="ctr">
            <a:spAutoFit/>
          </a:bodyPr>
          <a:lstStyle/>
          <a:p>
            <a:pPr algn="ctr"/>
            <a:r>
              <a:rPr sz="1100" b="1" i="0">
                <a:solidFill>
                  <a:srgbClr val="C8A84B"/>
                </a:solidFill>
                <a:latin typeface="Consolas"/>
              </a:rPr>
              <a:t>LAV, MIRROR, ACCESSORIES</a:t>
            </a:r>
          </a:p>
        </p:txBody>
      </p:sp>
      <p:sp>
        <p:nvSpPr>
          <p:cNvPr id="16" name="TextBox 15"/>
          <p:cNvSpPr txBox="1"/>
          <p:nvPr/>
        </p:nvSpPr>
        <p:spPr>
          <a:xfrm>
            <a:off x="6446520" y="1965960"/>
            <a:ext cx="5212080" cy="4389120"/>
          </a:xfrm>
          <a:prstGeom prst="rect">
            <a:avLst/>
          </a:prstGeom>
          <a:noFill/>
        </p:spPr>
        <p:txBody>
          <a:bodyPr wrap="square" lIns="45720" rIns="45720">
            <a:spAutoFit/>
          </a:bodyPr>
          <a:lstStyle/>
          <a:p>
            <a:pPr algn="l">
              <a:spcAft>
                <a:spcPts val="400"/>
              </a:spcAft>
            </a:pPr>
            <a:r>
              <a:rPr sz="1100" b="1">
                <a:solidFill>
                  <a:srgbClr val="1A1A1A"/>
                </a:solidFill>
                <a:latin typeface="Calibri"/>
              </a:rPr>
              <a:t>•  Lavatory rim height</a:t>
            </a:r>
            <a:r>
              <a:rPr sz="1100">
                <a:solidFill>
                  <a:srgbClr val="1A1A1A"/>
                </a:solidFill>
                <a:latin typeface="Calibri"/>
              </a:rPr>
              <a:t>  Max 34" above floor  ·  606.3</a:t>
            </a:r>
          </a:p>
          <a:p>
            <a:pPr algn="l">
              <a:spcAft>
                <a:spcPts val="400"/>
              </a:spcAft>
            </a:pPr>
            <a:r>
              <a:rPr sz="1100" b="1">
                <a:solidFill>
                  <a:srgbClr val="1A1A1A"/>
                </a:solidFill>
                <a:latin typeface="Calibri"/>
              </a:rPr>
              <a:t>•  Knee clearance under lav</a:t>
            </a:r>
            <a:r>
              <a:rPr sz="1100">
                <a:solidFill>
                  <a:srgbClr val="1A1A1A"/>
                </a:solidFill>
                <a:latin typeface="Calibri"/>
              </a:rPr>
              <a:t>  27"H × 30"W × 11"D min  ·  606.2 / 306</a:t>
            </a:r>
          </a:p>
          <a:p>
            <a:pPr algn="l">
              <a:spcAft>
                <a:spcPts val="400"/>
              </a:spcAft>
            </a:pPr>
            <a:r>
              <a:rPr sz="1100" b="1">
                <a:solidFill>
                  <a:srgbClr val="1A1A1A"/>
                </a:solidFill>
                <a:latin typeface="Calibri"/>
              </a:rPr>
              <a:t>•  Lav faucet controls</a:t>
            </a:r>
            <a:r>
              <a:rPr sz="1100">
                <a:solidFill>
                  <a:srgbClr val="1A1A1A"/>
                </a:solidFill>
                <a:latin typeface="Calibri"/>
              </a:rPr>
              <a:t>  Operable with closed fist; 5 lbf max  ·  309.4</a:t>
            </a:r>
          </a:p>
          <a:p>
            <a:pPr algn="l">
              <a:spcAft>
                <a:spcPts val="400"/>
              </a:spcAft>
            </a:pPr>
            <a:r>
              <a:rPr sz="1100" b="1">
                <a:solidFill>
                  <a:srgbClr val="1A1A1A"/>
                </a:solidFill>
                <a:latin typeface="Calibri"/>
              </a:rPr>
              <a:t>•  Hot water / drain pipes</a:t>
            </a:r>
            <a:r>
              <a:rPr sz="1100">
                <a:solidFill>
                  <a:srgbClr val="1A1A1A"/>
                </a:solidFill>
                <a:latin typeface="Calibri"/>
              </a:rPr>
              <a:t>  Insulated / configured to prevent contact  ·  606.5</a:t>
            </a:r>
          </a:p>
          <a:p>
            <a:pPr algn="l">
              <a:spcAft>
                <a:spcPts val="400"/>
              </a:spcAft>
            </a:pPr>
            <a:r>
              <a:rPr sz="1100" b="1">
                <a:solidFill>
                  <a:srgbClr val="1A1A1A"/>
                </a:solidFill>
                <a:latin typeface="Calibri"/>
              </a:rPr>
              <a:t>•  Mirror bottom edge</a:t>
            </a:r>
            <a:r>
              <a:rPr sz="1100">
                <a:solidFill>
                  <a:srgbClr val="1A1A1A"/>
                </a:solidFill>
                <a:latin typeface="Calibri"/>
              </a:rPr>
              <a:t>  Max 40" above floor  ·  603.3</a:t>
            </a:r>
          </a:p>
          <a:p>
            <a:pPr algn="l">
              <a:spcAft>
                <a:spcPts val="400"/>
              </a:spcAft>
            </a:pPr>
            <a:r>
              <a:rPr sz="1100" b="1">
                <a:solidFill>
                  <a:srgbClr val="1A1A1A"/>
                </a:solidFill>
                <a:latin typeface="Calibri"/>
              </a:rPr>
              <a:t>•  Coat hook</a:t>
            </a:r>
            <a:r>
              <a:rPr sz="1100">
                <a:solidFill>
                  <a:srgbClr val="1A1A1A"/>
                </a:solidFill>
                <a:latin typeface="Calibri"/>
              </a:rPr>
              <a:t>  Max 48" forward reach  ·  308.2.1 / 604.8.3</a:t>
            </a:r>
          </a:p>
          <a:p>
            <a:pPr algn="l">
              <a:spcAft>
                <a:spcPts val="400"/>
              </a:spcAft>
            </a:pPr>
            <a:r>
              <a:rPr sz="1100" b="1">
                <a:solidFill>
                  <a:srgbClr val="1A1A1A"/>
                </a:solidFill>
                <a:latin typeface="Calibri"/>
              </a:rPr>
              <a:t>•  Soap dispenser</a:t>
            </a:r>
            <a:r>
              <a:rPr sz="1100">
                <a:solidFill>
                  <a:srgbClr val="1A1A1A"/>
                </a:solidFill>
                <a:latin typeface="Calibri"/>
              </a:rPr>
              <a:t>  Reach within 48" max  ·  308</a:t>
            </a:r>
          </a:p>
          <a:p>
            <a:pPr algn="l">
              <a:spcAft>
                <a:spcPts val="400"/>
              </a:spcAft>
            </a:pPr>
            <a:r>
              <a:rPr sz="1100" b="1">
                <a:solidFill>
                  <a:srgbClr val="1A1A1A"/>
                </a:solidFill>
                <a:latin typeface="Calibri"/>
              </a:rPr>
              <a:t>•  Paper towel dispenser</a:t>
            </a:r>
            <a:r>
              <a:rPr sz="1100">
                <a:solidFill>
                  <a:srgbClr val="1A1A1A"/>
                </a:solidFill>
                <a:latin typeface="Calibri"/>
              </a:rPr>
              <a:t>  Operable parts within 48" max  ·  308</a:t>
            </a:r>
          </a:p>
          <a:p>
            <a:pPr algn="l">
              <a:spcAft>
                <a:spcPts val="400"/>
              </a:spcAft>
            </a:pPr>
            <a:r>
              <a:rPr sz="1100" b="1">
                <a:solidFill>
                  <a:srgbClr val="1A1A1A"/>
                </a:solidFill>
                <a:latin typeface="Calibri"/>
              </a:rPr>
              <a:t>•  Door swing into stall</a:t>
            </a:r>
            <a:r>
              <a:rPr sz="1100">
                <a:solidFill>
                  <a:srgbClr val="1A1A1A"/>
                </a:solidFill>
                <a:latin typeface="Calibri"/>
              </a:rPr>
              <a:t>  Permitted only if 60"×60" maneuvering space remains  ·  604.8.1.2</a:t>
            </a:r>
          </a:p>
        </p:txBody>
      </p:sp>
      <p:sp>
        <p:nvSpPr>
          <p:cNvPr id="17" name="TextBox 16"/>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8" name="TextBox 17"/>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36 / 63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37 · 2010 ADA</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2010 ADA — parking &amp; accessible routes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Parking lot scoping is the first thing a reviewer evaluates — it determines whether students arrive at the building at all.</a:t>
            </a:r>
          </a:p>
        </p:txBody>
      </p:sp>
      <p:sp>
        <p:nvSpPr>
          <p:cNvPr id="10" name="Rectangle 9"/>
          <p:cNvSpPr/>
          <p:nvPr/>
        </p:nvSpPr>
        <p:spPr>
          <a:xfrm>
            <a:off x="502920" y="1920240"/>
            <a:ext cx="370332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920240"/>
            <a:ext cx="370332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TOTAL SPACES IN LOT</a:t>
            </a:r>
          </a:p>
        </p:txBody>
      </p:sp>
      <p:sp>
        <p:nvSpPr>
          <p:cNvPr id="12" name="Rectangle 11"/>
          <p:cNvSpPr/>
          <p:nvPr/>
        </p:nvSpPr>
        <p:spPr>
          <a:xfrm>
            <a:off x="4206240" y="1920240"/>
            <a:ext cx="370332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1920240"/>
            <a:ext cx="370332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REQUIRED ACCESSIBLE</a:t>
            </a:r>
          </a:p>
        </p:txBody>
      </p:sp>
      <p:sp>
        <p:nvSpPr>
          <p:cNvPr id="14" name="Rectangle 13"/>
          <p:cNvSpPr/>
          <p:nvPr/>
        </p:nvSpPr>
        <p:spPr>
          <a:xfrm>
            <a:off x="7909560" y="1920240"/>
            <a:ext cx="384048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1920240"/>
            <a:ext cx="3840480" cy="365760"/>
          </a:xfrm>
          <a:prstGeom prst="rect">
            <a:avLst/>
          </a:prstGeom>
          <a:noFill/>
        </p:spPr>
        <p:txBody>
          <a:bodyPr wrap="square" lIns="45720" rIns="45720" tIns="18288" bIns="18288" anchor="ctr">
            <a:spAutoFit/>
          </a:bodyPr>
          <a:lstStyle/>
          <a:p>
            <a:pPr algn="ctr"/>
            <a:r>
              <a:rPr sz="1000" b="1" i="0">
                <a:solidFill>
                  <a:srgbClr val="C8A84B"/>
                </a:solidFill>
                <a:latin typeface="Consolas"/>
              </a:rPr>
              <a:t>REQUIRED VAN-ACCESSIBLE</a:t>
            </a:r>
          </a:p>
        </p:txBody>
      </p:sp>
      <p:sp>
        <p:nvSpPr>
          <p:cNvPr id="16" name="Rectangle 15"/>
          <p:cNvSpPr/>
          <p:nvPr/>
        </p:nvSpPr>
        <p:spPr>
          <a:xfrm>
            <a:off x="502920" y="2286000"/>
            <a:ext cx="370332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286000"/>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1 – 25</a:t>
            </a:r>
          </a:p>
        </p:txBody>
      </p:sp>
      <p:sp>
        <p:nvSpPr>
          <p:cNvPr id="18" name="Rectangle 17"/>
          <p:cNvSpPr/>
          <p:nvPr/>
        </p:nvSpPr>
        <p:spPr>
          <a:xfrm>
            <a:off x="4206240" y="2286000"/>
            <a:ext cx="370332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06240" y="2286000"/>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1</a:t>
            </a:r>
          </a:p>
        </p:txBody>
      </p:sp>
      <p:sp>
        <p:nvSpPr>
          <p:cNvPr id="20" name="Rectangle 19"/>
          <p:cNvSpPr/>
          <p:nvPr/>
        </p:nvSpPr>
        <p:spPr>
          <a:xfrm>
            <a:off x="7909560" y="2286000"/>
            <a:ext cx="384048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2286000"/>
            <a:ext cx="384048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1</a:t>
            </a:r>
          </a:p>
        </p:txBody>
      </p:sp>
      <p:sp>
        <p:nvSpPr>
          <p:cNvPr id="22" name="Rectangle 21"/>
          <p:cNvSpPr/>
          <p:nvPr/>
        </p:nvSpPr>
        <p:spPr>
          <a:xfrm>
            <a:off x="502920" y="2615184"/>
            <a:ext cx="3703320" cy="329184"/>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2615184"/>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26 – 50</a:t>
            </a:r>
          </a:p>
        </p:txBody>
      </p:sp>
      <p:sp>
        <p:nvSpPr>
          <p:cNvPr id="24" name="Rectangle 23"/>
          <p:cNvSpPr/>
          <p:nvPr/>
        </p:nvSpPr>
        <p:spPr>
          <a:xfrm>
            <a:off x="4206240" y="2615184"/>
            <a:ext cx="3703320" cy="329184"/>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06240" y="2615184"/>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2</a:t>
            </a:r>
          </a:p>
        </p:txBody>
      </p:sp>
      <p:sp>
        <p:nvSpPr>
          <p:cNvPr id="26" name="Rectangle 25"/>
          <p:cNvSpPr/>
          <p:nvPr/>
        </p:nvSpPr>
        <p:spPr>
          <a:xfrm>
            <a:off x="7909560" y="2615184"/>
            <a:ext cx="3840480" cy="329184"/>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9560" y="2615184"/>
            <a:ext cx="384048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1</a:t>
            </a:r>
          </a:p>
        </p:txBody>
      </p:sp>
      <p:sp>
        <p:nvSpPr>
          <p:cNvPr id="28" name="Rectangle 27"/>
          <p:cNvSpPr/>
          <p:nvPr/>
        </p:nvSpPr>
        <p:spPr>
          <a:xfrm>
            <a:off x="502920" y="2944368"/>
            <a:ext cx="370332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2944368"/>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51 – 75</a:t>
            </a:r>
          </a:p>
        </p:txBody>
      </p:sp>
      <p:sp>
        <p:nvSpPr>
          <p:cNvPr id="30" name="Rectangle 29"/>
          <p:cNvSpPr/>
          <p:nvPr/>
        </p:nvSpPr>
        <p:spPr>
          <a:xfrm>
            <a:off x="4206240" y="2944368"/>
            <a:ext cx="370332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06240" y="2944368"/>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3</a:t>
            </a:r>
          </a:p>
        </p:txBody>
      </p:sp>
      <p:sp>
        <p:nvSpPr>
          <p:cNvPr id="32" name="Rectangle 31"/>
          <p:cNvSpPr/>
          <p:nvPr/>
        </p:nvSpPr>
        <p:spPr>
          <a:xfrm>
            <a:off x="7909560" y="2944368"/>
            <a:ext cx="384048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09560" y="2944368"/>
            <a:ext cx="384048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1</a:t>
            </a:r>
          </a:p>
        </p:txBody>
      </p:sp>
      <p:sp>
        <p:nvSpPr>
          <p:cNvPr id="34" name="Rectangle 33"/>
          <p:cNvSpPr/>
          <p:nvPr/>
        </p:nvSpPr>
        <p:spPr>
          <a:xfrm>
            <a:off x="502920" y="3273552"/>
            <a:ext cx="3703320" cy="329184"/>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3273552"/>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76 – 100</a:t>
            </a:r>
          </a:p>
        </p:txBody>
      </p:sp>
      <p:sp>
        <p:nvSpPr>
          <p:cNvPr id="36" name="Rectangle 35"/>
          <p:cNvSpPr/>
          <p:nvPr/>
        </p:nvSpPr>
        <p:spPr>
          <a:xfrm>
            <a:off x="4206240" y="3273552"/>
            <a:ext cx="3703320" cy="329184"/>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06240" y="3273552"/>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4</a:t>
            </a:r>
          </a:p>
        </p:txBody>
      </p:sp>
      <p:sp>
        <p:nvSpPr>
          <p:cNvPr id="38" name="Rectangle 37"/>
          <p:cNvSpPr/>
          <p:nvPr/>
        </p:nvSpPr>
        <p:spPr>
          <a:xfrm>
            <a:off x="7909560" y="3273552"/>
            <a:ext cx="3840480" cy="329184"/>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09560" y="3273552"/>
            <a:ext cx="384048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1</a:t>
            </a:r>
          </a:p>
        </p:txBody>
      </p:sp>
      <p:sp>
        <p:nvSpPr>
          <p:cNvPr id="40" name="Rectangle 39"/>
          <p:cNvSpPr/>
          <p:nvPr/>
        </p:nvSpPr>
        <p:spPr>
          <a:xfrm>
            <a:off x="502920" y="3602736"/>
            <a:ext cx="370332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3602736"/>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101 – 150</a:t>
            </a:r>
          </a:p>
        </p:txBody>
      </p:sp>
      <p:sp>
        <p:nvSpPr>
          <p:cNvPr id="42" name="Rectangle 41"/>
          <p:cNvSpPr/>
          <p:nvPr/>
        </p:nvSpPr>
        <p:spPr>
          <a:xfrm>
            <a:off x="4206240" y="3602736"/>
            <a:ext cx="370332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06240" y="3602736"/>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5</a:t>
            </a:r>
          </a:p>
        </p:txBody>
      </p:sp>
      <p:sp>
        <p:nvSpPr>
          <p:cNvPr id="44" name="Rectangle 43"/>
          <p:cNvSpPr/>
          <p:nvPr/>
        </p:nvSpPr>
        <p:spPr>
          <a:xfrm>
            <a:off x="7909560" y="3602736"/>
            <a:ext cx="384048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09560" y="3602736"/>
            <a:ext cx="384048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1</a:t>
            </a:r>
          </a:p>
        </p:txBody>
      </p:sp>
      <p:sp>
        <p:nvSpPr>
          <p:cNvPr id="46" name="Rectangle 45"/>
          <p:cNvSpPr/>
          <p:nvPr/>
        </p:nvSpPr>
        <p:spPr>
          <a:xfrm>
            <a:off x="502920" y="3931920"/>
            <a:ext cx="3703320" cy="329184"/>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 y="3931920"/>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151 – 200</a:t>
            </a:r>
          </a:p>
        </p:txBody>
      </p:sp>
      <p:sp>
        <p:nvSpPr>
          <p:cNvPr id="48" name="Rectangle 47"/>
          <p:cNvSpPr/>
          <p:nvPr/>
        </p:nvSpPr>
        <p:spPr>
          <a:xfrm>
            <a:off x="4206240" y="3931920"/>
            <a:ext cx="3703320" cy="329184"/>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06240" y="3931920"/>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6</a:t>
            </a:r>
          </a:p>
        </p:txBody>
      </p:sp>
      <p:sp>
        <p:nvSpPr>
          <p:cNvPr id="50" name="Rectangle 49"/>
          <p:cNvSpPr/>
          <p:nvPr/>
        </p:nvSpPr>
        <p:spPr>
          <a:xfrm>
            <a:off x="7909560" y="3931920"/>
            <a:ext cx="3840480" cy="329184"/>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909560" y="3931920"/>
            <a:ext cx="384048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1</a:t>
            </a:r>
          </a:p>
        </p:txBody>
      </p:sp>
      <p:sp>
        <p:nvSpPr>
          <p:cNvPr id="52" name="Rectangle 51"/>
          <p:cNvSpPr/>
          <p:nvPr/>
        </p:nvSpPr>
        <p:spPr>
          <a:xfrm>
            <a:off x="502920" y="4261104"/>
            <a:ext cx="370332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4261104"/>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201 – 300</a:t>
            </a:r>
          </a:p>
        </p:txBody>
      </p:sp>
      <p:sp>
        <p:nvSpPr>
          <p:cNvPr id="54" name="Rectangle 53"/>
          <p:cNvSpPr/>
          <p:nvPr/>
        </p:nvSpPr>
        <p:spPr>
          <a:xfrm>
            <a:off x="4206240" y="4261104"/>
            <a:ext cx="370332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206240" y="4261104"/>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7</a:t>
            </a:r>
          </a:p>
        </p:txBody>
      </p:sp>
      <p:sp>
        <p:nvSpPr>
          <p:cNvPr id="56" name="Rectangle 55"/>
          <p:cNvSpPr/>
          <p:nvPr/>
        </p:nvSpPr>
        <p:spPr>
          <a:xfrm>
            <a:off x="7909560" y="4261104"/>
            <a:ext cx="384048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09560" y="4261104"/>
            <a:ext cx="384048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1</a:t>
            </a:r>
          </a:p>
        </p:txBody>
      </p:sp>
      <p:sp>
        <p:nvSpPr>
          <p:cNvPr id="58" name="Rectangle 57"/>
          <p:cNvSpPr/>
          <p:nvPr/>
        </p:nvSpPr>
        <p:spPr>
          <a:xfrm>
            <a:off x="502920" y="4590288"/>
            <a:ext cx="3703320" cy="329184"/>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2920" y="4590288"/>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301 – 400</a:t>
            </a:r>
          </a:p>
        </p:txBody>
      </p:sp>
      <p:sp>
        <p:nvSpPr>
          <p:cNvPr id="60" name="Rectangle 59"/>
          <p:cNvSpPr/>
          <p:nvPr/>
        </p:nvSpPr>
        <p:spPr>
          <a:xfrm>
            <a:off x="4206240" y="4590288"/>
            <a:ext cx="3703320" cy="329184"/>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206240" y="4590288"/>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8</a:t>
            </a:r>
          </a:p>
        </p:txBody>
      </p:sp>
      <p:sp>
        <p:nvSpPr>
          <p:cNvPr id="62" name="Rectangle 61"/>
          <p:cNvSpPr/>
          <p:nvPr/>
        </p:nvSpPr>
        <p:spPr>
          <a:xfrm>
            <a:off x="7909560" y="4590288"/>
            <a:ext cx="3840480" cy="329184"/>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909560" y="4590288"/>
            <a:ext cx="384048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1</a:t>
            </a:r>
          </a:p>
        </p:txBody>
      </p:sp>
      <p:sp>
        <p:nvSpPr>
          <p:cNvPr id="64" name="Rectangle 63"/>
          <p:cNvSpPr/>
          <p:nvPr/>
        </p:nvSpPr>
        <p:spPr>
          <a:xfrm>
            <a:off x="502920" y="4919472"/>
            <a:ext cx="370332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2920" y="4919472"/>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401 – 500</a:t>
            </a:r>
          </a:p>
        </p:txBody>
      </p:sp>
      <p:sp>
        <p:nvSpPr>
          <p:cNvPr id="66" name="Rectangle 65"/>
          <p:cNvSpPr/>
          <p:nvPr/>
        </p:nvSpPr>
        <p:spPr>
          <a:xfrm>
            <a:off x="4206240" y="4919472"/>
            <a:ext cx="370332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206240" y="4919472"/>
            <a:ext cx="370332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9</a:t>
            </a:r>
          </a:p>
        </p:txBody>
      </p:sp>
      <p:sp>
        <p:nvSpPr>
          <p:cNvPr id="68" name="Rectangle 67"/>
          <p:cNvSpPr/>
          <p:nvPr/>
        </p:nvSpPr>
        <p:spPr>
          <a:xfrm>
            <a:off x="7909560" y="4919472"/>
            <a:ext cx="3840480" cy="329184"/>
          </a:xfrm>
          <a:prstGeom prst="rect">
            <a:avLst/>
          </a:prstGeom>
          <a:solidFill>
            <a:srgbClr val="FFFFFF"/>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909560" y="4919472"/>
            <a:ext cx="3840480" cy="329184"/>
          </a:xfrm>
          <a:prstGeom prst="rect">
            <a:avLst/>
          </a:prstGeom>
          <a:noFill/>
        </p:spPr>
        <p:txBody>
          <a:bodyPr wrap="square" lIns="45720" rIns="45720" tIns="18288" bIns="18288" anchor="ctr">
            <a:spAutoFit/>
          </a:bodyPr>
          <a:lstStyle/>
          <a:p>
            <a:pPr algn="ctr"/>
            <a:r>
              <a:rPr sz="1100" b="0" i="0">
                <a:solidFill>
                  <a:srgbClr val="1A1A1A"/>
                </a:solidFill>
                <a:latin typeface="Consolas"/>
              </a:rPr>
              <a:t>2</a:t>
            </a:r>
          </a:p>
        </p:txBody>
      </p:sp>
      <p:sp>
        <p:nvSpPr>
          <p:cNvPr id="70" name="TextBox 69"/>
          <p:cNvSpPr txBox="1"/>
          <p:nvPr/>
        </p:nvSpPr>
        <p:spPr>
          <a:xfrm>
            <a:off x="502920" y="5303520"/>
            <a:ext cx="11247120" cy="365760"/>
          </a:xfrm>
          <a:prstGeom prst="rect">
            <a:avLst/>
          </a:prstGeom>
          <a:noFill/>
        </p:spPr>
        <p:txBody>
          <a:bodyPr wrap="square" lIns="45720" rIns="45720" tIns="18288" bIns="18288" anchor="t">
            <a:spAutoFit/>
          </a:bodyPr>
          <a:lstStyle/>
          <a:p>
            <a:pPr algn="l"/>
            <a:r>
              <a:rPr sz="1400" b="1" i="0">
                <a:solidFill>
                  <a:srgbClr val="1A2744"/>
                </a:solidFill>
                <a:latin typeface="Calibri"/>
              </a:rPr>
              <a:t>Critical dimensions:</a:t>
            </a:r>
          </a:p>
        </p:txBody>
      </p:sp>
      <p:sp>
        <p:nvSpPr>
          <p:cNvPr id="71" name="TextBox 70"/>
          <p:cNvSpPr txBox="1"/>
          <p:nvPr/>
        </p:nvSpPr>
        <p:spPr>
          <a:xfrm>
            <a:off x="502920" y="5669280"/>
            <a:ext cx="11247120" cy="914400"/>
          </a:xfrm>
          <a:prstGeom prst="rect">
            <a:avLst/>
          </a:prstGeom>
          <a:noFill/>
        </p:spPr>
        <p:txBody>
          <a:bodyPr wrap="square" lIns="45720" rIns="45720">
            <a:spAutoFit/>
          </a:bodyPr>
          <a:lstStyle/>
          <a:p>
            <a:pPr algn="l">
              <a:spcAft>
                <a:spcPts val="400"/>
              </a:spcAft>
            </a:pPr>
            <a:r>
              <a:rPr sz="1100" b="1">
                <a:solidFill>
                  <a:srgbClr val="1A1A1A"/>
                </a:solidFill>
                <a:latin typeface="Calibri"/>
              </a:rPr>
              <a:t>·  Standard accessible aisle:</a:t>
            </a:r>
            <a:r>
              <a:rPr sz="1100">
                <a:solidFill>
                  <a:srgbClr val="1A1A1A"/>
                </a:solidFill>
                <a:latin typeface="Calibri"/>
              </a:rPr>
              <a:t>  60" minimum width  ·  2010 ADA 502.3.1</a:t>
            </a:r>
          </a:p>
          <a:p>
            <a:pPr algn="l">
              <a:spcAft>
                <a:spcPts val="400"/>
              </a:spcAft>
            </a:pPr>
            <a:r>
              <a:rPr sz="1100" b="1">
                <a:solidFill>
                  <a:srgbClr val="1A1A1A"/>
                </a:solidFill>
                <a:latin typeface="Calibri"/>
              </a:rPr>
              <a:t>·  Van-accessible aisle:</a:t>
            </a:r>
            <a:r>
              <a:rPr sz="1100">
                <a:solidFill>
                  <a:srgbClr val="1A1A1A"/>
                </a:solidFill>
                <a:latin typeface="Calibri"/>
              </a:rPr>
              <a:t>  96" minimum width  ·  2010 ADA 502.3.3</a:t>
            </a:r>
          </a:p>
          <a:p>
            <a:pPr algn="l">
              <a:spcAft>
                <a:spcPts val="400"/>
              </a:spcAft>
            </a:pPr>
            <a:r>
              <a:rPr sz="1100" b="1">
                <a:solidFill>
                  <a:srgbClr val="1A1A1A"/>
                </a:solidFill>
                <a:latin typeface="Calibri"/>
              </a:rPr>
              <a:t>·  Surface slope (parking + aisle):</a:t>
            </a:r>
            <a:r>
              <a:rPr sz="1100">
                <a:solidFill>
                  <a:srgbClr val="1A1A1A"/>
                </a:solidFill>
                <a:latin typeface="Calibri"/>
              </a:rPr>
              <a:t>  Max 2% in any direction  ·  2010 ADA 502.4</a:t>
            </a:r>
          </a:p>
          <a:p>
            <a:pPr algn="l">
              <a:spcAft>
                <a:spcPts val="400"/>
              </a:spcAft>
            </a:pPr>
            <a:r>
              <a:rPr sz="1100" b="1">
                <a:solidFill>
                  <a:srgbClr val="1A1A1A"/>
                </a:solidFill>
                <a:latin typeface="Calibri"/>
              </a:rPr>
              <a:t>·  ISA signage:</a:t>
            </a:r>
            <a:r>
              <a:rPr sz="1100">
                <a:solidFill>
                  <a:srgbClr val="1A1A1A"/>
                </a:solidFill>
                <a:latin typeface="Calibri"/>
              </a:rPr>
              <a:t>  Mounted at each accessible space; min 60" to bottom of sign  ·  2010 ADA 502.6</a:t>
            </a:r>
          </a:p>
        </p:txBody>
      </p:sp>
      <p:sp>
        <p:nvSpPr>
          <p:cNvPr id="72" name="TextBox 71"/>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73" name="TextBox 72"/>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37 / 63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10972800" cy="457200"/>
          </a:xfrm>
          <a:prstGeom prst="rect">
            <a:avLst/>
          </a:prstGeom>
          <a:noFill/>
        </p:spPr>
        <p:txBody>
          <a:bodyPr wrap="square" lIns="45720" rIns="45720" tIns="18288" bIns="18288" anchor="t">
            <a:spAutoFit/>
          </a:bodyPr>
          <a:lstStyle/>
          <a:p>
            <a:pPr algn="l"/>
            <a:r>
              <a:rPr sz="1200" b="1" i="0">
                <a:solidFill>
                  <a:srgbClr val="C8A84B"/>
                </a:solidFill>
                <a:latin typeface="Consolas"/>
              </a:rPr>
              <a:t>KNOWLEDGE CHECK · 04</a:t>
            </a:r>
          </a:p>
        </p:txBody>
      </p:sp>
      <p:sp>
        <p:nvSpPr>
          <p:cNvPr id="5" name="TextBox 4"/>
          <p:cNvSpPr txBox="1"/>
          <p:nvPr/>
        </p:nvSpPr>
        <p:spPr>
          <a:xfrm>
            <a:off x="777240" y="1005840"/>
            <a:ext cx="10972800" cy="822960"/>
          </a:xfrm>
          <a:prstGeom prst="rect">
            <a:avLst/>
          </a:prstGeom>
          <a:noFill/>
        </p:spPr>
        <p:txBody>
          <a:bodyPr wrap="square" lIns="45720" rIns="45720" tIns="18288" bIns="18288" anchor="t">
            <a:spAutoFit/>
          </a:bodyPr>
          <a:lstStyle/>
          <a:p>
            <a:pPr algn="l"/>
            <a:r>
              <a:rPr sz="3000" b="1" i="0">
                <a:solidFill>
                  <a:srgbClr val="FFFFFF"/>
                </a:solidFill>
                <a:latin typeface="Georgia"/>
              </a:rPr>
              <a:t>2010 ADA — six measurements</a:t>
            </a:r>
          </a:p>
        </p:txBody>
      </p:sp>
      <p:sp>
        <p:nvSpPr>
          <p:cNvPr id="6" name="TextBox 5"/>
          <p:cNvSpPr txBox="1"/>
          <p:nvPr/>
        </p:nvSpPr>
        <p:spPr>
          <a:xfrm>
            <a:off x="777240" y="1965960"/>
            <a:ext cx="10972800" cy="457200"/>
          </a:xfrm>
          <a:prstGeom prst="rect">
            <a:avLst/>
          </a:prstGeom>
          <a:noFill/>
        </p:spPr>
        <p:txBody>
          <a:bodyPr wrap="square" lIns="45720" rIns="45720" tIns="18288" bIns="18288" anchor="t">
            <a:spAutoFit/>
          </a:bodyPr>
          <a:lstStyle/>
          <a:p>
            <a:pPr algn="l"/>
            <a:r>
              <a:rPr sz="1400" b="0" i="1">
                <a:solidFill>
                  <a:srgbClr val="E8D08A"/>
                </a:solidFill>
                <a:latin typeface="Calibri"/>
              </a:rPr>
              <a:t>Building constructed 2018. For each measurement, mark COMPLIANT or VIOLATION.</a:t>
            </a:r>
          </a:p>
        </p:txBody>
      </p:sp>
      <p:sp>
        <p:nvSpPr>
          <p:cNvPr id="7" name="Rectangle 6"/>
          <p:cNvSpPr/>
          <p:nvPr/>
        </p:nvSpPr>
        <p:spPr>
          <a:xfrm>
            <a:off x="777240" y="2606040"/>
            <a:ext cx="7772400" cy="45720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606040"/>
            <a:ext cx="7589520" cy="457200"/>
          </a:xfrm>
          <a:prstGeom prst="rect">
            <a:avLst/>
          </a:prstGeom>
          <a:noFill/>
        </p:spPr>
        <p:txBody>
          <a:bodyPr wrap="square" lIns="45720" rIns="45720" tIns="18288" bIns="18288" anchor="ctr">
            <a:spAutoFit/>
          </a:bodyPr>
          <a:lstStyle/>
          <a:p>
            <a:pPr algn="l"/>
            <a:r>
              <a:rPr sz="1300" b="0" i="0">
                <a:solidFill>
                  <a:srgbClr val="FFFFFF"/>
                </a:solidFill>
                <a:latin typeface="Calibri"/>
              </a:rPr>
              <a:t>Parking surface slope: 2.4% in one direction</a:t>
            </a:r>
          </a:p>
        </p:txBody>
      </p:sp>
      <p:sp>
        <p:nvSpPr>
          <p:cNvPr id="9" name="Rectangle 8"/>
          <p:cNvSpPr/>
          <p:nvPr/>
        </p:nvSpPr>
        <p:spPr>
          <a:xfrm>
            <a:off x="8686800" y="2606040"/>
            <a:ext cx="146304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0" y="2606040"/>
            <a:ext cx="1463040" cy="457200"/>
          </a:xfrm>
          <a:prstGeom prst="rect">
            <a:avLst/>
          </a:prstGeom>
          <a:noFill/>
        </p:spPr>
        <p:txBody>
          <a:bodyPr wrap="square" lIns="45720" rIns="45720" tIns="18288" bIns="18288" anchor="ctr">
            <a:spAutoFit/>
          </a:bodyPr>
          <a:lstStyle/>
          <a:p>
            <a:pPr algn="ctr"/>
            <a:r>
              <a:rPr sz="1000" b="0" i="0">
                <a:solidFill>
                  <a:srgbClr val="6B6659"/>
                </a:solidFill>
                <a:latin typeface="Consolas"/>
              </a:rPr>
              <a:t>COMPLIANT</a:t>
            </a:r>
          </a:p>
        </p:txBody>
      </p:sp>
      <p:sp>
        <p:nvSpPr>
          <p:cNvPr id="11" name="Rectangle 10"/>
          <p:cNvSpPr/>
          <p:nvPr/>
        </p:nvSpPr>
        <p:spPr>
          <a:xfrm>
            <a:off x="10241280" y="2606040"/>
            <a:ext cx="146304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0" y="2606040"/>
            <a:ext cx="1463040" cy="457200"/>
          </a:xfrm>
          <a:prstGeom prst="rect">
            <a:avLst/>
          </a:prstGeom>
          <a:noFill/>
        </p:spPr>
        <p:txBody>
          <a:bodyPr wrap="square" lIns="45720" rIns="45720" tIns="18288" bIns="18288" anchor="ctr">
            <a:spAutoFit/>
          </a:bodyPr>
          <a:lstStyle/>
          <a:p>
            <a:pPr algn="ctr"/>
            <a:r>
              <a:rPr sz="1000" b="0" i="0">
                <a:solidFill>
                  <a:srgbClr val="6B6659"/>
                </a:solidFill>
                <a:latin typeface="Consolas"/>
              </a:rPr>
              <a:t>VIOLATION</a:t>
            </a:r>
          </a:p>
        </p:txBody>
      </p:sp>
      <p:sp>
        <p:nvSpPr>
          <p:cNvPr id="13" name="Rectangle 12"/>
          <p:cNvSpPr/>
          <p:nvPr/>
        </p:nvSpPr>
        <p:spPr>
          <a:xfrm>
            <a:off x="777240" y="3154680"/>
            <a:ext cx="7772400" cy="45720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154680"/>
            <a:ext cx="7589520" cy="457200"/>
          </a:xfrm>
          <a:prstGeom prst="rect">
            <a:avLst/>
          </a:prstGeom>
          <a:noFill/>
        </p:spPr>
        <p:txBody>
          <a:bodyPr wrap="square" lIns="45720" rIns="45720" tIns="18288" bIns="18288" anchor="ctr">
            <a:spAutoFit/>
          </a:bodyPr>
          <a:lstStyle/>
          <a:p>
            <a:pPr algn="l"/>
            <a:r>
              <a:rPr sz="1300" b="0" i="0">
                <a:solidFill>
                  <a:srgbClr val="FFFFFF"/>
                </a:solidFill>
                <a:latin typeface="Calibri"/>
              </a:rPr>
              <a:t>Coat hook in accessible restroom: 47" forward reach</a:t>
            </a:r>
          </a:p>
        </p:txBody>
      </p:sp>
      <p:sp>
        <p:nvSpPr>
          <p:cNvPr id="15" name="Rectangle 14"/>
          <p:cNvSpPr/>
          <p:nvPr/>
        </p:nvSpPr>
        <p:spPr>
          <a:xfrm>
            <a:off x="8686800" y="3154680"/>
            <a:ext cx="146304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0" y="3154680"/>
            <a:ext cx="1463040" cy="457200"/>
          </a:xfrm>
          <a:prstGeom prst="rect">
            <a:avLst/>
          </a:prstGeom>
          <a:noFill/>
        </p:spPr>
        <p:txBody>
          <a:bodyPr wrap="square" lIns="45720" rIns="45720" tIns="18288" bIns="18288" anchor="ctr">
            <a:spAutoFit/>
          </a:bodyPr>
          <a:lstStyle/>
          <a:p>
            <a:pPr algn="ctr"/>
            <a:r>
              <a:rPr sz="1000" b="0" i="0">
                <a:solidFill>
                  <a:srgbClr val="6B6659"/>
                </a:solidFill>
                <a:latin typeface="Consolas"/>
              </a:rPr>
              <a:t>COMPLIANT</a:t>
            </a:r>
          </a:p>
        </p:txBody>
      </p:sp>
      <p:sp>
        <p:nvSpPr>
          <p:cNvPr id="17" name="Rectangle 16"/>
          <p:cNvSpPr/>
          <p:nvPr/>
        </p:nvSpPr>
        <p:spPr>
          <a:xfrm>
            <a:off x="10241280" y="3154680"/>
            <a:ext cx="146304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0" y="3154680"/>
            <a:ext cx="1463040" cy="457200"/>
          </a:xfrm>
          <a:prstGeom prst="rect">
            <a:avLst/>
          </a:prstGeom>
          <a:noFill/>
        </p:spPr>
        <p:txBody>
          <a:bodyPr wrap="square" lIns="45720" rIns="45720" tIns="18288" bIns="18288" anchor="ctr">
            <a:spAutoFit/>
          </a:bodyPr>
          <a:lstStyle/>
          <a:p>
            <a:pPr algn="ctr"/>
            <a:r>
              <a:rPr sz="1000" b="0" i="0">
                <a:solidFill>
                  <a:srgbClr val="6B6659"/>
                </a:solidFill>
                <a:latin typeface="Consolas"/>
              </a:rPr>
              <a:t>VIOLATION</a:t>
            </a:r>
          </a:p>
        </p:txBody>
      </p:sp>
      <p:sp>
        <p:nvSpPr>
          <p:cNvPr id="19" name="Rectangle 18"/>
          <p:cNvSpPr/>
          <p:nvPr/>
        </p:nvSpPr>
        <p:spPr>
          <a:xfrm>
            <a:off x="777240" y="3703320"/>
            <a:ext cx="7772400" cy="45720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703320"/>
            <a:ext cx="7589520" cy="457200"/>
          </a:xfrm>
          <a:prstGeom prst="rect">
            <a:avLst/>
          </a:prstGeom>
          <a:noFill/>
        </p:spPr>
        <p:txBody>
          <a:bodyPr wrap="square" lIns="45720" rIns="45720" tIns="18288" bIns="18288" anchor="ctr">
            <a:spAutoFit/>
          </a:bodyPr>
          <a:lstStyle/>
          <a:p>
            <a:pPr algn="l"/>
            <a:r>
              <a:rPr sz="1300" b="0" i="0">
                <a:solidFill>
                  <a:srgbClr val="FFFFFF"/>
                </a:solidFill>
                <a:latin typeface="Calibri"/>
              </a:rPr>
              <a:t>Toilet seat height: 16" above floor</a:t>
            </a:r>
          </a:p>
        </p:txBody>
      </p:sp>
      <p:sp>
        <p:nvSpPr>
          <p:cNvPr id="21" name="Rectangle 20"/>
          <p:cNvSpPr/>
          <p:nvPr/>
        </p:nvSpPr>
        <p:spPr>
          <a:xfrm>
            <a:off x="8686800" y="3703320"/>
            <a:ext cx="146304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0" y="3703320"/>
            <a:ext cx="1463040" cy="457200"/>
          </a:xfrm>
          <a:prstGeom prst="rect">
            <a:avLst/>
          </a:prstGeom>
          <a:noFill/>
        </p:spPr>
        <p:txBody>
          <a:bodyPr wrap="square" lIns="45720" rIns="45720" tIns="18288" bIns="18288" anchor="ctr">
            <a:spAutoFit/>
          </a:bodyPr>
          <a:lstStyle/>
          <a:p>
            <a:pPr algn="ctr"/>
            <a:r>
              <a:rPr sz="1000" b="0" i="0">
                <a:solidFill>
                  <a:srgbClr val="6B6659"/>
                </a:solidFill>
                <a:latin typeface="Consolas"/>
              </a:rPr>
              <a:t>COMPLIANT</a:t>
            </a:r>
          </a:p>
        </p:txBody>
      </p:sp>
      <p:sp>
        <p:nvSpPr>
          <p:cNvPr id="23" name="Rectangle 22"/>
          <p:cNvSpPr/>
          <p:nvPr/>
        </p:nvSpPr>
        <p:spPr>
          <a:xfrm>
            <a:off x="10241280" y="3703320"/>
            <a:ext cx="146304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0" y="3703320"/>
            <a:ext cx="1463040" cy="457200"/>
          </a:xfrm>
          <a:prstGeom prst="rect">
            <a:avLst/>
          </a:prstGeom>
          <a:noFill/>
        </p:spPr>
        <p:txBody>
          <a:bodyPr wrap="square" lIns="45720" rIns="45720" tIns="18288" bIns="18288" anchor="ctr">
            <a:spAutoFit/>
          </a:bodyPr>
          <a:lstStyle/>
          <a:p>
            <a:pPr algn="ctr"/>
            <a:r>
              <a:rPr sz="1000" b="0" i="0">
                <a:solidFill>
                  <a:srgbClr val="6B6659"/>
                </a:solidFill>
                <a:latin typeface="Consolas"/>
              </a:rPr>
              <a:t>VIOLATION</a:t>
            </a:r>
          </a:p>
        </p:txBody>
      </p:sp>
      <p:sp>
        <p:nvSpPr>
          <p:cNvPr id="25" name="Rectangle 24"/>
          <p:cNvSpPr/>
          <p:nvPr/>
        </p:nvSpPr>
        <p:spPr>
          <a:xfrm>
            <a:off x="777240" y="4251960"/>
            <a:ext cx="7772400" cy="45720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251960"/>
            <a:ext cx="7589520" cy="457200"/>
          </a:xfrm>
          <a:prstGeom prst="rect">
            <a:avLst/>
          </a:prstGeom>
          <a:noFill/>
        </p:spPr>
        <p:txBody>
          <a:bodyPr wrap="square" lIns="45720" rIns="45720" tIns="18288" bIns="18288" anchor="ctr">
            <a:spAutoFit/>
          </a:bodyPr>
          <a:lstStyle/>
          <a:p>
            <a:pPr algn="l"/>
            <a:r>
              <a:rPr sz="1300" b="0" i="0">
                <a:solidFill>
                  <a:srgbClr val="FFFFFF"/>
                </a:solidFill>
                <a:latin typeface="Calibri"/>
              </a:rPr>
              <a:t>Door clear width: 34"</a:t>
            </a:r>
          </a:p>
        </p:txBody>
      </p:sp>
      <p:sp>
        <p:nvSpPr>
          <p:cNvPr id="27" name="Rectangle 26"/>
          <p:cNvSpPr/>
          <p:nvPr/>
        </p:nvSpPr>
        <p:spPr>
          <a:xfrm>
            <a:off x="8686800" y="4251960"/>
            <a:ext cx="146304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0" y="4251960"/>
            <a:ext cx="1463040" cy="457200"/>
          </a:xfrm>
          <a:prstGeom prst="rect">
            <a:avLst/>
          </a:prstGeom>
          <a:noFill/>
        </p:spPr>
        <p:txBody>
          <a:bodyPr wrap="square" lIns="45720" rIns="45720" tIns="18288" bIns="18288" anchor="ctr">
            <a:spAutoFit/>
          </a:bodyPr>
          <a:lstStyle/>
          <a:p>
            <a:pPr algn="ctr"/>
            <a:r>
              <a:rPr sz="1000" b="0" i="0">
                <a:solidFill>
                  <a:srgbClr val="6B6659"/>
                </a:solidFill>
                <a:latin typeface="Consolas"/>
              </a:rPr>
              <a:t>COMPLIANT</a:t>
            </a:r>
          </a:p>
        </p:txBody>
      </p:sp>
      <p:sp>
        <p:nvSpPr>
          <p:cNvPr id="29" name="Rectangle 28"/>
          <p:cNvSpPr/>
          <p:nvPr/>
        </p:nvSpPr>
        <p:spPr>
          <a:xfrm>
            <a:off x="10241280" y="4251960"/>
            <a:ext cx="146304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0" y="4251960"/>
            <a:ext cx="1463040" cy="457200"/>
          </a:xfrm>
          <a:prstGeom prst="rect">
            <a:avLst/>
          </a:prstGeom>
          <a:noFill/>
        </p:spPr>
        <p:txBody>
          <a:bodyPr wrap="square" lIns="45720" rIns="45720" tIns="18288" bIns="18288" anchor="ctr">
            <a:spAutoFit/>
          </a:bodyPr>
          <a:lstStyle/>
          <a:p>
            <a:pPr algn="ctr"/>
            <a:r>
              <a:rPr sz="1000" b="0" i="0">
                <a:solidFill>
                  <a:srgbClr val="6B6659"/>
                </a:solidFill>
                <a:latin typeface="Consolas"/>
              </a:rPr>
              <a:t>VIOLATION</a:t>
            </a:r>
          </a:p>
        </p:txBody>
      </p:sp>
      <p:sp>
        <p:nvSpPr>
          <p:cNvPr id="31" name="Rectangle 30"/>
          <p:cNvSpPr/>
          <p:nvPr/>
        </p:nvSpPr>
        <p:spPr>
          <a:xfrm>
            <a:off x="777240" y="4800600"/>
            <a:ext cx="7772400" cy="45720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4800600"/>
            <a:ext cx="7589520" cy="457200"/>
          </a:xfrm>
          <a:prstGeom prst="rect">
            <a:avLst/>
          </a:prstGeom>
          <a:noFill/>
        </p:spPr>
        <p:txBody>
          <a:bodyPr wrap="square" lIns="45720" rIns="45720" tIns="18288" bIns="18288" anchor="ctr">
            <a:spAutoFit/>
          </a:bodyPr>
          <a:lstStyle/>
          <a:p>
            <a:pPr algn="l"/>
            <a:r>
              <a:rPr sz="1300" b="0" i="0">
                <a:solidFill>
                  <a:srgbClr val="FFFFFF"/>
                </a:solidFill>
                <a:latin typeface="Calibri"/>
              </a:rPr>
              <a:t>Ramp running slope: 1:14</a:t>
            </a:r>
          </a:p>
        </p:txBody>
      </p:sp>
      <p:sp>
        <p:nvSpPr>
          <p:cNvPr id="33" name="Rectangle 32"/>
          <p:cNvSpPr/>
          <p:nvPr/>
        </p:nvSpPr>
        <p:spPr>
          <a:xfrm>
            <a:off x="8686800" y="4800600"/>
            <a:ext cx="146304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0" y="4800600"/>
            <a:ext cx="1463040" cy="457200"/>
          </a:xfrm>
          <a:prstGeom prst="rect">
            <a:avLst/>
          </a:prstGeom>
          <a:noFill/>
        </p:spPr>
        <p:txBody>
          <a:bodyPr wrap="square" lIns="45720" rIns="45720" tIns="18288" bIns="18288" anchor="ctr">
            <a:spAutoFit/>
          </a:bodyPr>
          <a:lstStyle/>
          <a:p>
            <a:pPr algn="ctr"/>
            <a:r>
              <a:rPr sz="1000" b="0" i="0">
                <a:solidFill>
                  <a:srgbClr val="6B6659"/>
                </a:solidFill>
                <a:latin typeface="Consolas"/>
              </a:rPr>
              <a:t>COMPLIANT</a:t>
            </a:r>
          </a:p>
        </p:txBody>
      </p:sp>
      <p:sp>
        <p:nvSpPr>
          <p:cNvPr id="35" name="Rectangle 34"/>
          <p:cNvSpPr/>
          <p:nvPr/>
        </p:nvSpPr>
        <p:spPr>
          <a:xfrm>
            <a:off x="10241280" y="4800600"/>
            <a:ext cx="146304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41280" y="4800600"/>
            <a:ext cx="1463040" cy="457200"/>
          </a:xfrm>
          <a:prstGeom prst="rect">
            <a:avLst/>
          </a:prstGeom>
          <a:noFill/>
        </p:spPr>
        <p:txBody>
          <a:bodyPr wrap="square" lIns="45720" rIns="45720" tIns="18288" bIns="18288" anchor="ctr">
            <a:spAutoFit/>
          </a:bodyPr>
          <a:lstStyle/>
          <a:p>
            <a:pPr algn="ctr"/>
            <a:r>
              <a:rPr sz="1000" b="0" i="0">
                <a:solidFill>
                  <a:srgbClr val="6B6659"/>
                </a:solidFill>
                <a:latin typeface="Consolas"/>
              </a:rPr>
              <a:t>VIOLATION</a:t>
            </a:r>
          </a:p>
        </p:txBody>
      </p:sp>
      <p:sp>
        <p:nvSpPr>
          <p:cNvPr id="37" name="Rectangle 36"/>
          <p:cNvSpPr/>
          <p:nvPr/>
        </p:nvSpPr>
        <p:spPr>
          <a:xfrm>
            <a:off x="777240" y="5349240"/>
            <a:ext cx="7772400" cy="45720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0120" y="5349240"/>
            <a:ext cx="7589520" cy="457200"/>
          </a:xfrm>
          <a:prstGeom prst="rect">
            <a:avLst/>
          </a:prstGeom>
          <a:noFill/>
        </p:spPr>
        <p:txBody>
          <a:bodyPr wrap="square" lIns="45720" rIns="45720" tIns="18288" bIns="18288" anchor="ctr">
            <a:spAutoFit/>
          </a:bodyPr>
          <a:lstStyle/>
          <a:p>
            <a:pPr algn="l"/>
            <a:r>
              <a:rPr sz="1300" b="0" i="0">
                <a:solidFill>
                  <a:srgbClr val="FFFFFF"/>
                </a:solidFill>
                <a:latin typeface="Calibri"/>
              </a:rPr>
              <a:t>ISA signage baseline of tactile characters: 62" above floor</a:t>
            </a:r>
          </a:p>
        </p:txBody>
      </p:sp>
      <p:sp>
        <p:nvSpPr>
          <p:cNvPr id="39" name="Rectangle 38"/>
          <p:cNvSpPr/>
          <p:nvPr/>
        </p:nvSpPr>
        <p:spPr>
          <a:xfrm>
            <a:off x="8686800" y="5349240"/>
            <a:ext cx="146304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0" y="5349240"/>
            <a:ext cx="1463040" cy="457200"/>
          </a:xfrm>
          <a:prstGeom prst="rect">
            <a:avLst/>
          </a:prstGeom>
          <a:noFill/>
        </p:spPr>
        <p:txBody>
          <a:bodyPr wrap="square" lIns="45720" rIns="45720" tIns="18288" bIns="18288" anchor="ctr">
            <a:spAutoFit/>
          </a:bodyPr>
          <a:lstStyle/>
          <a:p>
            <a:pPr algn="ctr"/>
            <a:r>
              <a:rPr sz="1000" b="0" i="0">
                <a:solidFill>
                  <a:srgbClr val="6B6659"/>
                </a:solidFill>
                <a:latin typeface="Consolas"/>
              </a:rPr>
              <a:t>COMPLIANT</a:t>
            </a:r>
          </a:p>
        </p:txBody>
      </p:sp>
      <p:sp>
        <p:nvSpPr>
          <p:cNvPr id="41" name="Rectangle 40"/>
          <p:cNvSpPr/>
          <p:nvPr/>
        </p:nvSpPr>
        <p:spPr>
          <a:xfrm>
            <a:off x="10241280" y="5349240"/>
            <a:ext cx="146304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241280" y="5349240"/>
            <a:ext cx="1463040" cy="457200"/>
          </a:xfrm>
          <a:prstGeom prst="rect">
            <a:avLst/>
          </a:prstGeom>
          <a:noFill/>
        </p:spPr>
        <p:txBody>
          <a:bodyPr wrap="square" lIns="45720" rIns="45720" tIns="18288" bIns="18288" anchor="ctr">
            <a:spAutoFit/>
          </a:bodyPr>
          <a:lstStyle/>
          <a:p>
            <a:pPr algn="ctr"/>
            <a:r>
              <a:rPr sz="1000" b="0" i="0">
                <a:solidFill>
                  <a:srgbClr val="6B6659"/>
                </a:solidFill>
                <a:latin typeface="Consolas"/>
              </a:rPr>
              <a:t>VIOLATION</a:t>
            </a:r>
          </a:p>
        </p:txBody>
      </p:sp>
      <p:sp>
        <p:nvSpPr>
          <p:cNvPr id="43" name="TextBox 42"/>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44" name="TextBox 43"/>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38 / 63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39 · REFERENCE</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Quick reference — parking &amp; accessible routes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54864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17320"/>
            <a:ext cx="54864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548640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PARKING</a:t>
            </a:r>
          </a:p>
        </p:txBody>
      </p:sp>
      <p:sp>
        <p:nvSpPr>
          <p:cNvPr id="12" name="TextBox 11"/>
          <p:cNvSpPr txBox="1"/>
          <p:nvPr/>
        </p:nvSpPr>
        <p:spPr>
          <a:xfrm>
            <a:off x="640080" y="18288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Std accessible aisle</a:t>
            </a:r>
          </a:p>
        </p:txBody>
      </p:sp>
      <p:sp>
        <p:nvSpPr>
          <p:cNvPr id="13" name="TextBox 12"/>
          <p:cNvSpPr txBox="1"/>
          <p:nvPr/>
        </p:nvSpPr>
        <p:spPr>
          <a:xfrm>
            <a:off x="2788920" y="18288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60" min</a:t>
            </a:r>
          </a:p>
        </p:txBody>
      </p:sp>
      <p:sp>
        <p:nvSpPr>
          <p:cNvPr id="14" name="TextBox 13"/>
          <p:cNvSpPr txBox="1"/>
          <p:nvPr/>
        </p:nvSpPr>
        <p:spPr>
          <a:xfrm>
            <a:off x="4434840" y="18288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502.3.1</a:t>
            </a:r>
          </a:p>
        </p:txBody>
      </p:sp>
      <p:sp>
        <p:nvSpPr>
          <p:cNvPr id="15" name="TextBox 14"/>
          <p:cNvSpPr txBox="1"/>
          <p:nvPr/>
        </p:nvSpPr>
        <p:spPr>
          <a:xfrm>
            <a:off x="640080" y="21945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Van accessible aisle</a:t>
            </a:r>
          </a:p>
        </p:txBody>
      </p:sp>
      <p:sp>
        <p:nvSpPr>
          <p:cNvPr id="16" name="TextBox 15"/>
          <p:cNvSpPr txBox="1"/>
          <p:nvPr/>
        </p:nvSpPr>
        <p:spPr>
          <a:xfrm>
            <a:off x="2788920" y="21945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96" min</a:t>
            </a:r>
          </a:p>
        </p:txBody>
      </p:sp>
      <p:sp>
        <p:nvSpPr>
          <p:cNvPr id="17" name="TextBox 16"/>
          <p:cNvSpPr txBox="1"/>
          <p:nvPr/>
        </p:nvSpPr>
        <p:spPr>
          <a:xfrm>
            <a:off x="4434840" y="21945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502.3.3</a:t>
            </a:r>
          </a:p>
        </p:txBody>
      </p:sp>
      <p:sp>
        <p:nvSpPr>
          <p:cNvPr id="18" name="TextBox 17"/>
          <p:cNvSpPr txBox="1"/>
          <p:nvPr/>
        </p:nvSpPr>
        <p:spPr>
          <a:xfrm>
            <a:off x="640080" y="25603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Surface slope (any dir.)</a:t>
            </a:r>
          </a:p>
        </p:txBody>
      </p:sp>
      <p:sp>
        <p:nvSpPr>
          <p:cNvPr id="19" name="TextBox 18"/>
          <p:cNvSpPr txBox="1"/>
          <p:nvPr/>
        </p:nvSpPr>
        <p:spPr>
          <a:xfrm>
            <a:off x="2788920" y="25603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2% max</a:t>
            </a:r>
          </a:p>
        </p:txBody>
      </p:sp>
      <p:sp>
        <p:nvSpPr>
          <p:cNvPr id="20" name="TextBox 19"/>
          <p:cNvSpPr txBox="1"/>
          <p:nvPr/>
        </p:nvSpPr>
        <p:spPr>
          <a:xfrm>
            <a:off x="4434840" y="25603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502.4</a:t>
            </a:r>
          </a:p>
        </p:txBody>
      </p:sp>
      <p:sp>
        <p:nvSpPr>
          <p:cNvPr id="21" name="TextBox 20"/>
          <p:cNvSpPr txBox="1"/>
          <p:nvPr/>
        </p:nvSpPr>
        <p:spPr>
          <a:xfrm>
            <a:off x="640080" y="29260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Vertical clearance</a:t>
            </a:r>
          </a:p>
        </p:txBody>
      </p:sp>
      <p:sp>
        <p:nvSpPr>
          <p:cNvPr id="22" name="TextBox 21"/>
          <p:cNvSpPr txBox="1"/>
          <p:nvPr/>
        </p:nvSpPr>
        <p:spPr>
          <a:xfrm>
            <a:off x="2788920" y="29260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98" min van</a:t>
            </a:r>
          </a:p>
        </p:txBody>
      </p:sp>
      <p:sp>
        <p:nvSpPr>
          <p:cNvPr id="23" name="TextBox 22"/>
          <p:cNvSpPr txBox="1"/>
          <p:nvPr/>
        </p:nvSpPr>
        <p:spPr>
          <a:xfrm>
            <a:off x="4434840" y="29260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502.5</a:t>
            </a:r>
          </a:p>
        </p:txBody>
      </p:sp>
      <p:sp>
        <p:nvSpPr>
          <p:cNvPr id="24" name="TextBox 23"/>
          <p:cNvSpPr txBox="1"/>
          <p:nvPr/>
        </p:nvSpPr>
        <p:spPr>
          <a:xfrm>
            <a:off x="640080" y="32918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ISA sign — bottom</a:t>
            </a:r>
          </a:p>
        </p:txBody>
      </p:sp>
      <p:sp>
        <p:nvSpPr>
          <p:cNvPr id="25" name="TextBox 24"/>
          <p:cNvSpPr txBox="1"/>
          <p:nvPr/>
        </p:nvSpPr>
        <p:spPr>
          <a:xfrm>
            <a:off x="2788920" y="32918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60" min from grade</a:t>
            </a:r>
          </a:p>
        </p:txBody>
      </p:sp>
      <p:sp>
        <p:nvSpPr>
          <p:cNvPr id="26" name="TextBox 25"/>
          <p:cNvSpPr txBox="1"/>
          <p:nvPr/>
        </p:nvSpPr>
        <p:spPr>
          <a:xfrm>
            <a:off x="4434840" y="32918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502.6</a:t>
            </a:r>
          </a:p>
        </p:txBody>
      </p:sp>
      <p:sp>
        <p:nvSpPr>
          <p:cNvPr id="27" name="TextBox 26"/>
          <p:cNvSpPr txBox="1"/>
          <p:nvPr/>
        </p:nvSpPr>
        <p:spPr>
          <a:xfrm>
            <a:off x="640080" y="36576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Marking</a:t>
            </a:r>
          </a:p>
        </p:txBody>
      </p:sp>
      <p:sp>
        <p:nvSpPr>
          <p:cNvPr id="28" name="TextBox 27"/>
          <p:cNvSpPr txBox="1"/>
          <p:nvPr/>
        </p:nvSpPr>
        <p:spPr>
          <a:xfrm>
            <a:off x="2788920" y="36576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Painted; ISA visible</a:t>
            </a:r>
          </a:p>
        </p:txBody>
      </p:sp>
      <p:sp>
        <p:nvSpPr>
          <p:cNvPr id="29" name="TextBox 28"/>
          <p:cNvSpPr txBox="1"/>
          <p:nvPr/>
        </p:nvSpPr>
        <p:spPr>
          <a:xfrm>
            <a:off x="4434840" y="36576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502.6</a:t>
            </a:r>
          </a:p>
        </p:txBody>
      </p:sp>
      <p:sp>
        <p:nvSpPr>
          <p:cNvPr id="30" name="TextBox 29"/>
          <p:cNvSpPr txBox="1"/>
          <p:nvPr/>
        </p:nvSpPr>
        <p:spPr>
          <a:xfrm>
            <a:off x="640080" y="40233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Path from aisle to route</a:t>
            </a:r>
          </a:p>
        </p:txBody>
      </p:sp>
      <p:sp>
        <p:nvSpPr>
          <p:cNvPr id="31" name="TextBox 30"/>
          <p:cNvSpPr txBox="1"/>
          <p:nvPr/>
        </p:nvSpPr>
        <p:spPr>
          <a:xfrm>
            <a:off x="2788920" y="40233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Connects to acc. rt.</a:t>
            </a:r>
          </a:p>
        </p:txBody>
      </p:sp>
      <p:sp>
        <p:nvSpPr>
          <p:cNvPr id="32" name="TextBox 31"/>
          <p:cNvSpPr txBox="1"/>
          <p:nvPr/>
        </p:nvSpPr>
        <p:spPr>
          <a:xfrm>
            <a:off x="4434840" y="40233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502.3</a:t>
            </a:r>
          </a:p>
        </p:txBody>
      </p:sp>
      <p:sp>
        <p:nvSpPr>
          <p:cNvPr id="33" name="TextBox 32"/>
          <p:cNvSpPr txBox="1"/>
          <p:nvPr/>
        </p:nvSpPr>
        <p:spPr>
          <a:xfrm>
            <a:off x="640080" y="43891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Curb ramps if separate</a:t>
            </a:r>
          </a:p>
        </p:txBody>
      </p:sp>
      <p:sp>
        <p:nvSpPr>
          <p:cNvPr id="34" name="TextBox 33"/>
          <p:cNvSpPr txBox="1"/>
          <p:nvPr/>
        </p:nvSpPr>
        <p:spPr>
          <a:xfrm>
            <a:off x="2788920" y="43891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1:12 max</a:t>
            </a:r>
          </a:p>
        </p:txBody>
      </p:sp>
      <p:sp>
        <p:nvSpPr>
          <p:cNvPr id="35" name="TextBox 34"/>
          <p:cNvSpPr txBox="1"/>
          <p:nvPr/>
        </p:nvSpPr>
        <p:spPr>
          <a:xfrm>
            <a:off x="4434840" y="43891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406.1</a:t>
            </a:r>
          </a:p>
        </p:txBody>
      </p:sp>
      <p:sp>
        <p:nvSpPr>
          <p:cNvPr id="36" name="TextBox 35"/>
          <p:cNvSpPr txBox="1"/>
          <p:nvPr/>
        </p:nvSpPr>
        <p:spPr>
          <a:xfrm>
            <a:off x="640080" y="47548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Detectable warnings</a:t>
            </a:r>
          </a:p>
        </p:txBody>
      </p:sp>
      <p:sp>
        <p:nvSpPr>
          <p:cNvPr id="37" name="TextBox 36"/>
          <p:cNvSpPr txBox="1"/>
          <p:nvPr/>
        </p:nvSpPr>
        <p:spPr>
          <a:xfrm>
            <a:off x="2788920" y="47548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At curb ramps + bus stops</a:t>
            </a:r>
          </a:p>
        </p:txBody>
      </p:sp>
      <p:sp>
        <p:nvSpPr>
          <p:cNvPr id="38" name="TextBox 37"/>
          <p:cNvSpPr txBox="1"/>
          <p:nvPr/>
        </p:nvSpPr>
        <p:spPr>
          <a:xfrm>
            <a:off x="4434840" y="47548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705</a:t>
            </a:r>
          </a:p>
        </p:txBody>
      </p:sp>
      <p:sp>
        <p:nvSpPr>
          <p:cNvPr id="39" name="TextBox 38"/>
          <p:cNvSpPr txBox="1"/>
          <p:nvPr/>
        </p:nvSpPr>
        <p:spPr>
          <a:xfrm>
            <a:off x="640080" y="51206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Re-striping = alteration</a:t>
            </a:r>
          </a:p>
        </p:txBody>
      </p:sp>
      <p:sp>
        <p:nvSpPr>
          <p:cNvPr id="40" name="TextBox 39"/>
          <p:cNvSpPr txBox="1"/>
          <p:nvPr/>
        </p:nvSpPr>
        <p:spPr>
          <a:xfrm>
            <a:off x="2788920" y="51206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Triggers 2010 ADA</a:t>
            </a:r>
          </a:p>
        </p:txBody>
      </p:sp>
      <p:sp>
        <p:nvSpPr>
          <p:cNvPr id="41" name="TextBox 40"/>
          <p:cNvSpPr txBox="1"/>
          <p:nvPr/>
        </p:nvSpPr>
        <p:spPr>
          <a:xfrm>
            <a:off x="4434840" y="51206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Title II</a:t>
            </a:r>
          </a:p>
        </p:txBody>
      </p:sp>
      <p:sp>
        <p:nvSpPr>
          <p:cNvPr id="42" name="TextBox 41"/>
          <p:cNvSpPr txBox="1"/>
          <p:nvPr/>
        </p:nvSpPr>
        <p:spPr>
          <a:xfrm>
            <a:off x="640080" y="54864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Quantity (1–25 lot)</a:t>
            </a:r>
          </a:p>
        </p:txBody>
      </p:sp>
      <p:sp>
        <p:nvSpPr>
          <p:cNvPr id="43" name="TextBox 42"/>
          <p:cNvSpPr txBox="1"/>
          <p:nvPr/>
        </p:nvSpPr>
        <p:spPr>
          <a:xfrm>
            <a:off x="2788920" y="54864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 acc + 1 van</a:t>
            </a:r>
          </a:p>
        </p:txBody>
      </p:sp>
      <p:sp>
        <p:nvSpPr>
          <p:cNvPr id="44" name="TextBox 43"/>
          <p:cNvSpPr txBox="1"/>
          <p:nvPr/>
        </p:nvSpPr>
        <p:spPr>
          <a:xfrm>
            <a:off x="4434840" y="54864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208.2</a:t>
            </a:r>
          </a:p>
        </p:txBody>
      </p:sp>
      <p:sp>
        <p:nvSpPr>
          <p:cNvPr id="45" name="TextBox 44"/>
          <p:cNvSpPr txBox="1"/>
          <p:nvPr/>
        </p:nvSpPr>
        <p:spPr>
          <a:xfrm>
            <a:off x="640080" y="58521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Quantity (26–50 lot)</a:t>
            </a:r>
          </a:p>
        </p:txBody>
      </p:sp>
      <p:sp>
        <p:nvSpPr>
          <p:cNvPr id="46" name="TextBox 45"/>
          <p:cNvSpPr txBox="1"/>
          <p:nvPr/>
        </p:nvSpPr>
        <p:spPr>
          <a:xfrm>
            <a:off x="2788920" y="58521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2 acc + 1 van</a:t>
            </a:r>
          </a:p>
        </p:txBody>
      </p:sp>
      <p:sp>
        <p:nvSpPr>
          <p:cNvPr id="47" name="TextBox 46"/>
          <p:cNvSpPr txBox="1"/>
          <p:nvPr/>
        </p:nvSpPr>
        <p:spPr>
          <a:xfrm>
            <a:off x="4434840" y="58521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208.2</a:t>
            </a:r>
          </a:p>
        </p:txBody>
      </p:sp>
      <p:sp>
        <p:nvSpPr>
          <p:cNvPr id="48" name="Rectangle 47"/>
          <p:cNvSpPr/>
          <p:nvPr/>
        </p:nvSpPr>
        <p:spPr>
          <a:xfrm>
            <a:off x="6263640" y="1417320"/>
            <a:ext cx="54864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263640" y="1417320"/>
            <a:ext cx="54864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63640" y="1417320"/>
            <a:ext cx="548640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ACCESSIBLE ROUTES</a:t>
            </a:r>
          </a:p>
        </p:txBody>
      </p:sp>
      <p:sp>
        <p:nvSpPr>
          <p:cNvPr id="51" name="TextBox 50"/>
          <p:cNvSpPr txBox="1"/>
          <p:nvPr/>
        </p:nvSpPr>
        <p:spPr>
          <a:xfrm>
            <a:off x="6400800" y="18288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Minimum width</a:t>
            </a:r>
          </a:p>
        </p:txBody>
      </p:sp>
      <p:sp>
        <p:nvSpPr>
          <p:cNvPr id="52" name="TextBox 51"/>
          <p:cNvSpPr txBox="1"/>
          <p:nvPr/>
        </p:nvSpPr>
        <p:spPr>
          <a:xfrm>
            <a:off x="8549640" y="18288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36" (32" at point)</a:t>
            </a:r>
          </a:p>
        </p:txBody>
      </p:sp>
      <p:sp>
        <p:nvSpPr>
          <p:cNvPr id="53" name="TextBox 52"/>
          <p:cNvSpPr txBox="1"/>
          <p:nvPr/>
        </p:nvSpPr>
        <p:spPr>
          <a:xfrm>
            <a:off x="10195560" y="18288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403.5</a:t>
            </a:r>
          </a:p>
        </p:txBody>
      </p:sp>
      <p:sp>
        <p:nvSpPr>
          <p:cNvPr id="54" name="TextBox 53"/>
          <p:cNvSpPr txBox="1"/>
          <p:nvPr/>
        </p:nvSpPr>
        <p:spPr>
          <a:xfrm>
            <a:off x="6400800" y="21945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Width at 90° turn</a:t>
            </a:r>
          </a:p>
        </p:txBody>
      </p:sp>
      <p:sp>
        <p:nvSpPr>
          <p:cNvPr id="55" name="TextBox 54"/>
          <p:cNvSpPr txBox="1"/>
          <p:nvPr/>
        </p:nvSpPr>
        <p:spPr>
          <a:xfrm>
            <a:off x="8549640" y="21945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48" if route &lt; 48"</a:t>
            </a:r>
          </a:p>
        </p:txBody>
      </p:sp>
      <p:sp>
        <p:nvSpPr>
          <p:cNvPr id="56" name="TextBox 55"/>
          <p:cNvSpPr txBox="1"/>
          <p:nvPr/>
        </p:nvSpPr>
        <p:spPr>
          <a:xfrm>
            <a:off x="10195560" y="21945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403.5.2</a:t>
            </a:r>
          </a:p>
        </p:txBody>
      </p:sp>
      <p:sp>
        <p:nvSpPr>
          <p:cNvPr id="57" name="TextBox 56"/>
          <p:cNvSpPr txBox="1"/>
          <p:nvPr/>
        </p:nvSpPr>
        <p:spPr>
          <a:xfrm>
            <a:off x="6400800" y="25603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Running slope (route)</a:t>
            </a:r>
          </a:p>
        </p:txBody>
      </p:sp>
      <p:sp>
        <p:nvSpPr>
          <p:cNvPr id="58" name="TextBox 57"/>
          <p:cNvSpPr txBox="1"/>
          <p:nvPr/>
        </p:nvSpPr>
        <p:spPr>
          <a:xfrm>
            <a:off x="8549640" y="25603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1:20 max</a:t>
            </a:r>
          </a:p>
        </p:txBody>
      </p:sp>
      <p:sp>
        <p:nvSpPr>
          <p:cNvPr id="59" name="TextBox 58"/>
          <p:cNvSpPr txBox="1"/>
          <p:nvPr/>
        </p:nvSpPr>
        <p:spPr>
          <a:xfrm>
            <a:off x="10195560" y="25603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403.3</a:t>
            </a:r>
          </a:p>
        </p:txBody>
      </p:sp>
      <p:sp>
        <p:nvSpPr>
          <p:cNvPr id="60" name="TextBox 59"/>
          <p:cNvSpPr txBox="1"/>
          <p:nvPr/>
        </p:nvSpPr>
        <p:spPr>
          <a:xfrm>
            <a:off x="6400800" y="29260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Cross slope</a:t>
            </a:r>
          </a:p>
        </p:txBody>
      </p:sp>
      <p:sp>
        <p:nvSpPr>
          <p:cNvPr id="61" name="TextBox 60"/>
          <p:cNvSpPr txBox="1"/>
          <p:nvPr/>
        </p:nvSpPr>
        <p:spPr>
          <a:xfrm>
            <a:off x="8549640" y="29260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1:48 (2.1%) max</a:t>
            </a:r>
          </a:p>
        </p:txBody>
      </p:sp>
      <p:sp>
        <p:nvSpPr>
          <p:cNvPr id="62" name="TextBox 61"/>
          <p:cNvSpPr txBox="1"/>
          <p:nvPr/>
        </p:nvSpPr>
        <p:spPr>
          <a:xfrm>
            <a:off x="10195560" y="29260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403.3</a:t>
            </a:r>
          </a:p>
        </p:txBody>
      </p:sp>
      <p:sp>
        <p:nvSpPr>
          <p:cNvPr id="63" name="TextBox 62"/>
          <p:cNvSpPr txBox="1"/>
          <p:nvPr/>
        </p:nvSpPr>
        <p:spPr>
          <a:xfrm>
            <a:off x="6400800" y="32918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Passing spaces</a:t>
            </a:r>
          </a:p>
        </p:txBody>
      </p:sp>
      <p:sp>
        <p:nvSpPr>
          <p:cNvPr id="64" name="TextBox 63"/>
          <p:cNvSpPr txBox="1"/>
          <p:nvPr/>
        </p:nvSpPr>
        <p:spPr>
          <a:xfrm>
            <a:off x="8549640" y="32918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60"×60" every 200'</a:t>
            </a:r>
          </a:p>
        </p:txBody>
      </p:sp>
      <p:sp>
        <p:nvSpPr>
          <p:cNvPr id="65" name="TextBox 64"/>
          <p:cNvSpPr txBox="1"/>
          <p:nvPr/>
        </p:nvSpPr>
        <p:spPr>
          <a:xfrm>
            <a:off x="10195560" y="32918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403.5.3</a:t>
            </a:r>
          </a:p>
        </p:txBody>
      </p:sp>
      <p:sp>
        <p:nvSpPr>
          <p:cNvPr id="66" name="TextBox 65"/>
          <p:cNvSpPr txBox="1"/>
          <p:nvPr/>
        </p:nvSpPr>
        <p:spPr>
          <a:xfrm>
            <a:off x="6400800" y="36576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Surface — firm, stable</a:t>
            </a:r>
          </a:p>
        </p:txBody>
      </p:sp>
      <p:sp>
        <p:nvSpPr>
          <p:cNvPr id="67" name="TextBox 66"/>
          <p:cNvSpPr txBox="1"/>
          <p:nvPr/>
        </p:nvSpPr>
        <p:spPr>
          <a:xfrm>
            <a:off x="8549640" y="36576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No loose gravel</a:t>
            </a:r>
          </a:p>
        </p:txBody>
      </p:sp>
      <p:sp>
        <p:nvSpPr>
          <p:cNvPr id="68" name="TextBox 67"/>
          <p:cNvSpPr txBox="1"/>
          <p:nvPr/>
        </p:nvSpPr>
        <p:spPr>
          <a:xfrm>
            <a:off x="10195560" y="36576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302.1</a:t>
            </a:r>
          </a:p>
        </p:txBody>
      </p:sp>
      <p:sp>
        <p:nvSpPr>
          <p:cNvPr id="69" name="TextBox 68"/>
          <p:cNvSpPr txBox="1"/>
          <p:nvPr/>
        </p:nvSpPr>
        <p:spPr>
          <a:xfrm>
            <a:off x="6400800" y="40233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Surface openings</a:t>
            </a:r>
          </a:p>
        </p:txBody>
      </p:sp>
      <p:sp>
        <p:nvSpPr>
          <p:cNvPr id="70" name="TextBox 69"/>
          <p:cNvSpPr txBox="1"/>
          <p:nvPr/>
        </p:nvSpPr>
        <p:spPr>
          <a:xfrm>
            <a:off x="8549640" y="40233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&lt; ½" any direction</a:t>
            </a:r>
          </a:p>
        </p:txBody>
      </p:sp>
      <p:sp>
        <p:nvSpPr>
          <p:cNvPr id="71" name="TextBox 70"/>
          <p:cNvSpPr txBox="1"/>
          <p:nvPr/>
        </p:nvSpPr>
        <p:spPr>
          <a:xfrm>
            <a:off x="10195560" y="40233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302.3</a:t>
            </a:r>
          </a:p>
        </p:txBody>
      </p:sp>
      <p:sp>
        <p:nvSpPr>
          <p:cNvPr id="72" name="TextBox 71"/>
          <p:cNvSpPr txBox="1"/>
          <p:nvPr/>
        </p:nvSpPr>
        <p:spPr>
          <a:xfrm>
            <a:off x="6400800" y="43891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Vertical change ≤ ¼"</a:t>
            </a:r>
          </a:p>
        </p:txBody>
      </p:sp>
      <p:sp>
        <p:nvSpPr>
          <p:cNvPr id="73" name="TextBox 72"/>
          <p:cNvSpPr txBox="1"/>
          <p:nvPr/>
        </p:nvSpPr>
        <p:spPr>
          <a:xfrm>
            <a:off x="8549640" y="43891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OK unbeveled</a:t>
            </a:r>
          </a:p>
        </p:txBody>
      </p:sp>
      <p:sp>
        <p:nvSpPr>
          <p:cNvPr id="74" name="TextBox 73"/>
          <p:cNvSpPr txBox="1"/>
          <p:nvPr/>
        </p:nvSpPr>
        <p:spPr>
          <a:xfrm>
            <a:off x="10195560" y="43891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303.2</a:t>
            </a:r>
          </a:p>
        </p:txBody>
      </p:sp>
      <p:sp>
        <p:nvSpPr>
          <p:cNvPr id="75" name="TextBox 74"/>
          <p:cNvSpPr txBox="1"/>
          <p:nvPr/>
        </p:nvSpPr>
        <p:spPr>
          <a:xfrm>
            <a:off x="6400800" y="47548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Vertical change ¼"–½"</a:t>
            </a:r>
          </a:p>
        </p:txBody>
      </p:sp>
      <p:sp>
        <p:nvSpPr>
          <p:cNvPr id="76" name="TextBox 75"/>
          <p:cNvSpPr txBox="1"/>
          <p:nvPr/>
        </p:nvSpPr>
        <p:spPr>
          <a:xfrm>
            <a:off x="8549640" y="47548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Beveled 1:2</a:t>
            </a:r>
          </a:p>
        </p:txBody>
      </p:sp>
      <p:sp>
        <p:nvSpPr>
          <p:cNvPr id="77" name="TextBox 76"/>
          <p:cNvSpPr txBox="1"/>
          <p:nvPr/>
        </p:nvSpPr>
        <p:spPr>
          <a:xfrm>
            <a:off x="10195560" y="47548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303.3</a:t>
            </a:r>
          </a:p>
        </p:txBody>
      </p:sp>
      <p:sp>
        <p:nvSpPr>
          <p:cNvPr id="78" name="TextBox 77"/>
          <p:cNvSpPr txBox="1"/>
          <p:nvPr/>
        </p:nvSpPr>
        <p:spPr>
          <a:xfrm>
            <a:off x="6400800" y="51206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Vertical change &gt; ½"</a:t>
            </a:r>
          </a:p>
        </p:txBody>
      </p:sp>
      <p:sp>
        <p:nvSpPr>
          <p:cNvPr id="79" name="TextBox 78"/>
          <p:cNvSpPr txBox="1"/>
          <p:nvPr/>
        </p:nvSpPr>
        <p:spPr>
          <a:xfrm>
            <a:off x="8549640" y="51206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Ramp required</a:t>
            </a:r>
          </a:p>
        </p:txBody>
      </p:sp>
      <p:sp>
        <p:nvSpPr>
          <p:cNvPr id="80" name="TextBox 79"/>
          <p:cNvSpPr txBox="1"/>
          <p:nvPr/>
        </p:nvSpPr>
        <p:spPr>
          <a:xfrm>
            <a:off x="10195560" y="51206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303.4</a:t>
            </a:r>
          </a:p>
        </p:txBody>
      </p:sp>
      <p:sp>
        <p:nvSpPr>
          <p:cNvPr id="81" name="TextBox 80"/>
          <p:cNvSpPr txBox="1"/>
          <p:nvPr/>
        </p:nvSpPr>
        <p:spPr>
          <a:xfrm>
            <a:off x="6400800" y="54864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Protruding objects</a:t>
            </a:r>
          </a:p>
        </p:txBody>
      </p:sp>
      <p:sp>
        <p:nvSpPr>
          <p:cNvPr id="82" name="TextBox 81"/>
          <p:cNvSpPr txBox="1"/>
          <p:nvPr/>
        </p:nvSpPr>
        <p:spPr>
          <a:xfrm>
            <a:off x="8549640" y="54864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 4" if 27"–80" AFF</a:t>
            </a:r>
          </a:p>
        </p:txBody>
      </p:sp>
      <p:sp>
        <p:nvSpPr>
          <p:cNvPr id="83" name="TextBox 82"/>
          <p:cNvSpPr txBox="1"/>
          <p:nvPr/>
        </p:nvSpPr>
        <p:spPr>
          <a:xfrm>
            <a:off x="10195560" y="54864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307.2</a:t>
            </a:r>
          </a:p>
        </p:txBody>
      </p:sp>
      <p:sp>
        <p:nvSpPr>
          <p:cNvPr id="84" name="TextBox 83"/>
          <p:cNvSpPr txBox="1"/>
          <p:nvPr/>
        </p:nvSpPr>
        <p:spPr>
          <a:xfrm>
            <a:off x="6400800" y="58521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Headroom</a:t>
            </a:r>
          </a:p>
        </p:txBody>
      </p:sp>
      <p:sp>
        <p:nvSpPr>
          <p:cNvPr id="85" name="TextBox 84"/>
          <p:cNvSpPr txBox="1"/>
          <p:nvPr/>
        </p:nvSpPr>
        <p:spPr>
          <a:xfrm>
            <a:off x="8549640" y="58521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80" min clear</a:t>
            </a:r>
          </a:p>
        </p:txBody>
      </p:sp>
      <p:sp>
        <p:nvSpPr>
          <p:cNvPr id="86" name="TextBox 85"/>
          <p:cNvSpPr txBox="1"/>
          <p:nvPr/>
        </p:nvSpPr>
        <p:spPr>
          <a:xfrm>
            <a:off x="10195560" y="58521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307.4</a:t>
            </a:r>
          </a:p>
        </p:txBody>
      </p:sp>
      <p:sp>
        <p:nvSpPr>
          <p:cNvPr id="87" name="TextBox 86"/>
          <p:cNvSpPr txBox="1"/>
          <p:nvPr/>
        </p:nvSpPr>
        <p:spPr>
          <a:xfrm>
            <a:off x="502920" y="6446520"/>
            <a:ext cx="11247120" cy="228600"/>
          </a:xfrm>
          <a:prstGeom prst="rect">
            <a:avLst/>
          </a:prstGeom>
          <a:noFill/>
        </p:spPr>
        <p:txBody>
          <a:bodyPr wrap="square" lIns="45720" rIns="45720" tIns="18288" bIns="18288" anchor="t">
            <a:spAutoFit/>
          </a:bodyPr>
          <a:lstStyle/>
          <a:p>
            <a:pPr algn="ctr"/>
            <a:r>
              <a:rPr sz="1000" b="0" i="1">
                <a:solidFill>
                  <a:srgbClr val="6B6659"/>
                </a:solidFill>
                <a:latin typeface="Consolas"/>
              </a:rPr>
              <a:t>All cites are 2010 ADA. Match standard to construction date before using these numbers.</a:t>
            </a:r>
          </a:p>
        </p:txBody>
      </p:sp>
      <p:sp>
        <p:nvSpPr>
          <p:cNvPr id="88" name="TextBox 87"/>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89" name="TextBox 88"/>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39 / 63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40 · REFERENCE</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Quick reference — doors, ramps &amp; stairs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54864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17320"/>
            <a:ext cx="54864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548640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DOORS</a:t>
            </a:r>
          </a:p>
        </p:txBody>
      </p:sp>
      <p:sp>
        <p:nvSpPr>
          <p:cNvPr id="12" name="TextBox 11"/>
          <p:cNvSpPr txBox="1"/>
          <p:nvPr/>
        </p:nvSpPr>
        <p:spPr>
          <a:xfrm>
            <a:off x="640080" y="18288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Clear width</a:t>
            </a:r>
          </a:p>
        </p:txBody>
      </p:sp>
      <p:sp>
        <p:nvSpPr>
          <p:cNvPr id="13" name="TextBox 12"/>
          <p:cNvSpPr txBox="1"/>
          <p:nvPr/>
        </p:nvSpPr>
        <p:spPr>
          <a:xfrm>
            <a:off x="2788920" y="18288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32" min</a:t>
            </a:r>
          </a:p>
        </p:txBody>
      </p:sp>
      <p:sp>
        <p:nvSpPr>
          <p:cNvPr id="14" name="TextBox 13"/>
          <p:cNvSpPr txBox="1"/>
          <p:nvPr/>
        </p:nvSpPr>
        <p:spPr>
          <a:xfrm>
            <a:off x="4434840" y="18288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404.2.3</a:t>
            </a:r>
          </a:p>
        </p:txBody>
      </p:sp>
      <p:sp>
        <p:nvSpPr>
          <p:cNvPr id="15" name="TextBox 14"/>
          <p:cNvSpPr txBox="1"/>
          <p:nvPr/>
        </p:nvSpPr>
        <p:spPr>
          <a:xfrm>
            <a:off x="640080" y="21945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Maneuvering — pull</a:t>
            </a:r>
          </a:p>
        </p:txBody>
      </p:sp>
      <p:sp>
        <p:nvSpPr>
          <p:cNvPr id="16" name="TextBox 15"/>
          <p:cNvSpPr txBox="1"/>
          <p:nvPr/>
        </p:nvSpPr>
        <p:spPr>
          <a:xfrm>
            <a:off x="2788920" y="21945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18" beyond latch</a:t>
            </a:r>
          </a:p>
        </p:txBody>
      </p:sp>
      <p:sp>
        <p:nvSpPr>
          <p:cNvPr id="17" name="TextBox 16"/>
          <p:cNvSpPr txBox="1"/>
          <p:nvPr/>
        </p:nvSpPr>
        <p:spPr>
          <a:xfrm>
            <a:off x="4434840" y="21945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404.2.4.1</a:t>
            </a:r>
          </a:p>
        </p:txBody>
      </p:sp>
      <p:sp>
        <p:nvSpPr>
          <p:cNvPr id="18" name="TextBox 17"/>
          <p:cNvSpPr txBox="1"/>
          <p:nvPr/>
        </p:nvSpPr>
        <p:spPr>
          <a:xfrm>
            <a:off x="640080" y="25603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Maneuvering — push</a:t>
            </a:r>
          </a:p>
        </p:txBody>
      </p:sp>
      <p:sp>
        <p:nvSpPr>
          <p:cNvPr id="19" name="TextBox 18"/>
          <p:cNvSpPr txBox="1"/>
          <p:nvPr/>
        </p:nvSpPr>
        <p:spPr>
          <a:xfrm>
            <a:off x="2788920" y="25603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12" beyond latch w/ closer</a:t>
            </a:r>
          </a:p>
        </p:txBody>
      </p:sp>
      <p:sp>
        <p:nvSpPr>
          <p:cNvPr id="20" name="TextBox 19"/>
          <p:cNvSpPr txBox="1"/>
          <p:nvPr/>
        </p:nvSpPr>
        <p:spPr>
          <a:xfrm>
            <a:off x="4434840" y="25603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404.2.4.1</a:t>
            </a:r>
          </a:p>
        </p:txBody>
      </p:sp>
      <p:sp>
        <p:nvSpPr>
          <p:cNvPr id="21" name="TextBox 20"/>
          <p:cNvSpPr txBox="1"/>
          <p:nvPr/>
        </p:nvSpPr>
        <p:spPr>
          <a:xfrm>
            <a:off x="640080" y="29260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Threshold</a:t>
            </a:r>
          </a:p>
        </p:txBody>
      </p:sp>
      <p:sp>
        <p:nvSpPr>
          <p:cNvPr id="22" name="TextBox 21"/>
          <p:cNvSpPr txBox="1"/>
          <p:nvPr/>
        </p:nvSpPr>
        <p:spPr>
          <a:xfrm>
            <a:off x="2788920" y="29260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½" max, beveled</a:t>
            </a:r>
          </a:p>
        </p:txBody>
      </p:sp>
      <p:sp>
        <p:nvSpPr>
          <p:cNvPr id="23" name="TextBox 22"/>
          <p:cNvSpPr txBox="1"/>
          <p:nvPr/>
        </p:nvSpPr>
        <p:spPr>
          <a:xfrm>
            <a:off x="4434840" y="29260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404.2.5</a:t>
            </a:r>
          </a:p>
        </p:txBody>
      </p:sp>
      <p:sp>
        <p:nvSpPr>
          <p:cNvPr id="24" name="TextBox 23"/>
          <p:cNvSpPr txBox="1"/>
          <p:nvPr/>
        </p:nvSpPr>
        <p:spPr>
          <a:xfrm>
            <a:off x="640080" y="32918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Hardware operation</a:t>
            </a:r>
          </a:p>
        </p:txBody>
      </p:sp>
      <p:sp>
        <p:nvSpPr>
          <p:cNvPr id="25" name="TextBox 24"/>
          <p:cNvSpPr txBox="1"/>
          <p:nvPr/>
        </p:nvSpPr>
        <p:spPr>
          <a:xfrm>
            <a:off x="2788920" y="32918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Closed-fist usable; 5 lbf</a:t>
            </a:r>
          </a:p>
        </p:txBody>
      </p:sp>
      <p:sp>
        <p:nvSpPr>
          <p:cNvPr id="26" name="TextBox 25"/>
          <p:cNvSpPr txBox="1"/>
          <p:nvPr/>
        </p:nvSpPr>
        <p:spPr>
          <a:xfrm>
            <a:off x="4434840" y="32918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404.2.7</a:t>
            </a:r>
          </a:p>
        </p:txBody>
      </p:sp>
      <p:sp>
        <p:nvSpPr>
          <p:cNvPr id="27" name="TextBox 26"/>
          <p:cNvSpPr txBox="1"/>
          <p:nvPr/>
        </p:nvSpPr>
        <p:spPr>
          <a:xfrm>
            <a:off x="640080" y="36576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Hardware height</a:t>
            </a:r>
          </a:p>
        </p:txBody>
      </p:sp>
      <p:sp>
        <p:nvSpPr>
          <p:cNvPr id="28" name="TextBox 27"/>
          <p:cNvSpPr txBox="1"/>
          <p:nvPr/>
        </p:nvSpPr>
        <p:spPr>
          <a:xfrm>
            <a:off x="2788920" y="36576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34"–48" above floor</a:t>
            </a:r>
          </a:p>
        </p:txBody>
      </p:sp>
      <p:sp>
        <p:nvSpPr>
          <p:cNvPr id="29" name="TextBox 28"/>
          <p:cNvSpPr txBox="1"/>
          <p:nvPr/>
        </p:nvSpPr>
        <p:spPr>
          <a:xfrm>
            <a:off x="4434840" y="36576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404.2.7</a:t>
            </a:r>
          </a:p>
        </p:txBody>
      </p:sp>
      <p:sp>
        <p:nvSpPr>
          <p:cNvPr id="30" name="TextBox 29"/>
          <p:cNvSpPr txBox="1"/>
          <p:nvPr/>
        </p:nvSpPr>
        <p:spPr>
          <a:xfrm>
            <a:off x="640080" y="40233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Opening force int.</a:t>
            </a:r>
          </a:p>
        </p:txBody>
      </p:sp>
      <p:sp>
        <p:nvSpPr>
          <p:cNvPr id="31" name="TextBox 30"/>
          <p:cNvSpPr txBox="1"/>
          <p:nvPr/>
        </p:nvSpPr>
        <p:spPr>
          <a:xfrm>
            <a:off x="2788920" y="40233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5 lbf max</a:t>
            </a:r>
          </a:p>
        </p:txBody>
      </p:sp>
      <p:sp>
        <p:nvSpPr>
          <p:cNvPr id="32" name="TextBox 31"/>
          <p:cNvSpPr txBox="1"/>
          <p:nvPr/>
        </p:nvSpPr>
        <p:spPr>
          <a:xfrm>
            <a:off x="4434840" y="40233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404.2.9</a:t>
            </a:r>
          </a:p>
        </p:txBody>
      </p:sp>
      <p:sp>
        <p:nvSpPr>
          <p:cNvPr id="33" name="TextBox 32"/>
          <p:cNvSpPr txBox="1"/>
          <p:nvPr/>
        </p:nvSpPr>
        <p:spPr>
          <a:xfrm>
            <a:off x="640080" y="43891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Closing speed</a:t>
            </a:r>
          </a:p>
        </p:txBody>
      </p:sp>
      <p:sp>
        <p:nvSpPr>
          <p:cNvPr id="34" name="TextBox 33"/>
          <p:cNvSpPr txBox="1"/>
          <p:nvPr/>
        </p:nvSpPr>
        <p:spPr>
          <a:xfrm>
            <a:off x="2788920" y="43891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 5 sec to 12° from latch</a:t>
            </a:r>
          </a:p>
        </p:txBody>
      </p:sp>
      <p:sp>
        <p:nvSpPr>
          <p:cNvPr id="35" name="TextBox 34"/>
          <p:cNvSpPr txBox="1"/>
          <p:nvPr/>
        </p:nvSpPr>
        <p:spPr>
          <a:xfrm>
            <a:off x="4434840" y="43891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404.2.8</a:t>
            </a:r>
          </a:p>
        </p:txBody>
      </p:sp>
      <p:sp>
        <p:nvSpPr>
          <p:cNvPr id="36" name="TextBox 35"/>
          <p:cNvSpPr txBox="1"/>
          <p:nvPr/>
        </p:nvSpPr>
        <p:spPr>
          <a:xfrm>
            <a:off x="640080" y="47548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Vision lite (if any)</a:t>
            </a:r>
          </a:p>
        </p:txBody>
      </p:sp>
      <p:sp>
        <p:nvSpPr>
          <p:cNvPr id="37" name="TextBox 36"/>
          <p:cNvSpPr txBox="1"/>
          <p:nvPr/>
        </p:nvSpPr>
        <p:spPr>
          <a:xfrm>
            <a:off x="2788920" y="47548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 43" to bottom</a:t>
            </a:r>
          </a:p>
        </p:txBody>
      </p:sp>
      <p:sp>
        <p:nvSpPr>
          <p:cNvPr id="38" name="TextBox 37"/>
          <p:cNvSpPr txBox="1"/>
          <p:nvPr/>
        </p:nvSpPr>
        <p:spPr>
          <a:xfrm>
            <a:off x="4434840" y="47548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404.2.11</a:t>
            </a:r>
          </a:p>
        </p:txBody>
      </p:sp>
      <p:sp>
        <p:nvSpPr>
          <p:cNvPr id="39" name="TextBox 38"/>
          <p:cNvSpPr txBox="1"/>
          <p:nvPr/>
        </p:nvSpPr>
        <p:spPr>
          <a:xfrm>
            <a:off x="640080" y="51206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Manual revolving</a:t>
            </a:r>
          </a:p>
        </p:txBody>
      </p:sp>
      <p:sp>
        <p:nvSpPr>
          <p:cNvPr id="40" name="TextBox 39"/>
          <p:cNvSpPr txBox="1"/>
          <p:nvPr/>
        </p:nvSpPr>
        <p:spPr>
          <a:xfrm>
            <a:off x="2788920" y="51206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Not permitted as sole</a:t>
            </a:r>
          </a:p>
        </p:txBody>
      </p:sp>
      <p:sp>
        <p:nvSpPr>
          <p:cNvPr id="41" name="TextBox 40"/>
          <p:cNvSpPr txBox="1"/>
          <p:nvPr/>
        </p:nvSpPr>
        <p:spPr>
          <a:xfrm>
            <a:off x="4434840" y="51206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404.1</a:t>
            </a:r>
          </a:p>
        </p:txBody>
      </p:sp>
      <p:sp>
        <p:nvSpPr>
          <p:cNvPr id="42" name="TextBox 41"/>
          <p:cNvSpPr txBox="1"/>
          <p:nvPr/>
        </p:nvSpPr>
        <p:spPr>
          <a:xfrm>
            <a:off x="640080" y="54864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Auto operators</a:t>
            </a:r>
          </a:p>
        </p:txBody>
      </p:sp>
      <p:sp>
        <p:nvSpPr>
          <p:cNvPr id="43" name="TextBox 42"/>
          <p:cNvSpPr txBox="1"/>
          <p:nvPr/>
        </p:nvSpPr>
        <p:spPr>
          <a:xfrm>
            <a:off x="2788920" y="54864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5 lb max actuation</a:t>
            </a:r>
          </a:p>
        </p:txBody>
      </p:sp>
      <p:sp>
        <p:nvSpPr>
          <p:cNvPr id="44" name="TextBox 43"/>
          <p:cNvSpPr txBox="1"/>
          <p:nvPr/>
        </p:nvSpPr>
        <p:spPr>
          <a:xfrm>
            <a:off x="4434840" y="54864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404.3</a:t>
            </a:r>
          </a:p>
        </p:txBody>
      </p:sp>
      <p:sp>
        <p:nvSpPr>
          <p:cNvPr id="45" name="TextBox 44"/>
          <p:cNvSpPr txBox="1"/>
          <p:nvPr/>
        </p:nvSpPr>
        <p:spPr>
          <a:xfrm>
            <a:off x="640080" y="58521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Surface ≥ 10" base</a:t>
            </a:r>
          </a:p>
        </p:txBody>
      </p:sp>
      <p:sp>
        <p:nvSpPr>
          <p:cNvPr id="46" name="TextBox 45"/>
          <p:cNvSpPr txBox="1"/>
          <p:nvPr/>
        </p:nvSpPr>
        <p:spPr>
          <a:xfrm>
            <a:off x="2788920" y="58521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Smooth, kick plate</a:t>
            </a:r>
          </a:p>
        </p:txBody>
      </p:sp>
      <p:sp>
        <p:nvSpPr>
          <p:cNvPr id="47" name="TextBox 46"/>
          <p:cNvSpPr txBox="1"/>
          <p:nvPr/>
        </p:nvSpPr>
        <p:spPr>
          <a:xfrm>
            <a:off x="4434840" y="58521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404.2.10</a:t>
            </a:r>
          </a:p>
        </p:txBody>
      </p:sp>
      <p:sp>
        <p:nvSpPr>
          <p:cNvPr id="48" name="Rectangle 47"/>
          <p:cNvSpPr/>
          <p:nvPr/>
        </p:nvSpPr>
        <p:spPr>
          <a:xfrm>
            <a:off x="6263640" y="1417320"/>
            <a:ext cx="54864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263640" y="1417320"/>
            <a:ext cx="54864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63640" y="1417320"/>
            <a:ext cx="548640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RAMPS &amp; STAIRS</a:t>
            </a:r>
          </a:p>
        </p:txBody>
      </p:sp>
      <p:sp>
        <p:nvSpPr>
          <p:cNvPr id="51" name="TextBox 50"/>
          <p:cNvSpPr txBox="1"/>
          <p:nvPr/>
        </p:nvSpPr>
        <p:spPr>
          <a:xfrm>
            <a:off x="6400800" y="18288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Ramp running slope</a:t>
            </a:r>
          </a:p>
        </p:txBody>
      </p:sp>
      <p:sp>
        <p:nvSpPr>
          <p:cNvPr id="52" name="TextBox 51"/>
          <p:cNvSpPr txBox="1"/>
          <p:nvPr/>
        </p:nvSpPr>
        <p:spPr>
          <a:xfrm>
            <a:off x="8549640" y="18288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1:12 max</a:t>
            </a:r>
          </a:p>
        </p:txBody>
      </p:sp>
      <p:sp>
        <p:nvSpPr>
          <p:cNvPr id="53" name="TextBox 52"/>
          <p:cNvSpPr txBox="1"/>
          <p:nvPr/>
        </p:nvSpPr>
        <p:spPr>
          <a:xfrm>
            <a:off x="10195560" y="18288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405.2</a:t>
            </a:r>
          </a:p>
        </p:txBody>
      </p:sp>
      <p:sp>
        <p:nvSpPr>
          <p:cNvPr id="54" name="TextBox 53"/>
          <p:cNvSpPr txBox="1"/>
          <p:nvPr/>
        </p:nvSpPr>
        <p:spPr>
          <a:xfrm>
            <a:off x="6400800" y="21945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Ramp cross slope</a:t>
            </a:r>
          </a:p>
        </p:txBody>
      </p:sp>
      <p:sp>
        <p:nvSpPr>
          <p:cNvPr id="55" name="TextBox 54"/>
          <p:cNvSpPr txBox="1"/>
          <p:nvPr/>
        </p:nvSpPr>
        <p:spPr>
          <a:xfrm>
            <a:off x="8549640" y="21945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1:48 (2.1%) max</a:t>
            </a:r>
          </a:p>
        </p:txBody>
      </p:sp>
      <p:sp>
        <p:nvSpPr>
          <p:cNvPr id="56" name="TextBox 55"/>
          <p:cNvSpPr txBox="1"/>
          <p:nvPr/>
        </p:nvSpPr>
        <p:spPr>
          <a:xfrm>
            <a:off x="10195560" y="21945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405.3</a:t>
            </a:r>
          </a:p>
        </p:txBody>
      </p:sp>
      <p:sp>
        <p:nvSpPr>
          <p:cNvPr id="57" name="TextBox 56"/>
          <p:cNvSpPr txBox="1"/>
          <p:nvPr/>
        </p:nvSpPr>
        <p:spPr>
          <a:xfrm>
            <a:off x="6400800" y="25603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Rise between landings</a:t>
            </a:r>
          </a:p>
        </p:txBody>
      </p:sp>
      <p:sp>
        <p:nvSpPr>
          <p:cNvPr id="58" name="TextBox 57"/>
          <p:cNvSpPr txBox="1"/>
          <p:nvPr/>
        </p:nvSpPr>
        <p:spPr>
          <a:xfrm>
            <a:off x="8549640" y="25603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30" max</a:t>
            </a:r>
          </a:p>
        </p:txBody>
      </p:sp>
      <p:sp>
        <p:nvSpPr>
          <p:cNvPr id="59" name="TextBox 58"/>
          <p:cNvSpPr txBox="1"/>
          <p:nvPr/>
        </p:nvSpPr>
        <p:spPr>
          <a:xfrm>
            <a:off x="10195560" y="25603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405.6</a:t>
            </a:r>
          </a:p>
        </p:txBody>
      </p:sp>
      <p:sp>
        <p:nvSpPr>
          <p:cNvPr id="60" name="TextBox 59"/>
          <p:cNvSpPr txBox="1"/>
          <p:nvPr/>
        </p:nvSpPr>
        <p:spPr>
          <a:xfrm>
            <a:off x="6400800" y="29260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Landings</a:t>
            </a:r>
          </a:p>
        </p:txBody>
      </p:sp>
      <p:sp>
        <p:nvSpPr>
          <p:cNvPr id="61" name="TextBox 60"/>
          <p:cNvSpPr txBox="1"/>
          <p:nvPr/>
        </p:nvSpPr>
        <p:spPr>
          <a:xfrm>
            <a:off x="8549640" y="29260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60" min length</a:t>
            </a:r>
          </a:p>
        </p:txBody>
      </p:sp>
      <p:sp>
        <p:nvSpPr>
          <p:cNvPr id="62" name="TextBox 61"/>
          <p:cNvSpPr txBox="1"/>
          <p:nvPr/>
        </p:nvSpPr>
        <p:spPr>
          <a:xfrm>
            <a:off x="10195560" y="29260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405.7</a:t>
            </a:r>
          </a:p>
        </p:txBody>
      </p:sp>
      <p:sp>
        <p:nvSpPr>
          <p:cNvPr id="63" name="TextBox 62"/>
          <p:cNvSpPr txBox="1"/>
          <p:nvPr/>
        </p:nvSpPr>
        <p:spPr>
          <a:xfrm>
            <a:off x="6400800" y="32918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Landing at door</a:t>
            </a:r>
          </a:p>
        </p:txBody>
      </p:sp>
      <p:sp>
        <p:nvSpPr>
          <p:cNvPr id="64" name="TextBox 63"/>
          <p:cNvSpPr txBox="1"/>
          <p:nvPr/>
        </p:nvSpPr>
        <p:spPr>
          <a:xfrm>
            <a:off x="8549640" y="32918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60" × maneuv. clr.</a:t>
            </a:r>
          </a:p>
        </p:txBody>
      </p:sp>
      <p:sp>
        <p:nvSpPr>
          <p:cNvPr id="65" name="TextBox 64"/>
          <p:cNvSpPr txBox="1"/>
          <p:nvPr/>
        </p:nvSpPr>
        <p:spPr>
          <a:xfrm>
            <a:off x="10195560" y="32918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405.7.5</a:t>
            </a:r>
          </a:p>
        </p:txBody>
      </p:sp>
      <p:sp>
        <p:nvSpPr>
          <p:cNvPr id="66" name="TextBox 65"/>
          <p:cNvSpPr txBox="1"/>
          <p:nvPr/>
        </p:nvSpPr>
        <p:spPr>
          <a:xfrm>
            <a:off x="6400800" y="36576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Edge protection</a:t>
            </a:r>
          </a:p>
        </p:txBody>
      </p:sp>
      <p:sp>
        <p:nvSpPr>
          <p:cNvPr id="67" name="TextBox 66"/>
          <p:cNvSpPr txBox="1"/>
          <p:nvPr/>
        </p:nvSpPr>
        <p:spPr>
          <a:xfrm>
            <a:off x="8549640" y="36576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4" min curb or wall</a:t>
            </a:r>
          </a:p>
        </p:txBody>
      </p:sp>
      <p:sp>
        <p:nvSpPr>
          <p:cNvPr id="68" name="TextBox 67"/>
          <p:cNvSpPr txBox="1"/>
          <p:nvPr/>
        </p:nvSpPr>
        <p:spPr>
          <a:xfrm>
            <a:off x="10195560" y="36576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405.9</a:t>
            </a:r>
          </a:p>
        </p:txBody>
      </p:sp>
      <p:sp>
        <p:nvSpPr>
          <p:cNvPr id="69" name="TextBox 68"/>
          <p:cNvSpPr txBox="1"/>
          <p:nvPr/>
        </p:nvSpPr>
        <p:spPr>
          <a:xfrm>
            <a:off x="6400800" y="40233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Handrails ramp</a:t>
            </a:r>
          </a:p>
        </p:txBody>
      </p:sp>
      <p:sp>
        <p:nvSpPr>
          <p:cNvPr id="70" name="TextBox 69"/>
          <p:cNvSpPr txBox="1"/>
          <p:nvPr/>
        </p:nvSpPr>
        <p:spPr>
          <a:xfrm>
            <a:off x="8549640" y="40233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Both sides if rise &gt; 6"</a:t>
            </a:r>
          </a:p>
        </p:txBody>
      </p:sp>
      <p:sp>
        <p:nvSpPr>
          <p:cNvPr id="71" name="TextBox 70"/>
          <p:cNvSpPr txBox="1"/>
          <p:nvPr/>
        </p:nvSpPr>
        <p:spPr>
          <a:xfrm>
            <a:off x="10195560" y="40233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405.8</a:t>
            </a:r>
          </a:p>
        </p:txBody>
      </p:sp>
      <p:sp>
        <p:nvSpPr>
          <p:cNvPr id="72" name="TextBox 71"/>
          <p:cNvSpPr txBox="1"/>
          <p:nvPr/>
        </p:nvSpPr>
        <p:spPr>
          <a:xfrm>
            <a:off x="6400800" y="43891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Handrail height</a:t>
            </a:r>
          </a:p>
        </p:txBody>
      </p:sp>
      <p:sp>
        <p:nvSpPr>
          <p:cNvPr id="73" name="TextBox 72"/>
          <p:cNvSpPr txBox="1"/>
          <p:nvPr/>
        </p:nvSpPr>
        <p:spPr>
          <a:xfrm>
            <a:off x="8549640" y="43891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34"–38"</a:t>
            </a:r>
          </a:p>
        </p:txBody>
      </p:sp>
      <p:sp>
        <p:nvSpPr>
          <p:cNvPr id="74" name="TextBox 73"/>
          <p:cNvSpPr txBox="1"/>
          <p:nvPr/>
        </p:nvSpPr>
        <p:spPr>
          <a:xfrm>
            <a:off x="10195560" y="43891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505.4</a:t>
            </a:r>
          </a:p>
        </p:txBody>
      </p:sp>
      <p:sp>
        <p:nvSpPr>
          <p:cNvPr id="75" name="TextBox 74"/>
          <p:cNvSpPr txBox="1"/>
          <p:nvPr/>
        </p:nvSpPr>
        <p:spPr>
          <a:xfrm>
            <a:off x="6400800" y="47548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Handrail extensions</a:t>
            </a:r>
          </a:p>
        </p:txBody>
      </p:sp>
      <p:sp>
        <p:nvSpPr>
          <p:cNvPr id="76" name="TextBox 75"/>
          <p:cNvSpPr txBox="1"/>
          <p:nvPr/>
        </p:nvSpPr>
        <p:spPr>
          <a:xfrm>
            <a:off x="8549640" y="47548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12" top, 12"+tread bottom</a:t>
            </a:r>
          </a:p>
        </p:txBody>
      </p:sp>
      <p:sp>
        <p:nvSpPr>
          <p:cNvPr id="77" name="TextBox 76"/>
          <p:cNvSpPr txBox="1"/>
          <p:nvPr/>
        </p:nvSpPr>
        <p:spPr>
          <a:xfrm>
            <a:off x="10195560" y="47548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505.10</a:t>
            </a:r>
          </a:p>
        </p:txBody>
      </p:sp>
      <p:sp>
        <p:nvSpPr>
          <p:cNvPr id="78" name="TextBox 77"/>
          <p:cNvSpPr txBox="1"/>
          <p:nvPr/>
        </p:nvSpPr>
        <p:spPr>
          <a:xfrm>
            <a:off x="6400800" y="51206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Stair treads</a:t>
            </a:r>
          </a:p>
        </p:txBody>
      </p:sp>
      <p:sp>
        <p:nvSpPr>
          <p:cNvPr id="79" name="TextBox 78"/>
          <p:cNvSpPr txBox="1"/>
          <p:nvPr/>
        </p:nvSpPr>
        <p:spPr>
          <a:xfrm>
            <a:off x="8549640" y="51206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11" min depth</a:t>
            </a:r>
          </a:p>
        </p:txBody>
      </p:sp>
      <p:sp>
        <p:nvSpPr>
          <p:cNvPr id="80" name="TextBox 79"/>
          <p:cNvSpPr txBox="1"/>
          <p:nvPr/>
        </p:nvSpPr>
        <p:spPr>
          <a:xfrm>
            <a:off x="10195560" y="51206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504.2</a:t>
            </a:r>
          </a:p>
        </p:txBody>
      </p:sp>
      <p:sp>
        <p:nvSpPr>
          <p:cNvPr id="81" name="TextBox 80"/>
          <p:cNvSpPr txBox="1"/>
          <p:nvPr/>
        </p:nvSpPr>
        <p:spPr>
          <a:xfrm>
            <a:off x="6400800" y="54864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Stair risers</a:t>
            </a:r>
          </a:p>
        </p:txBody>
      </p:sp>
      <p:sp>
        <p:nvSpPr>
          <p:cNvPr id="82" name="TextBox 81"/>
          <p:cNvSpPr txBox="1"/>
          <p:nvPr/>
        </p:nvSpPr>
        <p:spPr>
          <a:xfrm>
            <a:off x="8549640" y="54864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4"–7"; uniform</a:t>
            </a:r>
          </a:p>
        </p:txBody>
      </p:sp>
      <p:sp>
        <p:nvSpPr>
          <p:cNvPr id="83" name="TextBox 82"/>
          <p:cNvSpPr txBox="1"/>
          <p:nvPr/>
        </p:nvSpPr>
        <p:spPr>
          <a:xfrm>
            <a:off x="10195560" y="54864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504.2</a:t>
            </a:r>
          </a:p>
        </p:txBody>
      </p:sp>
      <p:sp>
        <p:nvSpPr>
          <p:cNvPr id="84" name="TextBox 83"/>
          <p:cNvSpPr txBox="1"/>
          <p:nvPr/>
        </p:nvSpPr>
        <p:spPr>
          <a:xfrm>
            <a:off x="6400800" y="58521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Stair nosings</a:t>
            </a:r>
          </a:p>
        </p:txBody>
      </p:sp>
      <p:sp>
        <p:nvSpPr>
          <p:cNvPr id="85" name="TextBox 84"/>
          <p:cNvSpPr txBox="1"/>
          <p:nvPr/>
        </p:nvSpPr>
        <p:spPr>
          <a:xfrm>
            <a:off x="8549640" y="58521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Contrast stripe; no projection</a:t>
            </a:r>
          </a:p>
        </p:txBody>
      </p:sp>
      <p:sp>
        <p:nvSpPr>
          <p:cNvPr id="86" name="TextBox 85"/>
          <p:cNvSpPr txBox="1"/>
          <p:nvPr/>
        </p:nvSpPr>
        <p:spPr>
          <a:xfrm>
            <a:off x="10195560" y="58521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504.5</a:t>
            </a:r>
          </a:p>
        </p:txBody>
      </p:sp>
      <p:sp>
        <p:nvSpPr>
          <p:cNvPr id="87" name="TextBox 86"/>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88" name="TextBox 87"/>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40 / 63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41 · REFERENCE</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Quick reference — restrooms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54864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17320"/>
            <a:ext cx="54864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548640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WATER CLOSET + GRAB BARS</a:t>
            </a:r>
          </a:p>
        </p:txBody>
      </p:sp>
      <p:sp>
        <p:nvSpPr>
          <p:cNvPr id="12" name="TextBox 11"/>
          <p:cNvSpPr txBox="1"/>
          <p:nvPr/>
        </p:nvSpPr>
        <p:spPr>
          <a:xfrm>
            <a:off x="640080" y="18288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Stall width</a:t>
            </a:r>
          </a:p>
        </p:txBody>
      </p:sp>
      <p:sp>
        <p:nvSpPr>
          <p:cNvPr id="13" name="TextBox 12"/>
          <p:cNvSpPr txBox="1"/>
          <p:nvPr/>
        </p:nvSpPr>
        <p:spPr>
          <a:xfrm>
            <a:off x="2788920" y="18288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60" min</a:t>
            </a:r>
          </a:p>
        </p:txBody>
      </p:sp>
      <p:sp>
        <p:nvSpPr>
          <p:cNvPr id="14" name="TextBox 13"/>
          <p:cNvSpPr txBox="1"/>
          <p:nvPr/>
        </p:nvSpPr>
        <p:spPr>
          <a:xfrm>
            <a:off x="4434840" y="18288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604.8.1.1</a:t>
            </a:r>
          </a:p>
        </p:txBody>
      </p:sp>
      <p:sp>
        <p:nvSpPr>
          <p:cNvPr id="15" name="TextBox 14"/>
          <p:cNvSpPr txBox="1"/>
          <p:nvPr/>
        </p:nvSpPr>
        <p:spPr>
          <a:xfrm>
            <a:off x="640080" y="21945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Stall depth wall-mt</a:t>
            </a:r>
          </a:p>
        </p:txBody>
      </p:sp>
      <p:sp>
        <p:nvSpPr>
          <p:cNvPr id="16" name="TextBox 15"/>
          <p:cNvSpPr txBox="1"/>
          <p:nvPr/>
        </p:nvSpPr>
        <p:spPr>
          <a:xfrm>
            <a:off x="2788920" y="21945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56" min</a:t>
            </a:r>
          </a:p>
        </p:txBody>
      </p:sp>
      <p:sp>
        <p:nvSpPr>
          <p:cNvPr id="17" name="TextBox 16"/>
          <p:cNvSpPr txBox="1"/>
          <p:nvPr/>
        </p:nvSpPr>
        <p:spPr>
          <a:xfrm>
            <a:off x="4434840" y="21945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604.8.1.1</a:t>
            </a:r>
          </a:p>
        </p:txBody>
      </p:sp>
      <p:sp>
        <p:nvSpPr>
          <p:cNvPr id="18" name="TextBox 17"/>
          <p:cNvSpPr txBox="1"/>
          <p:nvPr/>
        </p:nvSpPr>
        <p:spPr>
          <a:xfrm>
            <a:off x="640080" y="25603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Stall depth floor-mt</a:t>
            </a:r>
          </a:p>
        </p:txBody>
      </p:sp>
      <p:sp>
        <p:nvSpPr>
          <p:cNvPr id="19" name="TextBox 18"/>
          <p:cNvSpPr txBox="1"/>
          <p:nvPr/>
        </p:nvSpPr>
        <p:spPr>
          <a:xfrm>
            <a:off x="2788920" y="25603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59" min</a:t>
            </a:r>
          </a:p>
        </p:txBody>
      </p:sp>
      <p:sp>
        <p:nvSpPr>
          <p:cNvPr id="20" name="TextBox 19"/>
          <p:cNvSpPr txBox="1"/>
          <p:nvPr/>
        </p:nvSpPr>
        <p:spPr>
          <a:xfrm>
            <a:off x="4434840" y="25603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604.8.1.1</a:t>
            </a:r>
          </a:p>
        </p:txBody>
      </p:sp>
      <p:sp>
        <p:nvSpPr>
          <p:cNvPr id="21" name="TextBox 20"/>
          <p:cNvSpPr txBox="1"/>
          <p:nvPr/>
        </p:nvSpPr>
        <p:spPr>
          <a:xfrm>
            <a:off x="640080" y="29260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WC centerline</a:t>
            </a:r>
          </a:p>
        </p:txBody>
      </p:sp>
      <p:sp>
        <p:nvSpPr>
          <p:cNvPr id="22" name="TextBox 21"/>
          <p:cNvSpPr txBox="1"/>
          <p:nvPr/>
        </p:nvSpPr>
        <p:spPr>
          <a:xfrm>
            <a:off x="2788920" y="29260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16"–18" from sidewall</a:t>
            </a:r>
          </a:p>
        </p:txBody>
      </p:sp>
      <p:sp>
        <p:nvSpPr>
          <p:cNvPr id="23" name="TextBox 22"/>
          <p:cNvSpPr txBox="1"/>
          <p:nvPr/>
        </p:nvSpPr>
        <p:spPr>
          <a:xfrm>
            <a:off x="4434840" y="29260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604.2</a:t>
            </a:r>
          </a:p>
        </p:txBody>
      </p:sp>
      <p:sp>
        <p:nvSpPr>
          <p:cNvPr id="24" name="TextBox 23"/>
          <p:cNvSpPr txBox="1"/>
          <p:nvPr/>
        </p:nvSpPr>
        <p:spPr>
          <a:xfrm>
            <a:off x="640080" y="32918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Seat height</a:t>
            </a:r>
          </a:p>
        </p:txBody>
      </p:sp>
      <p:sp>
        <p:nvSpPr>
          <p:cNvPr id="25" name="TextBox 24"/>
          <p:cNvSpPr txBox="1"/>
          <p:nvPr/>
        </p:nvSpPr>
        <p:spPr>
          <a:xfrm>
            <a:off x="2788920" y="32918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17"–19"</a:t>
            </a:r>
          </a:p>
        </p:txBody>
      </p:sp>
      <p:sp>
        <p:nvSpPr>
          <p:cNvPr id="26" name="TextBox 25"/>
          <p:cNvSpPr txBox="1"/>
          <p:nvPr/>
        </p:nvSpPr>
        <p:spPr>
          <a:xfrm>
            <a:off x="4434840" y="32918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604.4</a:t>
            </a:r>
          </a:p>
        </p:txBody>
      </p:sp>
      <p:sp>
        <p:nvSpPr>
          <p:cNvPr id="27" name="TextBox 26"/>
          <p:cNvSpPr txBox="1"/>
          <p:nvPr/>
        </p:nvSpPr>
        <p:spPr>
          <a:xfrm>
            <a:off x="640080" y="36576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Side grab bar length</a:t>
            </a:r>
          </a:p>
        </p:txBody>
      </p:sp>
      <p:sp>
        <p:nvSpPr>
          <p:cNvPr id="28" name="TextBox 27"/>
          <p:cNvSpPr txBox="1"/>
          <p:nvPr/>
        </p:nvSpPr>
        <p:spPr>
          <a:xfrm>
            <a:off x="2788920" y="36576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42" min</a:t>
            </a:r>
          </a:p>
        </p:txBody>
      </p:sp>
      <p:sp>
        <p:nvSpPr>
          <p:cNvPr id="29" name="TextBox 28"/>
          <p:cNvSpPr txBox="1"/>
          <p:nvPr/>
        </p:nvSpPr>
        <p:spPr>
          <a:xfrm>
            <a:off x="4434840" y="36576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604.5.1</a:t>
            </a:r>
          </a:p>
        </p:txBody>
      </p:sp>
      <p:sp>
        <p:nvSpPr>
          <p:cNvPr id="30" name="TextBox 29"/>
          <p:cNvSpPr txBox="1"/>
          <p:nvPr/>
        </p:nvSpPr>
        <p:spPr>
          <a:xfrm>
            <a:off x="640080" y="40233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Side grab bar offset</a:t>
            </a:r>
          </a:p>
        </p:txBody>
      </p:sp>
      <p:sp>
        <p:nvSpPr>
          <p:cNvPr id="31" name="TextBox 30"/>
          <p:cNvSpPr txBox="1"/>
          <p:nvPr/>
        </p:nvSpPr>
        <p:spPr>
          <a:xfrm>
            <a:off x="2788920" y="40233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12" max from rear</a:t>
            </a:r>
          </a:p>
        </p:txBody>
      </p:sp>
      <p:sp>
        <p:nvSpPr>
          <p:cNvPr id="32" name="TextBox 31"/>
          <p:cNvSpPr txBox="1"/>
          <p:nvPr/>
        </p:nvSpPr>
        <p:spPr>
          <a:xfrm>
            <a:off x="4434840" y="40233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604.5.1</a:t>
            </a:r>
          </a:p>
        </p:txBody>
      </p:sp>
      <p:sp>
        <p:nvSpPr>
          <p:cNvPr id="33" name="TextBox 32"/>
          <p:cNvSpPr txBox="1"/>
          <p:nvPr/>
        </p:nvSpPr>
        <p:spPr>
          <a:xfrm>
            <a:off x="640080" y="43891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Rear grab bar length</a:t>
            </a:r>
          </a:p>
        </p:txBody>
      </p:sp>
      <p:sp>
        <p:nvSpPr>
          <p:cNvPr id="34" name="TextBox 33"/>
          <p:cNvSpPr txBox="1"/>
          <p:nvPr/>
        </p:nvSpPr>
        <p:spPr>
          <a:xfrm>
            <a:off x="2788920" y="43891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36" min</a:t>
            </a:r>
          </a:p>
        </p:txBody>
      </p:sp>
      <p:sp>
        <p:nvSpPr>
          <p:cNvPr id="35" name="TextBox 34"/>
          <p:cNvSpPr txBox="1"/>
          <p:nvPr/>
        </p:nvSpPr>
        <p:spPr>
          <a:xfrm>
            <a:off x="4434840" y="43891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604.5.2</a:t>
            </a:r>
          </a:p>
        </p:txBody>
      </p:sp>
      <p:sp>
        <p:nvSpPr>
          <p:cNvPr id="36" name="TextBox 35"/>
          <p:cNvSpPr txBox="1"/>
          <p:nvPr/>
        </p:nvSpPr>
        <p:spPr>
          <a:xfrm>
            <a:off x="640080" y="47548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Grab bar height</a:t>
            </a:r>
          </a:p>
        </p:txBody>
      </p:sp>
      <p:sp>
        <p:nvSpPr>
          <p:cNvPr id="37" name="TextBox 36"/>
          <p:cNvSpPr txBox="1"/>
          <p:nvPr/>
        </p:nvSpPr>
        <p:spPr>
          <a:xfrm>
            <a:off x="2788920" y="47548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33"–36"</a:t>
            </a:r>
          </a:p>
        </p:txBody>
      </p:sp>
      <p:sp>
        <p:nvSpPr>
          <p:cNvPr id="38" name="TextBox 37"/>
          <p:cNvSpPr txBox="1"/>
          <p:nvPr/>
        </p:nvSpPr>
        <p:spPr>
          <a:xfrm>
            <a:off x="4434840" y="47548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609.4</a:t>
            </a:r>
          </a:p>
        </p:txBody>
      </p:sp>
      <p:sp>
        <p:nvSpPr>
          <p:cNvPr id="39" name="TextBox 38"/>
          <p:cNvSpPr txBox="1"/>
          <p:nvPr/>
        </p:nvSpPr>
        <p:spPr>
          <a:xfrm>
            <a:off x="640080" y="51206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Flush controls side</a:t>
            </a:r>
          </a:p>
        </p:txBody>
      </p:sp>
      <p:sp>
        <p:nvSpPr>
          <p:cNvPr id="40" name="TextBox 39"/>
          <p:cNvSpPr txBox="1"/>
          <p:nvPr/>
        </p:nvSpPr>
        <p:spPr>
          <a:xfrm>
            <a:off x="2788920" y="51206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Open side (transfer side)</a:t>
            </a:r>
          </a:p>
        </p:txBody>
      </p:sp>
      <p:sp>
        <p:nvSpPr>
          <p:cNvPr id="41" name="TextBox 40"/>
          <p:cNvSpPr txBox="1"/>
          <p:nvPr/>
        </p:nvSpPr>
        <p:spPr>
          <a:xfrm>
            <a:off x="4434840" y="51206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604.6</a:t>
            </a:r>
          </a:p>
        </p:txBody>
      </p:sp>
      <p:sp>
        <p:nvSpPr>
          <p:cNvPr id="42" name="TextBox 41"/>
          <p:cNvSpPr txBox="1"/>
          <p:nvPr/>
        </p:nvSpPr>
        <p:spPr>
          <a:xfrm>
            <a:off x="640080" y="54864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TP dispenser height</a:t>
            </a:r>
          </a:p>
        </p:txBody>
      </p:sp>
      <p:sp>
        <p:nvSpPr>
          <p:cNvPr id="43" name="TextBox 42"/>
          <p:cNvSpPr txBox="1"/>
          <p:nvPr/>
        </p:nvSpPr>
        <p:spPr>
          <a:xfrm>
            <a:off x="2788920" y="54864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15"–48"</a:t>
            </a:r>
          </a:p>
        </p:txBody>
      </p:sp>
      <p:sp>
        <p:nvSpPr>
          <p:cNvPr id="44" name="TextBox 43"/>
          <p:cNvSpPr txBox="1"/>
          <p:nvPr/>
        </p:nvSpPr>
        <p:spPr>
          <a:xfrm>
            <a:off x="4434840" y="54864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604.7</a:t>
            </a:r>
          </a:p>
        </p:txBody>
      </p:sp>
      <p:sp>
        <p:nvSpPr>
          <p:cNvPr id="45" name="TextBox 44"/>
          <p:cNvSpPr txBox="1"/>
          <p:nvPr/>
        </p:nvSpPr>
        <p:spPr>
          <a:xfrm>
            <a:off x="640080" y="58521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TP dispenser front</a:t>
            </a:r>
          </a:p>
        </p:txBody>
      </p:sp>
      <p:sp>
        <p:nvSpPr>
          <p:cNvPr id="46" name="TextBox 45"/>
          <p:cNvSpPr txBox="1"/>
          <p:nvPr/>
        </p:nvSpPr>
        <p:spPr>
          <a:xfrm>
            <a:off x="2788920" y="58521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7"–9" in front of WC</a:t>
            </a:r>
          </a:p>
        </p:txBody>
      </p:sp>
      <p:sp>
        <p:nvSpPr>
          <p:cNvPr id="47" name="TextBox 46"/>
          <p:cNvSpPr txBox="1"/>
          <p:nvPr/>
        </p:nvSpPr>
        <p:spPr>
          <a:xfrm>
            <a:off x="4434840" y="58521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604.7</a:t>
            </a:r>
          </a:p>
        </p:txBody>
      </p:sp>
      <p:sp>
        <p:nvSpPr>
          <p:cNvPr id="48" name="Rectangle 47"/>
          <p:cNvSpPr/>
          <p:nvPr/>
        </p:nvSpPr>
        <p:spPr>
          <a:xfrm>
            <a:off x="6263640" y="1417320"/>
            <a:ext cx="54864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263640" y="1417320"/>
            <a:ext cx="54864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63640" y="1417320"/>
            <a:ext cx="548640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LAVATORY + ACCESSORIES</a:t>
            </a:r>
          </a:p>
        </p:txBody>
      </p:sp>
      <p:sp>
        <p:nvSpPr>
          <p:cNvPr id="51" name="TextBox 50"/>
          <p:cNvSpPr txBox="1"/>
          <p:nvPr/>
        </p:nvSpPr>
        <p:spPr>
          <a:xfrm>
            <a:off x="6400800" y="18288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Lav rim height</a:t>
            </a:r>
          </a:p>
        </p:txBody>
      </p:sp>
      <p:sp>
        <p:nvSpPr>
          <p:cNvPr id="52" name="TextBox 51"/>
          <p:cNvSpPr txBox="1"/>
          <p:nvPr/>
        </p:nvSpPr>
        <p:spPr>
          <a:xfrm>
            <a:off x="8549640" y="18288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34" max</a:t>
            </a:r>
          </a:p>
        </p:txBody>
      </p:sp>
      <p:sp>
        <p:nvSpPr>
          <p:cNvPr id="53" name="TextBox 52"/>
          <p:cNvSpPr txBox="1"/>
          <p:nvPr/>
        </p:nvSpPr>
        <p:spPr>
          <a:xfrm>
            <a:off x="10195560" y="18288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606.3</a:t>
            </a:r>
          </a:p>
        </p:txBody>
      </p:sp>
      <p:sp>
        <p:nvSpPr>
          <p:cNvPr id="54" name="TextBox 53"/>
          <p:cNvSpPr txBox="1"/>
          <p:nvPr/>
        </p:nvSpPr>
        <p:spPr>
          <a:xfrm>
            <a:off x="6400800" y="21945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Knee clearance</a:t>
            </a:r>
          </a:p>
        </p:txBody>
      </p:sp>
      <p:sp>
        <p:nvSpPr>
          <p:cNvPr id="55" name="TextBox 54"/>
          <p:cNvSpPr txBox="1"/>
          <p:nvPr/>
        </p:nvSpPr>
        <p:spPr>
          <a:xfrm>
            <a:off x="8549640" y="21945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27"H × 30"W × 11"D</a:t>
            </a:r>
          </a:p>
        </p:txBody>
      </p:sp>
      <p:sp>
        <p:nvSpPr>
          <p:cNvPr id="56" name="TextBox 55"/>
          <p:cNvSpPr txBox="1"/>
          <p:nvPr/>
        </p:nvSpPr>
        <p:spPr>
          <a:xfrm>
            <a:off x="10195560" y="21945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306</a:t>
            </a:r>
          </a:p>
        </p:txBody>
      </p:sp>
      <p:sp>
        <p:nvSpPr>
          <p:cNvPr id="57" name="TextBox 56"/>
          <p:cNvSpPr txBox="1"/>
          <p:nvPr/>
        </p:nvSpPr>
        <p:spPr>
          <a:xfrm>
            <a:off x="6400800" y="25603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Toe clearance ext</a:t>
            </a:r>
          </a:p>
        </p:txBody>
      </p:sp>
      <p:sp>
        <p:nvSpPr>
          <p:cNvPr id="58" name="TextBox 57"/>
          <p:cNvSpPr txBox="1"/>
          <p:nvPr/>
        </p:nvSpPr>
        <p:spPr>
          <a:xfrm>
            <a:off x="8549640" y="25603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9" min height under</a:t>
            </a:r>
          </a:p>
        </p:txBody>
      </p:sp>
      <p:sp>
        <p:nvSpPr>
          <p:cNvPr id="59" name="TextBox 58"/>
          <p:cNvSpPr txBox="1"/>
          <p:nvPr/>
        </p:nvSpPr>
        <p:spPr>
          <a:xfrm>
            <a:off x="10195560" y="25603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306.2.3</a:t>
            </a:r>
          </a:p>
        </p:txBody>
      </p:sp>
      <p:sp>
        <p:nvSpPr>
          <p:cNvPr id="60" name="TextBox 59"/>
          <p:cNvSpPr txBox="1"/>
          <p:nvPr/>
        </p:nvSpPr>
        <p:spPr>
          <a:xfrm>
            <a:off x="6400800" y="29260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Faucet control</a:t>
            </a:r>
          </a:p>
        </p:txBody>
      </p:sp>
      <p:sp>
        <p:nvSpPr>
          <p:cNvPr id="61" name="TextBox 60"/>
          <p:cNvSpPr txBox="1"/>
          <p:nvPr/>
        </p:nvSpPr>
        <p:spPr>
          <a:xfrm>
            <a:off x="8549640" y="29260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Closed-fist usable; 5 lbf</a:t>
            </a:r>
          </a:p>
        </p:txBody>
      </p:sp>
      <p:sp>
        <p:nvSpPr>
          <p:cNvPr id="62" name="TextBox 61"/>
          <p:cNvSpPr txBox="1"/>
          <p:nvPr/>
        </p:nvSpPr>
        <p:spPr>
          <a:xfrm>
            <a:off x="10195560" y="29260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309.4</a:t>
            </a:r>
          </a:p>
        </p:txBody>
      </p:sp>
      <p:sp>
        <p:nvSpPr>
          <p:cNvPr id="63" name="TextBox 62"/>
          <p:cNvSpPr txBox="1"/>
          <p:nvPr/>
        </p:nvSpPr>
        <p:spPr>
          <a:xfrm>
            <a:off x="6400800" y="32918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Hot / drain pipes</a:t>
            </a:r>
          </a:p>
        </p:txBody>
      </p:sp>
      <p:sp>
        <p:nvSpPr>
          <p:cNvPr id="64" name="TextBox 63"/>
          <p:cNvSpPr txBox="1"/>
          <p:nvPr/>
        </p:nvSpPr>
        <p:spPr>
          <a:xfrm>
            <a:off x="8549640" y="32918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Insulated</a:t>
            </a:r>
          </a:p>
        </p:txBody>
      </p:sp>
      <p:sp>
        <p:nvSpPr>
          <p:cNvPr id="65" name="TextBox 64"/>
          <p:cNvSpPr txBox="1"/>
          <p:nvPr/>
        </p:nvSpPr>
        <p:spPr>
          <a:xfrm>
            <a:off x="10195560" y="32918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606.5</a:t>
            </a:r>
          </a:p>
        </p:txBody>
      </p:sp>
      <p:sp>
        <p:nvSpPr>
          <p:cNvPr id="66" name="TextBox 65"/>
          <p:cNvSpPr txBox="1"/>
          <p:nvPr/>
        </p:nvSpPr>
        <p:spPr>
          <a:xfrm>
            <a:off x="6400800" y="36576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Mirror bottom</a:t>
            </a:r>
          </a:p>
        </p:txBody>
      </p:sp>
      <p:sp>
        <p:nvSpPr>
          <p:cNvPr id="67" name="TextBox 66"/>
          <p:cNvSpPr txBox="1"/>
          <p:nvPr/>
        </p:nvSpPr>
        <p:spPr>
          <a:xfrm>
            <a:off x="8549640" y="36576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40" max above floor</a:t>
            </a:r>
          </a:p>
        </p:txBody>
      </p:sp>
      <p:sp>
        <p:nvSpPr>
          <p:cNvPr id="68" name="TextBox 67"/>
          <p:cNvSpPr txBox="1"/>
          <p:nvPr/>
        </p:nvSpPr>
        <p:spPr>
          <a:xfrm>
            <a:off x="10195560" y="36576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603.3</a:t>
            </a:r>
          </a:p>
        </p:txBody>
      </p:sp>
      <p:sp>
        <p:nvSpPr>
          <p:cNvPr id="69" name="TextBox 68"/>
          <p:cNvSpPr txBox="1"/>
          <p:nvPr/>
        </p:nvSpPr>
        <p:spPr>
          <a:xfrm>
            <a:off x="6400800" y="40233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Mirror — full-len.</a:t>
            </a:r>
          </a:p>
        </p:txBody>
      </p:sp>
      <p:sp>
        <p:nvSpPr>
          <p:cNvPr id="70" name="TextBox 69"/>
          <p:cNvSpPr txBox="1"/>
          <p:nvPr/>
        </p:nvSpPr>
        <p:spPr>
          <a:xfrm>
            <a:off x="8549640" y="40233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Bottom 35" max</a:t>
            </a:r>
          </a:p>
        </p:txBody>
      </p:sp>
      <p:sp>
        <p:nvSpPr>
          <p:cNvPr id="71" name="TextBox 70"/>
          <p:cNvSpPr txBox="1"/>
          <p:nvPr/>
        </p:nvSpPr>
        <p:spPr>
          <a:xfrm>
            <a:off x="10195560" y="40233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603.3</a:t>
            </a:r>
          </a:p>
        </p:txBody>
      </p:sp>
      <p:sp>
        <p:nvSpPr>
          <p:cNvPr id="72" name="TextBox 71"/>
          <p:cNvSpPr txBox="1"/>
          <p:nvPr/>
        </p:nvSpPr>
        <p:spPr>
          <a:xfrm>
            <a:off x="6400800" y="43891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Coat hook</a:t>
            </a:r>
          </a:p>
        </p:txBody>
      </p:sp>
      <p:sp>
        <p:nvSpPr>
          <p:cNvPr id="73" name="TextBox 72"/>
          <p:cNvSpPr txBox="1"/>
          <p:nvPr/>
        </p:nvSpPr>
        <p:spPr>
          <a:xfrm>
            <a:off x="8549640" y="43891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48" max forward</a:t>
            </a:r>
          </a:p>
        </p:txBody>
      </p:sp>
      <p:sp>
        <p:nvSpPr>
          <p:cNvPr id="74" name="TextBox 73"/>
          <p:cNvSpPr txBox="1"/>
          <p:nvPr/>
        </p:nvSpPr>
        <p:spPr>
          <a:xfrm>
            <a:off x="10195560" y="43891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604.8.3 / 308.2.1</a:t>
            </a:r>
          </a:p>
        </p:txBody>
      </p:sp>
      <p:sp>
        <p:nvSpPr>
          <p:cNvPr id="75" name="TextBox 74"/>
          <p:cNvSpPr txBox="1"/>
          <p:nvPr/>
        </p:nvSpPr>
        <p:spPr>
          <a:xfrm>
            <a:off x="6400800" y="47548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Soap dispenser</a:t>
            </a:r>
          </a:p>
        </p:txBody>
      </p:sp>
      <p:sp>
        <p:nvSpPr>
          <p:cNvPr id="76" name="TextBox 75"/>
          <p:cNvSpPr txBox="1"/>
          <p:nvPr/>
        </p:nvSpPr>
        <p:spPr>
          <a:xfrm>
            <a:off x="8549640" y="47548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Within 48" reach</a:t>
            </a:r>
          </a:p>
        </p:txBody>
      </p:sp>
      <p:sp>
        <p:nvSpPr>
          <p:cNvPr id="77" name="TextBox 76"/>
          <p:cNvSpPr txBox="1"/>
          <p:nvPr/>
        </p:nvSpPr>
        <p:spPr>
          <a:xfrm>
            <a:off x="10195560" y="47548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308</a:t>
            </a:r>
          </a:p>
        </p:txBody>
      </p:sp>
      <p:sp>
        <p:nvSpPr>
          <p:cNvPr id="78" name="TextBox 77"/>
          <p:cNvSpPr txBox="1"/>
          <p:nvPr/>
        </p:nvSpPr>
        <p:spPr>
          <a:xfrm>
            <a:off x="6400800" y="51206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Towel / dryer</a:t>
            </a:r>
          </a:p>
        </p:txBody>
      </p:sp>
      <p:sp>
        <p:nvSpPr>
          <p:cNvPr id="79" name="TextBox 78"/>
          <p:cNvSpPr txBox="1"/>
          <p:nvPr/>
        </p:nvSpPr>
        <p:spPr>
          <a:xfrm>
            <a:off x="8549640" y="51206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Within 48" reach</a:t>
            </a:r>
          </a:p>
        </p:txBody>
      </p:sp>
      <p:sp>
        <p:nvSpPr>
          <p:cNvPr id="80" name="TextBox 79"/>
          <p:cNvSpPr txBox="1"/>
          <p:nvPr/>
        </p:nvSpPr>
        <p:spPr>
          <a:xfrm>
            <a:off x="10195560" y="51206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308</a:t>
            </a:r>
          </a:p>
        </p:txBody>
      </p:sp>
      <p:sp>
        <p:nvSpPr>
          <p:cNvPr id="81" name="TextBox 80"/>
          <p:cNvSpPr txBox="1"/>
          <p:nvPr/>
        </p:nvSpPr>
        <p:spPr>
          <a:xfrm>
            <a:off x="6400800" y="54864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Sanitary disposal</a:t>
            </a:r>
          </a:p>
        </p:txBody>
      </p:sp>
      <p:sp>
        <p:nvSpPr>
          <p:cNvPr id="82" name="TextBox 81"/>
          <p:cNvSpPr txBox="1"/>
          <p:nvPr/>
        </p:nvSpPr>
        <p:spPr>
          <a:xfrm>
            <a:off x="8549640" y="54864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Within reach</a:t>
            </a:r>
          </a:p>
        </p:txBody>
      </p:sp>
      <p:sp>
        <p:nvSpPr>
          <p:cNvPr id="83" name="TextBox 82"/>
          <p:cNvSpPr txBox="1"/>
          <p:nvPr/>
        </p:nvSpPr>
        <p:spPr>
          <a:xfrm>
            <a:off x="10195560" y="54864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Title II program</a:t>
            </a:r>
          </a:p>
        </p:txBody>
      </p:sp>
      <p:sp>
        <p:nvSpPr>
          <p:cNvPr id="84" name="TextBox 83"/>
          <p:cNvSpPr txBox="1"/>
          <p:nvPr/>
        </p:nvSpPr>
        <p:spPr>
          <a:xfrm>
            <a:off x="6400800" y="58521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Door swing into stall</a:t>
            </a:r>
          </a:p>
        </p:txBody>
      </p:sp>
      <p:sp>
        <p:nvSpPr>
          <p:cNvPr id="85" name="TextBox 84"/>
          <p:cNvSpPr txBox="1"/>
          <p:nvPr/>
        </p:nvSpPr>
        <p:spPr>
          <a:xfrm>
            <a:off x="8549640" y="58521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OK if 60×60 remains</a:t>
            </a:r>
          </a:p>
        </p:txBody>
      </p:sp>
      <p:sp>
        <p:nvSpPr>
          <p:cNvPr id="86" name="TextBox 85"/>
          <p:cNvSpPr txBox="1"/>
          <p:nvPr/>
        </p:nvSpPr>
        <p:spPr>
          <a:xfrm>
            <a:off x="10195560" y="58521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604.8.1.2</a:t>
            </a:r>
          </a:p>
        </p:txBody>
      </p:sp>
      <p:sp>
        <p:nvSpPr>
          <p:cNvPr id="87" name="TextBox 86"/>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88" name="TextBox 87"/>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41 / 63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42 · REFERENCE</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Quick reference — fountains, counters &amp; signage</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54864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17320"/>
            <a:ext cx="54864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548640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FOUNTAINS &amp; BUILT-IN COUNTERS</a:t>
            </a:r>
          </a:p>
        </p:txBody>
      </p:sp>
      <p:sp>
        <p:nvSpPr>
          <p:cNvPr id="12" name="TextBox 11"/>
          <p:cNvSpPr txBox="1"/>
          <p:nvPr/>
        </p:nvSpPr>
        <p:spPr>
          <a:xfrm>
            <a:off x="640080" y="18288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Drinking fountain spout</a:t>
            </a:r>
          </a:p>
        </p:txBody>
      </p:sp>
      <p:sp>
        <p:nvSpPr>
          <p:cNvPr id="13" name="TextBox 12"/>
          <p:cNvSpPr txBox="1"/>
          <p:nvPr/>
        </p:nvSpPr>
        <p:spPr>
          <a:xfrm>
            <a:off x="2788920" y="18288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36" max above floor</a:t>
            </a:r>
          </a:p>
        </p:txBody>
      </p:sp>
      <p:sp>
        <p:nvSpPr>
          <p:cNvPr id="14" name="TextBox 13"/>
          <p:cNvSpPr txBox="1"/>
          <p:nvPr/>
        </p:nvSpPr>
        <p:spPr>
          <a:xfrm>
            <a:off x="4434840" y="18288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602.4</a:t>
            </a:r>
          </a:p>
        </p:txBody>
      </p:sp>
      <p:sp>
        <p:nvSpPr>
          <p:cNvPr id="15" name="TextBox 14"/>
          <p:cNvSpPr txBox="1"/>
          <p:nvPr/>
        </p:nvSpPr>
        <p:spPr>
          <a:xfrm>
            <a:off x="640080" y="21945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Spout location</a:t>
            </a:r>
          </a:p>
        </p:txBody>
      </p:sp>
      <p:sp>
        <p:nvSpPr>
          <p:cNvPr id="16" name="TextBox 15"/>
          <p:cNvSpPr txBox="1"/>
          <p:nvPr/>
        </p:nvSpPr>
        <p:spPr>
          <a:xfrm>
            <a:off x="2788920" y="21945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 15" from front</a:t>
            </a:r>
          </a:p>
        </p:txBody>
      </p:sp>
      <p:sp>
        <p:nvSpPr>
          <p:cNvPr id="17" name="TextBox 16"/>
          <p:cNvSpPr txBox="1"/>
          <p:nvPr/>
        </p:nvSpPr>
        <p:spPr>
          <a:xfrm>
            <a:off x="4434840" y="21945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602.5</a:t>
            </a:r>
          </a:p>
        </p:txBody>
      </p:sp>
      <p:sp>
        <p:nvSpPr>
          <p:cNvPr id="18" name="TextBox 17"/>
          <p:cNvSpPr txBox="1"/>
          <p:nvPr/>
        </p:nvSpPr>
        <p:spPr>
          <a:xfrm>
            <a:off x="640080" y="25603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Spout angle</a:t>
            </a:r>
          </a:p>
        </p:txBody>
      </p:sp>
      <p:sp>
        <p:nvSpPr>
          <p:cNvPr id="19" name="TextBox 18"/>
          <p:cNvSpPr txBox="1"/>
          <p:nvPr/>
        </p:nvSpPr>
        <p:spPr>
          <a:xfrm>
            <a:off x="2788920" y="25603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 30° from vertical</a:t>
            </a:r>
          </a:p>
        </p:txBody>
      </p:sp>
      <p:sp>
        <p:nvSpPr>
          <p:cNvPr id="20" name="TextBox 19"/>
          <p:cNvSpPr txBox="1"/>
          <p:nvPr/>
        </p:nvSpPr>
        <p:spPr>
          <a:xfrm>
            <a:off x="4434840" y="25603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602.6</a:t>
            </a:r>
          </a:p>
        </p:txBody>
      </p:sp>
      <p:sp>
        <p:nvSpPr>
          <p:cNvPr id="21" name="TextBox 20"/>
          <p:cNvSpPr txBox="1"/>
          <p:nvPr/>
        </p:nvSpPr>
        <p:spPr>
          <a:xfrm>
            <a:off x="640080" y="29260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Knee clearance — DF</a:t>
            </a:r>
          </a:p>
        </p:txBody>
      </p:sp>
      <p:sp>
        <p:nvSpPr>
          <p:cNvPr id="22" name="TextBox 21"/>
          <p:cNvSpPr txBox="1"/>
          <p:nvPr/>
        </p:nvSpPr>
        <p:spPr>
          <a:xfrm>
            <a:off x="2788920" y="29260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27"H × 30"W × 17"D min</a:t>
            </a:r>
          </a:p>
        </p:txBody>
      </p:sp>
      <p:sp>
        <p:nvSpPr>
          <p:cNvPr id="23" name="TextBox 22"/>
          <p:cNvSpPr txBox="1"/>
          <p:nvPr/>
        </p:nvSpPr>
        <p:spPr>
          <a:xfrm>
            <a:off x="4434840" y="29260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306</a:t>
            </a:r>
          </a:p>
        </p:txBody>
      </p:sp>
      <p:sp>
        <p:nvSpPr>
          <p:cNvPr id="24" name="TextBox 23"/>
          <p:cNvSpPr txBox="1"/>
          <p:nvPr/>
        </p:nvSpPr>
        <p:spPr>
          <a:xfrm>
            <a:off x="640080" y="32918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Hi-Lo paired DF</a:t>
            </a:r>
          </a:p>
        </p:txBody>
      </p:sp>
      <p:sp>
        <p:nvSpPr>
          <p:cNvPr id="25" name="TextBox 24"/>
          <p:cNvSpPr txBox="1"/>
          <p:nvPr/>
        </p:nvSpPr>
        <p:spPr>
          <a:xfrm>
            <a:off x="2788920" y="32918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One ≤36" + one for standing</a:t>
            </a:r>
          </a:p>
        </p:txBody>
      </p:sp>
      <p:sp>
        <p:nvSpPr>
          <p:cNvPr id="26" name="TextBox 25"/>
          <p:cNvSpPr txBox="1"/>
          <p:nvPr/>
        </p:nvSpPr>
        <p:spPr>
          <a:xfrm>
            <a:off x="4434840" y="32918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602.7</a:t>
            </a:r>
          </a:p>
        </p:txBody>
      </p:sp>
      <p:sp>
        <p:nvSpPr>
          <p:cNvPr id="27" name="TextBox 26"/>
          <p:cNvSpPr txBox="1"/>
          <p:nvPr/>
        </p:nvSpPr>
        <p:spPr>
          <a:xfrm>
            <a:off x="640080" y="36576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Service counter (acc.)</a:t>
            </a:r>
          </a:p>
        </p:txBody>
      </p:sp>
      <p:sp>
        <p:nvSpPr>
          <p:cNvPr id="28" name="TextBox 27"/>
          <p:cNvSpPr txBox="1"/>
          <p:nvPr/>
        </p:nvSpPr>
        <p:spPr>
          <a:xfrm>
            <a:off x="2788920" y="36576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34" max height</a:t>
            </a:r>
          </a:p>
        </p:txBody>
      </p:sp>
      <p:sp>
        <p:nvSpPr>
          <p:cNvPr id="29" name="TextBox 28"/>
          <p:cNvSpPr txBox="1"/>
          <p:nvPr/>
        </p:nvSpPr>
        <p:spPr>
          <a:xfrm>
            <a:off x="4434840" y="36576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904.4.1</a:t>
            </a:r>
          </a:p>
        </p:txBody>
      </p:sp>
      <p:sp>
        <p:nvSpPr>
          <p:cNvPr id="30" name="TextBox 29"/>
          <p:cNvSpPr txBox="1"/>
          <p:nvPr/>
        </p:nvSpPr>
        <p:spPr>
          <a:xfrm>
            <a:off x="640080" y="40233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Service counter length</a:t>
            </a:r>
          </a:p>
        </p:txBody>
      </p:sp>
      <p:sp>
        <p:nvSpPr>
          <p:cNvPr id="31" name="TextBox 30"/>
          <p:cNvSpPr txBox="1"/>
          <p:nvPr/>
        </p:nvSpPr>
        <p:spPr>
          <a:xfrm>
            <a:off x="2788920" y="40233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36" min long</a:t>
            </a:r>
          </a:p>
        </p:txBody>
      </p:sp>
      <p:sp>
        <p:nvSpPr>
          <p:cNvPr id="32" name="TextBox 31"/>
          <p:cNvSpPr txBox="1"/>
          <p:nvPr/>
        </p:nvSpPr>
        <p:spPr>
          <a:xfrm>
            <a:off x="4434840" y="40233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904.4.1</a:t>
            </a:r>
          </a:p>
        </p:txBody>
      </p:sp>
      <p:sp>
        <p:nvSpPr>
          <p:cNvPr id="33" name="TextBox 32"/>
          <p:cNvSpPr txBox="1"/>
          <p:nvPr/>
        </p:nvSpPr>
        <p:spPr>
          <a:xfrm>
            <a:off x="640080" y="43891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Sales / service — POS</a:t>
            </a:r>
          </a:p>
        </p:txBody>
      </p:sp>
      <p:sp>
        <p:nvSpPr>
          <p:cNvPr id="34" name="TextBox 33"/>
          <p:cNvSpPr txBox="1"/>
          <p:nvPr/>
        </p:nvSpPr>
        <p:spPr>
          <a:xfrm>
            <a:off x="2788920" y="43891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 38" if integral</a:t>
            </a:r>
          </a:p>
        </p:txBody>
      </p:sp>
      <p:sp>
        <p:nvSpPr>
          <p:cNvPr id="35" name="TextBox 34"/>
          <p:cNvSpPr txBox="1"/>
          <p:nvPr/>
        </p:nvSpPr>
        <p:spPr>
          <a:xfrm>
            <a:off x="4434840" y="43891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904.4</a:t>
            </a:r>
          </a:p>
        </p:txBody>
      </p:sp>
      <p:sp>
        <p:nvSpPr>
          <p:cNvPr id="36" name="TextBox 35"/>
          <p:cNvSpPr txBox="1"/>
          <p:nvPr/>
        </p:nvSpPr>
        <p:spPr>
          <a:xfrm>
            <a:off x="640080" y="47548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Library check-out</a:t>
            </a:r>
          </a:p>
        </p:txBody>
      </p:sp>
      <p:sp>
        <p:nvSpPr>
          <p:cNvPr id="37" name="TextBox 36"/>
          <p:cNvSpPr txBox="1"/>
          <p:nvPr/>
        </p:nvSpPr>
        <p:spPr>
          <a:xfrm>
            <a:off x="2788920" y="47548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34" max writing srf</a:t>
            </a:r>
          </a:p>
        </p:txBody>
      </p:sp>
      <p:sp>
        <p:nvSpPr>
          <p:cNvPr id="38" name="TextBox 37"/>
          <p:cNvSpPr txBox="1"/>
          <p:nvPr/>
        </p:nvSpPr>
        <p:spPr>
          <a:xfrm>
            <a:off x="4434840" y="47548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904.4</a:t>
            </a:r>
          </a:p>
        </p:txBody>
      </p:sp>
      <p:sp>
        <p:nvSpPr>
          <p:cNvPr id="39" name="TextBox 38"/>
          <p:cNvSpPr txBox="1"/>
          <p:nvPr/>
        </p:nvSpPr>
        <p:spPr>
          <a:xfrm>
            <a:off x="640080" y="51206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Cafeteria self-serve</a:t>
            </a:r>
          </a:p>
        </p:txBody>
      </p:sp>
      <p:sp>
        <p:nvSpPr>
          <p:cNvPr id="40" name="TextBox 39"/>
          <p:cNvSpPr txBox="1"/>
          <p:nvPr/>
        </p:nvSpPr>
        <p:spPr>
          <a:xfrm>
            <a:off x="2788920" y="51206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 34" tray slide</a:t>
            </a:r>
          </a:p>
        </p:txBody>
      </p:sp>
      <p:sp>
        <p:nvSpPr>
          <p:cNvPr id="41" name="TextBox 40"/>
          <p:cNvSpPr txBox="1"/>
          <p:nvPr/>
        </p:nvSpPr>
        <p:spPr>
          <a:xfrm>
            <a:off x="4434840" y="51206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226.2 / 904</a:t>
            </a:r>
          </a:p>
        </p:txBody>
      </p:sp>
      <p:sp>
        <p:nvSpPr>
          <p:cNvPr id="42" name="TextBox 41"/>
          <p:cNvSpPr txBox="1"/>
          <p:nvPr/>
        </p:nvSpPr>
        <p:spPr>
          <a:xfrm>
            <a:off x="640080" y="54864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Counter slope</a:t>
            </a:r>
          </a:p>
        </p:txBody>
      </p:sp>
      <p:sp>
        <p:nvSpPr>
          <p:cNvPr id="43" name="TextBox 42"/>
          <p:cNvSpPr txBox="1"/>
          <p:nvPr/>
        </p:nvSpPr>
        <p:spPr>
          <a:xfrm>
            <a:off x="2788920" y="54864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Level</a:t>
            </a:r>
          </a:p>
        </p:txBody>
      </p:sp>
      <p:sp>
        <p:nvSpPr>
          <p:cNvPr id="44" name="TextBox 43"/>
          <p:cNvSpPr txBox="1"/>
          <p:nvPr/>
        </p:nvSpPr>
        <p:spPr>
          <a:xfrm>
            <a:off x="4434840" y="54864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904.4</a:t>
            </a:r>
          </a:p>
        </p:txBody>
      </p:sp>
      <p:sp>
        <p:nvSpPr>
          <p:cNvPr id="45" name="TextBox 44"/>
          <p:cNvSpPr txBox="1"/>
          <p:nvPr/>
        </p:nvSpPr>
        <p:spPr>
          <a:xfrm>
            <a:off x="640080" y="58521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Forward reach over</a:t>
            </a:r>
          </a:p>
        </p:txBody>
      </p:sp>
      <p:sp>
        <p:nvSpPr>
          <p:cNvPr id="46" name="TextBox 45"/>
          <p:cNvSpPr txBox="1"/>
          <p:nvPr/>
        </p:nvSpPr>
        <p:spPr>
          <a:xfrm>
            <a:off x="2788920" y="58521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Apply 308.2</a:t>
            </a:r>
          </a:p>
        </p:txBody>
      </p:sp>
      <p:sp>
        <p:nvSpPr>
          <p:cNvPr id="47" name="TextBox 46"/>
          <p:cNvSpPr txBox="1"/>
          <p:nvPr/>
        </p:nvSpPr>
        <p:spPr>
          <a:xfrm>
            <a:off x="4434840" y="58521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308</a:t>
            </a:r>
          </a:p>
        </p:txBody>
      </p:sp>
      <p:sp>
        <p:nvSpPr>
          <p:cNvPr id="48" name="Rectangle 47"/>
          <p:cNvSpPr/>
          <p:nvPr/>
        </p:nvSpPr>
        <p:spPr>
          <a:xfrm>
            <a:off x="6263640" y="1417320"/>
            <a:ext cx="54864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263640" y="1417320"/>
            <a:ext cx="54864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63640" y="1417320"/>
            <a:ext cx="548640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SIGNAGE &amp; WAYFINDING</a:t>
            </a:r>
          </a:p>
        </p:txBody>
      </p:sp>
      <p:sp>
        <p:nvSpPr>
          <p:cNvPr id="51" name="TextBox 50"/>
          <p:cNvSpPr txBox="1"/>
          <p:nvPr/>
        </p:nvSpPr>
        <p:spPr>
          <a:xfrm>
            <a:off x="6400800" y="18288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ISA size — room entry</a:t>
            </a:r>
          </a:p>
        </p:txBody>
      </p:sp>
      <p:sp>
        <p:nvSpPr>
          <p:cNvPr id="52" name="TextBox 51"/>
          <p:cNvSpPr txBox="1"/>
          <p:nvPr/>
        </p:nvSpPr>
        <p:spPr>
          <a:xfrm>
            <a:off x="8549640" y="18288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6" min ISA</a:t>
            </a:r>
          </a:p>
        </p:txBody>
      </p:sp>
      <p:sp>
        <p:nvSpPr>
          <p:cNvPr id="53" name="TextBox 52"/>
          <p:cNvSpPr txBox="1"/>
          <p:nvPr/>
        </p:nvSpPr>
        <p:spPr>
          <a:xfrm>
            <a:off x="10195560" y="18288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703.7.2.1</a:t>
            </a:r>
          </a:p>
        </p:txBody>
      </p:sp>
      <p:sp>
        <p:nvSpPr>
          <p:cNvPr id="54" name="TextBox 53"/>
          <p:cNvSpPr txBox="1"/>
          <p:nvPr/>
        </p:nvSpPr>
        <p:spPr>
          <a:xfrm>
            <a:off x="6400800" y="21945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Tactile mounting</a:t>
            </a:r>
          </a:p>
        </p:txBody>
      </p:sp>
      <p:sp>
        <p:nvSpPr>
          <p:cNvPr id="55" name="TextBox 54"/>
          <p:cNvSpPr txBox="1"/>
          <p:nvPr/>
        </p:nvSpPr>
        <p:spPr>
          <a:xfrm>
            <a:off x="8549640" y="21945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48"–60" baseline</a:t>
            </a:r>
          </a:p>
        </p:txBody>
      </p:sp>
      <p:sp>
        <p:nvSpPr>
          <p:cNvPr id="56" name="TextBox 55"/>
          <p:cNvSpPr txBox="1"/>
          <p:nvPr/>
        </p:nvSpPr>
        <p:spPr>
          <a:xfrm>
            <a:off x="10195560" y="21945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703.4.1</a:t>
            </a:r>
          </a:p>
        </p:txBody>
      </p:sp>
      <p:sp>
        <p:nvSpPr>
          <p:cNvPr id="57" name="TextBox 56"/>
          <p:cNvSpPr txBox="1"/>
          <p:nvPr/>
        </p:nvSpPr>
        <p:spPr>
          <a:xfrm>
            <a:off x="6400800" y="25603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Tactile location</a:t>
            </a:r>
          </a:p>
        </p:txBody>
      </p:sp>
      <p:sp>
        <p:nvSpPr>
          <p:cNvPr id="58" name="TextBox 57"/>
          <p:cNvSpPr txBox="1"/>
          <p:nvPr/>
        </p:nvSpPr>
        <p:spPr>
          <a:xfrm>
            <a:off x="8549640" y="25603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Latch side, 18" max from frame</a:t>
            </a:r>
          </a:p>
        </p:txBody>
      </p:sp>
      <p:sp>
        <p:nvSpPr>
          <p:cNvPr id="59" name="TextBox 58"/>
          <p:cNvSpPr txBox="1"/>
          <p:nvPr/>
        </p:nvSpPr>
        <p:spPr>
          <a:xfrm>
            <a:off x="10195560" y="25603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703.4.2</a:t>
            </a:r>
          </a:p>
        </p:txBody>
      </p:sp>
      <p:sp>
        <p:nvSpPr>
          <p:cNvPr id="60" name="TextBox 59"/>
          <p:cNvSpPr txBox="1"/>
          <p:nvPr/>
        </p:nvSpPr>
        <p:spPr>
          <a:xfrm>
            <a:off x="6400800" y="29260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Tactile character size</a:t>
            </a:r>
          </a:p>
        </p:txBody>
      </p:sp>
      <p:sp>
        <p:nvSpPr>
          <p:cNvPr id="61" name="TextBox 60"/>
          <p:cNvSpPr txBox="1"/>
          <p:nvPr/>
        </p:nvSpPr>
        <p:spPr>
          <a:xfrm>
            <a:off x="8549640" y="29260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5/8"–2" uppercase</a:t>
            </a:r>
          </a:p>
        </p:txBody>
      </p:sp>
      <p:sp>
        <p:nvSpPr>
          <p:cNvPr id="62" name="TextBox 61"/>
          <p:cNvSpPr txBox="1"/>
          <p:nvPr/>
        </p:nvSpPr>
        <p:spPr>
          <a:xfrm>
            <a:off x="10195560" y="29260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703.2.5</a:t>
            </a:r>
          </a:p>
        </p:txBody>
      </p:sp>
      <p:sp>
        <p:nvSpPr>
          <p:cNvPr id="63" name="TextBox 62"/>
          <p:cNvSpPr txBox="1"/>
          <p:nvPr/>
        </p:nvSpPr>
        <p:spPr>
          <a:xfrm>
            <a:off x="6400800" y="32918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Tactile raised</a:t>
            </a:r>
          </a:p>
        </p:txBody>
      </p:sp>
      <p:sp>
        <p:nvSpPr>
          <p:cNvPr id="64" name="TextBox 63"/>
          <p:cNvSpPr txBox="1"/>
          <p:nvPr/>
        </p:nvSpPr>
        <p:spPr>
          <a:xfrm>
            <a:off x="8549640" y="32918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1/32" min</a:t>
            </a:r>
          </a:p>
        </p:txBody>
      </p:sp>
      <p:sp>
        <p:nvSpPr>
          <p:cNvPr id="65" name="TextBox 64"/>
          <p:cNvSpPr txBox="1"/>
          <p:nvPr/>
        </p:nvSpPr>
        <p:spPr>
          <a:xfrm>
            <a:off x="10195560" y="32918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703.2.1</a:t>
            </a:r>
          </a:p>
        </p:txBody>
      </p:sp>
      <p:sp>
        <p:nvSpPr>
          <p:cNvPr id="66" name="TextBox 65"/>
          <p:cNvSpPr txBox="1"/>
          <p:nvPr/>
        </p:nvSpPr>
        <p:spPr>
          <a:xfrm>
            <a:off x="6400800" y="36576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Braille</a:t>
            </a:r>
          </a:p>
        </p:txBody>
      </p:sp>
      <p:sp>
        <p:nvSpPr>
          <p:cNvPr id="67" name="TextBox 66"/>
          <p:cNvSpPr txBox="1"/>
          <p:nvPr/>
        </p:nvSpPr>
        <p:spPr>
          <a:xfrm>
            <a:off x="8549640" y="36576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Grade 2 adjacent</a:t>
            </a:r>
          </a:p>
        </p:txBody>
      </p:sp>
      <p:sp>
        <p:nvSpPr>
          <p:cNvPr id="68" name="TextBox 67"/>
          <p:cNvSpPr txBox="1"/>
          <p:nvPr/>
        </p:nvSpPr>
        <p:spPr>
          <a:xfrm>
            <a:off x="10195560" y="36576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703.3</a:t>
            </a:r>
          </a:p>
        </p:txBody>
      </p:sp>
      <p:sp>
        <p:nvSpPr>
          <p:cNvPr id="69" name="TextBox 68"/>
          <p:cNvSpPr txBox="1"/>
          <p:nvPr/>
        </p:nvSpPr>
        <p:spPr>
          <a:xfrm>
            <a:off x="6400800" y="40233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Visual character contrast</a:t>
            </a:r>
          </a:p>
        </p:txBody>
      </p:sp>
      <p:sp>
        <p:nvSpPr>
          <p:cNvPr id="70" name="TextBox 69"/>
          <p:cNvSpPr txBox="1"/>
          <p:nvPr/>
        </p:nvSpPr>
        <p:spPr>
          <a:xfrm>
            <a:off x="8549640" y="40233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70% min</a:t>
            </a:r>
          </a:p>
        </p:txBody>
      </p:sp>
      <p:sp>
        <p:nvSpPr>
          <p:cNvPr id="71" name="TextBox 70"/>
          <p:cNvSpPr txBox="1"/>
          <p:nvPr/>
        </p:nvSpPr>
        <p:spPr>
          <a:xfrm>
            <a:off x="10195560" y="40233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703.5.1</a:t>
            </a:r>
          </a:p>
        </p:txBody>
      </p:sp>
      <p:sp>
        <p:nvSpPr>
          <p:cNvPr id="72" name="TextBox 71"/>
          <p:cNvSpPr txBox="1"/>
          <p:nvPr/>
        </p:nvSpPr>
        <p:spPr>
          <a:xfrm>
            <a:off x="6400800" y="438912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Visual char. height (rm)</a:t>
            </a:r>
          </a:p>
        </p:txBody>
      </p:sp>
      <p:sp>
        <p:nvSpPr>
          <p:cNvPr id="73" name="TextBox 72"/>
          <p:cNvSpPr txBox="1"/>
          <p:nvPr/>
        </p:nvSpPr>
        <p:spPr>
          <a:xfrm>
            <a:off x="8549640" y="438912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5/8" min</a:t>
            </a:r>
          </a:p>
        </p:txBody>
      </p:sp>
      <p:sp>
        <p:nvSpPr>
          <p:cNvPr id="74" name="TextBox 73"/>
          <p:cNvSpPr txBox="1"/>
          <p:nvPr/>
        </p:nvSpPr>
        <p:spPr>
          <a:xfrm>
            <a:off x="10195560" y="438912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703.5.5</a:t>
            </a:r>
          </a:p>
        </p:txBody>
      </p:sp>
      <p:sp>
        <p:nvSpPr>
          <p:cNvPr id="75" name="TextBox 74"/>
          <p:cNvSpPr txBox="1"/>
          <p:nvPr/>
        </p:nvSpPr>
        <p:spPr>
          <a:xfrm>
            <a:off x="6400800" y="475488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ISA color</a:t>
            </a:r>
          </a:p>
        </p:txBody>
      </p:sp>
      <p:sp>
        <p:nvSpPr>
          <p:cNvPr id="76" name="TextBox 75"/>
          <p:cNvSpPr txBox="1"/>
          <p:nvPr/>
        </p:nvSpPr>
        <p:spPr>
          <a:xfrm>
            <a:off x="8549640" y="475488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White on blue (or contrast)</a:t>
            </a:r>
          </a:p>
        </p:txBody>
      </p:sp>
      <p:sp>
        <p:nvSpPr>
          <p:cNvPr id="77" name="TextBox 76"/>
          <p:cNvSpPr txBox="1"/>
          <p:nvPr/>
        </p:nvSpPr>
        <p:spPr>
          <a:xfrm>
            <a:off x="10195560" y="475488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703.7.2.1</a:t>
            </a:r>
          </a:p>
        </p:txBody>
      </p:sp>
      <p:sp>
        <p:nvSpPr>
          <p:cNvPr id="78" name="TextBox 77"/>
          <p:cNvSpPr txBox="1"/>
          <p:nvPr/>
        </p:nvSpPr>
        <p:spPr>
          <a:xfrm>
            <a:off x="6400800" y="512064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Directional signs</a:t>
            </a:r>
          </a:p>
        </p:txBody>
      </p:sp>
      <p:sp>
        <p:nvSpPr>
          <p:cNvPr id="79" name="TextBox 78"/>
          <p:cNvSpPr txBox="1"/>
          <p:nvPr/>
        </p:nvSpPr>
        <p:spPr>
          <a:xfrm>
            <a:off x="8549640" y="512064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Required when route ≠ main</a:t>
            </a:r>
          </a:p>
        </p:txBody>
      </p:sp>
      <p:sp>
        <p:nvSpPr>
          <p:cNvPr id="80" name="TextBox 79"/>
          <p:cNvSpPr txBox="1"/>
          <p:nvPr/>
        </p:nvSpPr>
        <p:spPr>
          <a:xfrm>
            <a:off x="10195560" y="512064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216.3 / 216.6</a:t>
            </a:r>
          </a:p>
        </p:txBody>
      </p:sp>
      <p:sp>
        <p:nvSpPr>
          <p:cNvPr id="81" name="TextBox 80"/>
          <p:cNvSpPr txBox="1"/>
          <p:nvPr/>
        </p:nvSpPr>
        <p:spPr>
          <a:xfrm>
            <a:off x="6400800" y="548640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Restroom door designation</a:t>
            </a:r>
          </a:p>
        </p:txBody>
      </p:sp>
      <p:sp>
        <p:nvSpPr>
          <p:cNvPr id="82" name="TextBox 81"/>
          <p:cNvSpPr txBox="1"/>
          <p:nvPr/>
        </p:nvSpPr>
        <p:spPr>
          <a:xfrm>
            <a:off x="8549640" y="548640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ISA + 'WOMEN' / 'MEN' tactile</a:t>
            </a:r>
          </a:p>
        </p:txBody>
      </p:sp>
      <p:sp>
        <p:nvSpPr>
          <p:cNvPr id="83" name="TextBox 82"/>
          <p:cNvSpPr txBox="1"/>
          <p:nvPr/>
        </p:nvSpPr>
        <p:spPr>
          <a:xfrm>
            <a:off x="10195560" y="548640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216.8</a:t>
            </a:r>
          </a:p>
        </p:txBody>
      </p:sp>
      <p:sp>
        <p:nvSpPr>
          <p:cNvPr id="84" name="TextBox 83"/>
          <p:cNvSpPr txBox="1"/>
          <p:nvPr/>
        </p:nvSpPr>
        <p:spPr>
          <a:xfrm>
            <a:off x="6400800" y="5852160"/>
            <a:ext cx="3657600" cy="320040"/>
          </a:xfrm>
          <a:prstGeom prst="rect">
            <a:avLst/>
          </a:prstGeom>
          <a:noFill/>
        </p:spPr>
        <p:txBody>
          <a:bodyPr wrap="square" lIns="45720" rIns="45720" tIns="18288" bIns="18288" anchor="ctr">
            <a:spAutoFit/>
          </a:bodyPr>
          <a:lstStyle/>
          <a:p>
            <a:pPr algn="l"/>
            <a:r>
              <a:rPr sz="1100" b="1" i="0">
                <a:solidFill>
                  <a:srgbClr val="1A2744"/>
                </a:solidFill>
                <a:latin typeface="Calibri"/>
              </a:rPr>
              <a:t>Stairway tactile</a:t>
            </a:r>
          </a:p>
        </p:txBody>
      </p:sp>
      <p:sp>
        <p:nvSpPr>
          <p:cNvPr id="85" name="TextBox 84"/>
          <p:cNvSpPr txBox="1"/>
          <p:nvPr/>
        </p:nvSpPr>
        <p:spPr>
          <a:xfrm>
            <a:off x="8549640" y="5852160"/>
            <a:ext cx="1645920" cy="320040"/>
          </a:xfrm>
          <a:prstGeom prst="rect">
            <a:avLst/>
          </a:prstGeom>
          <a:noFill/>
        </p:spPr>
        <p:txBody>
          <a:bodyPr wrap="square" lIns="45720" rIns="45720" tIns="18288" bIns="18288" anchor="ctr">
            <a:spAutoFit/>
          </a:bodyPr>
          <a:lstStyle/>
          <a:p>
            <a:pPr algn="l"/>
            <a:r>
              <a:rPr sz="1100" b="0" i="0">
                <a:solidFill>
                  <a:srgbClr val="1A1A1A"/>
                </a:solidFill>
                <a:latin typeface="Consolas"/>
              </a:rPr>
              <a:t>Exit sign tactile</a:t>
            </a:r>
          </a:p>
        </p:txBody>
      </p:sp>
      <p:sp>
        <p:nvSpPr>
          <p:cNvPr id="86" name="TextBox 85"/>
          <p:cNvSpPr txBox="1"/>
          <p:nvPr/>
        </p:nvSpPr>
        <p:spPr>
          <a:xfrm>
            <a:off x="10195560" y="5852160"/>
            <a:ext cx="1463040" cy="320040"/>
          </a:xfrm>
          <a:prstGeom prst="rect">
            <a:avLst/>
          </a:prstGeom>
          <a:noFill/>
        </p:spPr>
        <p:txBody>
          <a:bodyPr wrap="square" lIns="45720" rIns="45720" tIns="18288" bIns="18288" anchor="ctr">
            <a:spAutoFit/>
          </a:bodyPr>
          <a:lstStyle/>
          <a:p>
            <a:pPr algn="r"/>
            <a:r>
              <a:rPr sz="1000" b="0" i="0">
                <a:solidFill>
                  <a:srgbClr val="6B6659"/>
                </a:solidFill>
                <a:latin typeface="Consolas"/>
              </a:rPr>
              <a:t>216.4.3 / 703.4</a:t>
            </a:r>
          </a:p>
        </p:txBody>
      </p:sp>
      <p:sp>
        <p:nvSpPr>
          <p:cNvPr id="87" name="TextBox 86"/>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88" name="TextBox 87"/>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42 / 63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43 · CTE CLASSROOMS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California's 15 CTE sectors — at a glance</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411480"/>
          </a:xfrm>
          <a:prstGeom prst="rect">
            <a:avLst/>
          </a:prstGeom>
          <a:noFill/>
        </p:spPr>
        <p:txBody>
          <a:bodyPr wrap="square" lIns="45720" rIns="45720" tIns="18288" bIns="18288" anchor="t">
            <a:spAutoFit/>
          </a:bodyPr>
          <a:lstStyle/>
          <a:p>
            <a:pPr algn="l"/>
            <a:r>
              <a:rPr sz="1400" b="0" i="1">
                <a:solidFill>
                  <a:srgbClr val="6B6659"/>
                </a:solidFill>
                <a:latin typeface="Calibri"/>
              </a:rPr>
              <a:t>Every CRR 20 / 21 review touches at least one CTE sector. Know which sector you're in — it shapes what to measure.</a:t>
            </a:r>
          </a:p>
        </p:txBody>
      </p:sp>
      <p:sp>
        <p:nvSpPr>
          <p:cNvPr id="10" name="Rectangle 9"/>
          <p:cNvSpPr/>
          <p:nvPr/>
        </p:nvSpPr>
        <p:spPr>
          <a:xfrm>
            <a:off x="502920" y="1920240"/>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920240"/>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984248"/>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Agriculture &amp; Natural Resources</a:t>
            </a:r>
          </a:p>
        </p:txBody>
      </p:sp>
      <p:sp>
        <p:nvSpPr>
          <p:cNvPr id="13" name="TextBox 12"/>
          <p:cNvSpPr txBox="1"/>
          <p:nvPr/>
        </p:nvSpPr>
        <p:spPr>
          <a:xfrm>
            <a:off x="685800" y="2286000"/>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Greenhouses, ag mech shops, animal labs, vet science</a:t>
            </a:r>
          </a:p>
        </p:txBody>
      </p:sp>
      <p:sp>
        <p:nvSpPr>
          <p:cNvPr id="14" name="Rectangle 13"/>
          <p:cNvSpPr/>
          <p:nvPr/>
        </p:nvSpPr>
        <p:spPr>
          <a:xfrm>
            <a:off x="4389120" y="1920240"/>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920240"/>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1984248"/>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Arts, Media &amp; Entertainment</a:t>
            </a:r>
          </a:p>
        </p:txBody>
      </p:sp>
      <p:sp>
        <p:nvSpPr>
          <p:cNvPr id="17" name="TextBox 16"/>
          <p:cNvSpPr txBox="1"/>
          <p:nvPr/>
        </p:nvSpPr>
        <p:spPr>
          <a:xfrm>
            <a:off x="4572000" y="2286000"/>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Studios, photo darkrooms, performance spaces, edit bays</a:t>
            </a:r>
          </a:p>
        </p:txBody>
      </p:sp>
      <p:sp>
        <p:nvSpPr>
          <p:cNvPr id="18" name="Rectangle 17"/>
          <p:cNvSpPr/>
          <p:nvPr/>
        </p:nvSpPr>
        <p:spPr>
          <a:xfrm>
            <a:off x="8275320" y="1920240"/>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75320" y="1920240"/>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200" y="1984248"/>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Building &amp; Construction Trades</a:t>
            </a:r>
          </a:p>
        </p:txBody>
      </p:sp>
      <p:sp>
        <p:nvSpPr>
          <p:cNvPr id="21" name="TextBox 20"/>
          <p:cNvSpPr txBox="1"/>
          <p:nvPr/>
        </p:nvSpPr>
        <p:spPr>
          <a:xfrm>
            <a:off x="8458200" y="2286000"/>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Carpentry, masonry, electrical, HVAC, plumbing bays</a:t>
            </a:r>
          </a:p>
        </p:txBody>
      </p:sp>
      <p:sp>
        <p:nvSpPr>
          <p:cNvPr id="22" name="Rectangle 21"/>
          <p:cNvSpPr/>
          <p:nvPr/>
        </p:nvSpPr>
        <p:spPr>
          <a:xfrm>
            <a:off x="502920" y="2788920"/>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2788920"/>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2852928"/>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Business &amp; Finance</a:t>
            </a:r>
          </a:p>
        </p:txBody>
      </p:sp>
      <p:sp>
        <p:nvSpPr>
          <p:cNvPr id="25" name="TextBox 24"/>
          <p:cNvSpPr txBox="1"/>
          <p:nvPr/>
        </p:nvSpPr>
        <p:spPr>
          <a:xfrm>
            <a:off x="685800" y="3154680"/>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Computer labs, mock-bank classrooms</a:t>
            </a:r>
          </a:p>
        </p:txBody>
      </p:sp>
      <p:sp>
        <p:nvSpPr>
          <p:cNvPr id="26" name="Rectangle 25"/>
          <p:cNvSpPr/>
          <p:nvPr/>
        </p:nvSpPr>
        <p:spPr>
          <a:xfrm>
            <a:off x="4389120" y="2788920"/>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0" y="2788920"/>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2852928"/>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Education, Child Development &amp; Family</a:t>
            </a:r>
          </a:p>
        </p:txBody>
      </p:sp>
      <p:sp>
        <p:nvSpPr>
          <p:cNvPr id="29" name="TextBox 28"/>
          <p:cNvSpPr txBox="1"/>
          <p:nvPr/>
        </p:nvSpPr>
        <p:spPr>
          <a:xfrm>
            <a:off x="4572000" y="3154680"/>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Lab schools, preschool classrooms, kitchens</a:t>
            </a:r>
          </a:p>
        </p:txBody>
      </p:sp>
      <p:sp>
        <p:nvSpPr>
          <p:cNvPr id="30" name="Rectangle 29"/>
          <p:cNvSpPr/>
          <p:nvPr/>
        </p:nvSpPr>
        <p:spPr>
          <a:xfrm>
            <a:off x="8275320" y="2788920"/>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75320" y="2788920"/>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200" y="2852928"/>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Energy, Environment &amp; Utilities</a:t>
            </a:r>
          </a:p>
        </p:txBody>
      </p:sp>
      <p:sp>
        <p:nvSpPr>
          <p:cNvPr id="33" name="TextBox 32"/>
          <p:cNvSpPr txBox="1"/>
          <p:nvPr/>
        </p:nvSpPr>
        <p:spPr>
          <a:xfrm>
            <a:off x="8458200" y="3154680"/>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Solar / wind / EV labs, HVAC labs</a:t>
            </a:r>
          </a:p>
        </p:txBody>
      </p:sp>
      <p:sp>
        <p:nvSpPr>
          <p:cNvPr id="34" name="Rectangle 33"/>
          <p:cNvSpPr/>
          <p:nvPr/>
        </p:nvSpPr>
        <p:spPr>
          <a:xfrm>
            <a:off x="502920" y="3657600"/>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2920" y="3657600"/>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3721608"/>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Engineering &amp; Architecture</a:t>
            </a:r>
          </a:p>
        </p:txBody>
      </p:sp>
      <p:sp>
        <p:nvSpPr>
          <p:cNvPr id="37" name="TextBox 36"/>
          <p:cNvSpPr txBox="1"/>
          <p:nvPr/>
        </p:nvSpPr>
        <p:spPr>
          <a:xfrm>
            <a:off x="685800" y="4023360"/>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CAD labs, drafting tables, fabrication labs</a:t>
            </a:r>
          </a:p>
        </p:txBody>
      </p:sp>
      <p:sp>
        <p:nvSpPr>
          <p:cNvPr id="38" name="Rectangle 37"/>
          <p:cNvSpPr/>
          <p:nvPr/>
        </p:nvSpPr>
        <p:spPr>
          <a:xfrm>
            <a:off x="4389120" y="3657600"/>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389120" y="3657600"/>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0" y="3721608"/>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Fashion &amp; Interior Design</a:t>
            </a:r>
          </a:p>
        </p:txBody>
      </p:sp>
      <p:sp>
        <p:nvSpPr>
          <p:cNvPr id="41" name="TextBox 40"/>
          <p:cNvSpPr txBox="1"/>
          <p:nvPr/>
        </p:nvSpPr>
        <p:spPr>
          <a:xfrm>
            <a:off x="4572000" y="4023360"/>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Sewing labs, fitting rooms, interior design studios</a:t>
            </a:r>
          </a:p>
        </p:txBody>
      </p:sp>
      <p:sp>
        <p:nvSpPr>
          <p:cNvPr id="42" name="Rectangle 41"/>
          <p:cNvSpPr/>
          <p:nvPr/>
        </p:nvSpPr>
        <p:spPr>
          <a:xfrm>
            <a:off x="8275320" y="3657600"/>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75320" y="3657600"/>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58200" y="3721608"/>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Health Science &amp; Medical Technology</a:t>
            </a:r>
          </a:p>
        </p:txBody>
      </p:sp>
      <p:sp>
        <p:nvSpPr>
          <p:cNvPr id="45" name="TextBox 44"/>
          <p:cNvSpPr txBox="1"/>
          <p:nvPr/>
        </p:nvSpPr>
        <p:spPr>
          <a:xfrm>
            <a:off x="8458200" y="4023360"/>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Nursing skills labs, dental, biotech, sports med</a:t>
            </a:r>
          </a:p>
        </p:txBody>
      </p:sp>
      <p:sp>
        <p:nvSpPr>
          <p:cNvPr id="46" name="Rectangle 45"/>
          <p:cNvSpPr/>
          <p:nvPr/>
        </p:nvSpPr>
        <p:spPr>
          <a:xfrm>
            <a:off x="502920" y="4526279"/>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02920" y="4526279"/>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5800" y="4590287"/>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Hospitality, Tourism &amp; Recreation</a:t>
            </a:r>
          </a:p>
        </p:txBody>
      </p:sp>
      <p:sp>
        <p:nvSpPr>
          <p:cNvPr id="49" name="TextBox 48"/>
          <p:cNvSpPr txBox="1"/>
          <p:nvPr/>
        </p:nvSpPr>
        <p:spPr>
          <a:xfrm>
            <a:off x="685800" y="4892039"/>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Culinary kitchens, hotel mock-rooms, baking labs</a:t>
            </a:r>
          </a:p>
        </p:txBody>
      </p:sp>
      <p:sp>
        <p:nvSpPr>
          <p:cNvPr id="50" name="Rectangle 49"/>
          <p:cNvSpPr/>
          <p:nvPr/>
        </p:nvSpPr>
        <p:spPr>
          <a:xfrm>
            <a:off x="4389120" y="4526279"/>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389120" y="4526279"/>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0" y="4590287"/>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Information &amp; Communication Tech</a:t>
            </a:r>
          </a:p>
        </p:txBody>
      </p:sp>
      <p:sp>
        <p:nvSpPr>
          <p:cNvPr id="53" name="TextBox 52"/>
          <p:cNvSpPr txBox="1"/>
          <p:nvPr/>
        </p:nvSpPr>
        <p:spPr>
          <a:xfrm>
            <a:off x="4572000" y="4892039"/>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Networking labs, server rooms, cyber labs</a:t>
            </a:r>
          </a:p>
        </p:txBody>
      </p:sp>
      <p:sp>
        <p:nvSpPr>
          <p:cNvPr id="54" name="Rectangle 53"/>
          <p:cNvSpPr/>
          <p:nvPr/>
        </p:nvSpPr>
        <p:spPr>
          <a:xfrm>
            <a:off x="8275320" y="4526279"/>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275320" y="4526279"/>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58200" y="4590287"/>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Manufacturing &amp; Product Development</a:t>
            </a:r>
          </a:p>
        </p:txBody>
      </p:sp>
      <p:sp>
        <p:nvSpPr>
          <p:cNvPr id="57" name="TextBox 56"/>
          <p:cNvSpPr txBox="1"/>
          <p:nvPr/>
        </p:nvSpPr>
        <p:spPr>
          <a:xfrm>
            <a:off x="8458200" y="4892039"/>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Welding bays, CNC labs, machine shops, robotics</a:t>
            </a:r>
          </a:p>
        </p:txBody>
      </p:sp>
      <p:sp>
        <p:nvSpPr>
          <p:cNvPr id="58" name="Rectangle 57"/>
          <p:cNvSpPr/>
          <p:nvPr/>
        </p:nvSpPr>
        <p:spPr>
          <a:xfrm>
            <a:off x="502920" y="5394960"/>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02920" y="5394960"/>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85800" y="5458968"/>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Marketing, Sales &amp; Service</a:t>
            </a:r>
          </a:p>
        </p:txBody>
      </p:sp>
      <p:sp>
        <p:nvSpPr>
          <p:cNvPr id="61" name="TextBox 60"/>
          <p:cNvSpPr txBox="1"/>
          <p:nvPr/>
        </p:nvSpPr>
        <p:spPr>
          <a:xfrm>
            <a:off x="685800" y="5760720"/>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Retail mock-stores, service counters</a:t>
            </a:r>
          </a:p>
        </p:txBody>
      </p:sp>
      <p:sp>
        <p:nvSpPr>
          <p:cNvPr id="62" name="Rectangle 61"/>
          <p:cNvSpPr/>
          <p:nvPr/>
        </p:nvSpPr>
        <p:spPr>
          <a:xfrm>
            <a:off x="4389120" y="5394960"/>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389120" y="5394960"/>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0" y="5458968"/>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Public Services</a:t>
            </a:r>
          </a:p>
        </p:txBody>
      </p:sp>
      <p:sp>
        <p:nvSpPr>
          <p:cNvPr id="65" name="TextBox 64"/>
          <p:cNvSpPr txBox="1"/>
          <p:nvPr/>
        </p:nvSpPr>
        <p:spPr>
          <a:xfrm>
            <a:off x="4572000" y="5760720"/>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Fire science, criminal justice, EMR labs, simulators</a:t>
            </a:r>
          </a:p>
        </p:txBody>
      </p:sp>
      <p:sp>
        <p:nvSpPr>
          <p:cNvPr id="66" name="Rectangle 65"/>
          <p:cNvSpPr/>
          <p:nvPr/>
        </p:nvSpPr>
        <p:spPr>
          <a:xfrm>
            <a:off x="8275320" y="5394960"/>
            <a:ext cx="3703320" cy="7772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275320" y="5394960"/>
            <a:ext cx="109728" cy="7772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58200" y="5458968"/>
            <a:ext cx="3474720" cy="292608"/>
          </a:xfrm>
          <a:prstGeom prst="rect">
            <a:avLst/>
          </a:prstGeom>
          <a:noFill/>
        </p:spPr>
        <p:txBody>
          <a:bodyPr wrap="square" lIns="45720" rIns="45720" tIns="18288" bIns="18288" anchor="t">
            <a:spAutoFit/>
          </a:bodyPr>
          <a:lstStyle/>
          <a:p>
            <a:pPr algn="l"/>
            <a:r>
              <a:rPr sz="1000" b="1" i="0">
                <a:solidFill>
                  <a:srgbClr val="1A2744"/>
                </a:solidFill>
                <a:latin typeface="Calibri"/>
              </a:rPr>
              <a:t>Transportation</a:t>
            </a:r>
          </a:p>
        </p:txBody>
      </p:sp>
      <p:sp>
        <p:nvSpPr>
          <p:cNvPr id="69" name="TextBox 68"/>
          <p:cNvSpPr txBox="1"/>
          <p:nvPr/>
        </p:nvSpPr>
        <p:spPr>
          <a:xfrm>
            <a:off x="8458200" y="5760720"/>
            <a:ext cx="3474720" cy="411480"/>
          </a:xfrm>
          <a:prstGeom prst="rect">
            <a:avLst/>
          </a:prstGeom>
          <a:noFill/>
        </p:spPr>
        <p:txBody>
          <a:bodyPr wrap="square" lIns="45720" rIns="45720" tIns="18288" bIns="18288" anchor="t">
            <a:spAutoFit/>
          </a:bodyPr>
          <a:lstStyle/>
          <a:p>
            <a:pPr algn="l"/>
            <a:r>
              <a:rPr sz="900" b="0" i="1">
                <a:solidFill>
                  <a:srgbClr val="6B6659"/>
                </a:solidFill>
                <a:latin typeface="Calibri"/>
              </a:rPr>
              <a:t>Auto shop, diesel, aviation, marine bays</a:t>
            </a:r>
          </a:p>
        </p:txBody>
      </p:sp>
      <p:sp>
        <p:nvSpPr>
          <p:cNvPr id="70" name="TextBox 69"/>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71" name="TextBox 70"/>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43 / 63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44 · CTE CLASSROOMS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CTE deep-dive — Building &amp; Construction Trades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300" b="0" i="1">
                <a:solidFill>
                  <a:srgbClr val="6B6659"/>
                </a:solidFill>
                <a:latin typeface="Calibri"/>
              </a:rPr>
              <a:t>Carpentry, masonry, electrical, HVAC, plumbing — high-equipment-density labs with mobility, reach, and clearance challenges.</a:t>
            </a:r>
          </a:p>
        </p:txBody>
      </p:sp>
      <p:sp>
        <p:nvSpPr>
          <p:cNvPr id="10" name="TextBox 9"/>
          <p:cNvSpPr txBox="1"/>
          <p:nvPr/>
        </p:nvSpPr>
        <p:spPr>
          <a:xfrm>
            <a:off x="502920" y="1920240"/>
            <a:ext cx="5943600" cy="365760"/>
          </a:xfrm>
          <a:prstGeom prst="rect">
            <a:avLst/>
          </a:prstGeom>
          <a:noFill/>
        </p:spPr>
        <p:txBody>
          <a:bodyPr wrap="square" lIns="45720" rIns="45720" tIns="18288" bIns="18288" anchor="t">
            <a:spAutoFit/>
          </a:bodyPr>
          <a:lstStyle/>
          <a:p>
            <a:pPr algn="l"/>
            <a:r>
              <a:rPr sz="1400" b="1" i="0">
                <a:solidFill>
                  <a:srgbClr val="1A2744"/>
                </a:solidFill>
                <a:latin typeface="Calibri"/>
              </a:rPr>
              <a:t>What to look for:</a:t>
            </a:r>
          </a:p>
        </p:txBody>
      </p:sp>
      <p:sp>
        <p:nvSpPr>
          <p:cNvPr id="11" name="TextBox 10"/>
          <p:cNvSpPr txBox="1"/>
          <p:nvPr/>
        </p:nvSpPr>
        <p:spPr>
          <a:xfrm>
            <a:off x="502920" y="2331720"/>
            <a:ext cx="5943600" cy="4114800"/>
          </a:xfrm>
          <a:prstGeom prst="rect">
            <a:avLst/>
          </a:prstGeom>
          <a:noFill/>
        </p:spPr>
        <p:txBody>
          <a:bodyPr wrap="square" lIns="45720" rIns="45720">
            <a:spAutoFit/>
          </a:bodyPr>
          <a:lstStyle/>
          <a:p>
            <a:pPr algn="l">
              <a:spcAft>
                <a:spcPts val="400"/>
              </a:spcAft>
            </a:pPr>
            <a:r>
              <a:rPr sz="1200" b="1">
                <a:solidFill>
                  <a:srgbClr val="1A1A1A"/>
                </a:solidFill>
                <a:latin typeface="Calibri"/>
              </a:rPr>
              <a:t>•  Workbench accessibility.</a:t>
            </a:r>
            <a:r>
              <a:rPr sz="1200">
                <a:solidFill>
                  <a:srgbClr val="1A1A1A"/>
                </a:solidFill>
                <a:latin typeface="Calibri"/>
              </a:rPr>
              <a:t>  At least one workbench with 27"H × 30"W × 19"D knee/toe clearance for forward approach. Adjustable-height benches strongly preferred.</a:t>
            </a:r>
          </a:p>
          <a:p>
            <a:pPr algn="l">
              <a:spcAft>
                <a:spcPts val="400"/>
              </a:spcAft>
            </a:pPr>
            <a:r>
              <a:rPr sz="1200" b="1">
                <a:solidFill>
                  <a:srgbClr val="1A1A1A"/>
                </a:solidFill>
                <a:latin typeface="Calibri"/>
              </a:rPr>
              <a:t>•  Power tool reach.</a:t>
            </a:r>
            <a:r>
              <a:rPr sz="1200">
                <a:solidFill>
                  <a:srgbClr val="1A1A1A"/>
                </a:solidFill>
                <a:latin typeface="Calibri"/>
              </a:rPr>
              <a:t>  Outlet strips and tool controls within 15"–48" reach range. Plug strips mounted on wall above 48" = violation.</a:t>
            </a:r>
          </a:p>
          <a:p>
            <a:pPr algn="l">
              <a:spcAft>
                <a:spcPts val="400"/>
              </a:spcAft>
            </a:pPr>
            <a:r>
              <a:rPr sz="1200" b="1">
                <a:solidFill>
                  <a:srgbClr val="1A1A1A"/>
                </a:solidFill>
                <a:latin typeface="Calibri"/>
              </a:rPr>
              <a:t>•  Aisle width between stations.</a:t>
            </a:r>
            <a:r>
              <a:rPr sz="1200">
                <a:solidFill>
                  <a:srgbClr val="1A1A1A"/>
                </a:solidFill>
                <a:latin typeface="Calibri"/>
              </a:rPr>
              <a:t>  36" minimum accessible route; 48" preferred for wheelchair turnaround between active stations.</a:t>
            </a:r>
          </a:p>
          <a:p>
            <a:pPr algn="l">
              <a:spcAft>
                <a:spcPts val="400"/>
              </a:spcAft>
            </a:pPr>
            <a:r>
              <a:rPr sz="1200" b="1">
                <a:solidFill>
                  <a:srgbClr val="1A1A1A"/>
                </a:solidFill>
                <a:latin typeface="Calibri"/>
              </a:rPr>
              <a:t>•  Tool storage / cabinets.</a:t>
            </a:r>
            <a:r>
              <a:rPr sz="1200">
                <a:solidFill>
                  <a:srgbClr val="1A1A1A"/>
                </a:solidFill>
                <a:latin typeface="Calibri"/>
              </a:rPr>
              <a:t>  Shelves and drawers accessible — top shelf ≤ 48" reach. Heavy tools at lower shelves.</a:t>
            </a:r>
          </a:p>
          <a:p>
            <a:pPr algn="l">
              <a:spcAft>
                <a:spcPts val="400"/>
              </a:spcAft>
            </a:pPr>
            <a:r>
              <a:rPr sz="1200" b="1">
                <a:solidFill>
                  <a:srgbClr val="1A1A1A"/>
                </a:solidFill>
                <a:latin typeface="Calibri"/>
              </a:rPr>
              <a:t>•  Emergency stop / e-stop.</a:t>
            </a:r>
            <a:r>
              <a:rPr sz="1200">
                <a:solidFill>
                  <a:srgbClr val="1A1A1A"/>
                </a:solidFill>
                <a:latin typeface="Calibri"/>
              </a:rPr>
              <a:t>  Within 15"–48" reach. Mushroom heads visible — color contrast required for safety (CA OSHA also).</a:t>
            </a:r>
          </a:p>
          <a:p>
            <a:pPr algn="l">
              <a:spcAft>
                <a:spcPts val="400"/>
              </a:spcAft>
            </a:pPr>
            <a:r>
              <a:rPr sz="1200" b="1">
                <a:solidFill>
                  <a:srgbClr val="1A1A1A"/>
                </a:solidFill>
                <a:latin typeface="Calibri"/>
              </a:rPr>
              <a:t>•  Eyewash / safety shower.</a:t>
            </a:r>
            <a:r>
              <a:rPr sz="1200">
                <a:solidFill>
                  <a:srgbClr val="1A1A1A"/>
                </a:solidFill>
                <a:latin typeface="Calibri"/>
              </a:rPr>
              <a:t>  Hardware operable with closed fist; spray heads within reach range; clear floor space at base.</a:t>
            </a:r>
          </a:p>
        </p:txBody>
      </p:sp>
      <p:sp>
        <p:nvSpPr>
          <p:cNvPr id="12" name="Rectangle 11"/>
          <p:cNvSpPr/>
          <p:nvPr/>
        </p:nvSpPr>
        <p:spPr>
          <a:xfrm>
            <a:off x="6675120" y="1920240"/>
            <a:ext cx="5074920" cy="4526280"/>
          </a:xfrm>
          <a:prstGeom prst="rect">
            <a:avLst/>
          </a:prstGeom>
          <a:solidFill>
            <a:srgbClr val="F7F4EE"/>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75120" y="1920240"/>
            <a:ext cx="5074920" cy="41148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1920240"/>
            <a:ext cx="5074920" cy="411480"/>
          </a:xfrm>
          <a:prstGeom prst="rect">
            <a:avLst/>
          </a:prstGeom>
          <a:noFill/>
        </p:spPr>
        <p:txBody>
          <a:bodyPr wrap="square" lIns="45720" rIns="45720" tIns="18288" bIns="18288" anchor="ctr">
            <a:spAutoFit/>
          </a:bodyPr>
          <a:lstStyle/>
          <a:p>
            <a:pPr algn="ctr"/>
            <a:r>
              <a:rPr sz="1100" b="1" i="0">
                <a:solidFill>
                  <a:srgbClr val="FFFFFF"/>
                </a:solidFill>
                <a:latin typeface="Consolas"/>
              </a:rPr>
              <a:t>COMMON FINDINGS</a:t>
            </a:r>
          </a:p>
        </p:txBody>
      </p:sp>
      <p:sp>
        <p:nvSpPr>
          <p:cNvPr id="15" name="TextBox 14"/>
          <p:cNvSpPr txBox="1"/>
          <p:nvPr/>
        </p:nvSpPr>
        <p:spPr>
          <a:xfrm>
            <a:off x="6858000" y="2468880"/>
            <a:ext cx="4754880" cy="3840480"/>
          </a:xfrm>
          <a:prstGeom prst="rect">
            <a:avLst/>
          </a:prstGeom>
          <a:noFill/>
        </p:spPr>
        <p:txBody>
          <a:bodyPr wrap="square" lIns="45720" rIns="45720">
            <a:spAutoFit/>
          </a:bodyPr>
          <a:lstStyle/>
          <a:p>
            <a:pPr algn="l">
              <a:spcAft>
                <a:spcPts val="400"/>
              </a:spcAft>
            </a:pPr>
            <a:r>
              <a:rPr sz="1100" b="0">
                <a:solidFill>
                  <a:srgbClr val="1A1A1A"/>
                </a:solidFill>
                <a:latin typeface="Calibri"/>
              </a:rPr>
              <a:t>•  No workbench with knee/toe clearance — 100% of stations are fixed at 36" with full skirts.</a:t>
            </a:r>
          </a:p>
          <a:p>
            <a:pPr algn="l">
              <a:spcAft>
                <a:spcPts val="400"/>
              </a:spcAft>
            </a:pPr>
            <a:r>
              <a:rPr sz="1100" b="0">
                <a:solidFill>
                  <a:srgbClr val="1A1A1A"/>
                </a:solidFill>
                <a:latin typeface="Calibri"/>
              </a:rPr>
              <a:t>•  Tool cabinets with controls &gt; 48" forward reach.</a:t>
            </a:r>
          </a:p>
          <a:p>
            <a:pPr algn="l">
              <a:spcAft>
                <a:spcPts val="400"/>
              </a:spcAft>
            </a:pPr>
            <a:r>
              <a:rPr sz="1100" b="0">
                <a:solidFill>
                  <a:srgbClr val="1A1A1A"/>
                </a:solidFill>
                <a:latin typeface="Calibri"/>
              </a:rPr>
              <a:t>•  Compressed-air quick connects at 64" wall mount (out of reach).</a:t>
            </a:r>
          </a:p>
          <a:p>
            <a:pPr algn="l">
              <a:spcAft>
                <a:spcPts val="400"/>
              </a:spcAft>
            </a:pPr>
            <a:r>
              <a:rPr sz="1100" b="0">
                <a:solidFill>
                  <a:srgbClr val="1A1A1A"/>
                </a:solidFill>
                <a:latin typeface="Calibri"/>
              </a:rPr>
              <a:t>•  Welded-pipe storage racks reducing aisle to 28".</a:t>
            </a:r>
          </a:p>
          <a:p>
            <a:pPr algn="l">
              <a:spcAft>
                <a:spcPts val="400"/>
              </a:spcAft>
            </a:pPr>
            <a:r>
              <a:rPr sz="1100" b="0">
                <a:solidFill>
                  <a:srgbClr val="1A1A1A"/>
                </a:solidFill>
                <a:latin typeface="Calibri"/>
              </a:rPr>
              <a:t>•  Safety shower behind a sliding cabinet door — no clear floor space.</a:t>
            </a:r>
          </a:p>
          <a:p>
            <a:pPr algn="l">
              <a:spcAft>
                <a:spcPts val="400"/>
              </a:spcAft>
            </a:pPr>
            <a:r>
              <a:rPr sz="1100" b="0">
                <a:solidFill>
                  <a:srgbClr val="1A1A1A"/>
                </a:solidFill>
                <a:latin typeface="Calibri"/>
              </a:rPr>
              <a:t>•  Sawdust collection ducts blocking accessible route at chest height.</a:t>
            </a:r>
          </a:p>
        </p:txBody>
      </p:sp>
      <p:sp>
        <p:nvSpPr>
          <p:cNvPr id="16" name="TextBox 15"/>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7" name="TextBox 16"/>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44 / 63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45 · CTE CLASSROOMS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CTE deep-dive — Manufacturing &amp; welding</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300" b="0" i="1">
                <a:solidFill>
                  <a:srgbClr val="6B6659"/>
                </a:solidFill>
                <a:latin typeface="Calibri"/>
              </a:rPr>
              <a:t>Welding bays, CNC, machining, robotics, automotive — the highest-risk CTE category for accessibility issues.</a:t>
            </a:r>
          </a:p>
        </p:txBody>
      </p:sp>
      <p:sp>
        <p:nvSpPr>
          <p:cNvPr id="10" name="TextBox 9"/>
          <p:cNvSpPr txBox="1"/>
          <p:nvPr/>
        </p:nvSpPr>
        <p:spPr>
          <a:xfrm>
            <a:off x="502920" y="1920240"/>
            <a:ext cx="5943600" cy="365760"/>
          </a:xfrm>
          <a:prstGeom prst="rect">
            <a:avLst/>
          </a:prstGeom>
          <a:noFill/>
        </p:spPr>
        <p:txBody>
          <a:bodyPr wrap="square" lIns="45720" rIns="45720" tIns="18288" bIns="18288" anchor="t">
            <a:spAutoFit/>
          </a:bodyPr>
          <a:lstStyle/>
          <a:p>
            <a:pPr algn="l"/>
            <a:r>
              <a:rPr sz="1400" b="1" i="0">
                <a:solidFill>
                  <a:srgbClr val="1A2744"/>
                </a:solidFill>
                <a:latin typeface="Calibri"/>
              </a:rPr>
              <a:t>Critical issues:</a:t>
            </a:r>
          </a:p>
        </p:txBody>
      </p:sp>
      <p:sp>
        <p:nvSpPr>
          <p:cNvPr id="11" name="TextBox 10"/>
          <p:cNvSpPr txBox="1"/>
          <p:nvPr/>
        </p:nvSpPr>
        <p:spPr>
          <a:xfrm>
            <a:off x="502920" y="2331720"/>
            <a:ext cx="5943600" cy="4114800"/>
          </a:xfrm>
          <a:prstGeom prst="rect">
            <a:avLst/>
          </a:prstGeom>
          <a:noFill/>
        </p:spPr>
        <p:txBody>
          <a:bodyPr wrap="square" lIns="45720" rIns="45720">
            <a:spAutoFit/>
          </a:bodyPr>
          <a:lstStyle/>
          <a:p>
            <a:pPr algn="l">
              <a:spcAft>
                <a:spcPts val="400"/>
              </a:spcAft>
            </a:pPr>
            <a:r>
              <a:rPr sz="1200" b="1">
                <a:solidFill>
                  <a:srgbClr val="1A1A1A"/>
                </a:solidFill>
                <a:latin typeface="Calibri"/>
              </a:rPr>
              <a:t>•  Welding booth dimensions.</a:t>
            </a:r>
            <a:r>
              <a:rPr sz="1200">
                <a:solidFill>
                  <a:srgbClr val="1A1A1A"/>
                </a:solidFill>
                <a:latin typeface="Calibri"/>
              </a:rPr>
              <a:t>  Booth opening 32" minimum clear. Interior 60"×60" turning space if booth is enclosed.</a:t>
            </a:r>
          </a:p>
          <a:p>
            <a:pPr algn="l">
              <a:spcAft>
                <a:spcPts val="400"/>
              </a:spcAft>
            </a:pPr>
            <a:r>
              <a:rPr sz="1200" b="1">
                <a:solidFill>
                  <a:srgbClr val="1A1A1A"/>
                </a:solidFill>
                <a:latin typeface="Calibri"/>
              </a:rPr>
              <a:t>•  Welding table height.</a:t>
            </a:r>
            <a:r>
              <a:rPr sz="1200">
                <a:solidFill>
                  <a:srgbClr val="1A1A1A"/>
                </a:solidFill>
                <a:latin typeface="Calibri"/>
              </a:rPr>
              <a:t>  At least one table at 32"–34" with knee/toe clearance for seated operation.</a:t>
            </a:r>
          </a:p>
          <a:p>
            <a:pPr algn="l">
              <a:spcAft>
                <a:spcPts val="400"/>
              </a:spcAft>
            </a:pPr>
            <a:r>
              <a:rPr sz="1200" b="1">
                <a:solidFill>
                  <a:srgbClr val="1A1A1A"/>
                </a:solidFill>
                <a:latin typeface="Calibri"/>
              </a:rPr>
              <a:t>•  Booth ventilation reach.</a:t>
            </a:r>
            <a:r>
              <a:rPr sz="1200">
                <a:solidFill>
                  <a:srgbClr val="1A1A1A"/>
                </a:solidFill>
                <a:latin typeface="Calibri"/>
              </a:rPr>
              <a:t>  Hood positioning controls and gas-valve controls within 48" reach.</a:t>
            </a:r>
          </a:p>
          <a:p>
            <a:pPr algn="l">
              <a:spcAft>
                <a:spcPts val="400"/>
              </a:spcAft>
            </a:pPr>
            <a:r>
              <a:rPr sz="1200" b="1">
                <a:solidFill>
                  <a:srgbClr val="1A1A1A"/>
                </a:solidFill>
                <a:latin typeface="Calibri"/>
              </a:rPr>
              <a:t>•  CNC interface.</a:t>
            </a:r>
            <a:r>
              <a:rPr sz="1200">
                <a:solidFill>
                  <a:srgbClr val="1A1A1A"/>
                </a:solidFill>
                <a:latin typeface="Calibri"/>
              </a:rPr>
              <a:t>  Touch-screen or operator panel within 15"–48" reach; clear floor space in front.</a:t>
            </a:r>
          </a:p>
          <a:p>
            <a:pPr algn="l">
              <a:spcAft>
                <a:spcPts val="400"/>
              </a:spcAft>
            </a:pPr>
            <a:r>
              <a:rPr sz="1200" b="1">
                <a:solidFill>
                  <a:srgbClr val="1A1A1A"/>
                </a:solidFill>
                <a:latin typeface="Calibri"/>
              </a:rPr>
              <a:t>•  Auto-shop lifts.</a:t>
            </a:r>
            <a:r>
              <a:rPr sz="1200">
                <a:solidFill>
                  <a:srgbClr val="1A1A1A"/>
                </a:solidFill>
                <a:latin typeface="Calibri"/>
              </a:rPr>
              <a:t>  Lift controls within reach; accessible route to lift bay; clear floor space adjacent.</a:t>
            </a:r>
          </a:p>
          <a:p>
            <a:pPr algn="l">
              <a:spcAft>
                <a:spcPts val="400"/>
              </a:spcAft>
            </a:pPr>
            <a:r>
              <a:rPr sz="1200" b="1">
                <a:solidFill>
                  <a:srgbClr val="1A1A1A"/>
                </a:solidFill>
                <a:latin typeface="Calibri"/>
              </a:rPr>
              <a:t>•  Toolbox / tool crib.</a:t>
            </a:r>
            <a:r>
              <a:rPr sz="1200">
                <a:solidFill>
                  <a:srgbClr val="1A1A1A"/>
                </a:solidFill>
                <a:latin typeface="Calibri"/>
              </a:rPr>
              <a:t>  Service counter at 34" max if students approach; or alternate accessible counter.</a:t>
            </a:r>
          </a:p>
        </p:txBody>
      </p:sp>
      <p:sp>
        <p:nvSpPr>
          <p:cNvPr id="12" name="Rectangle 11"/>
          <p:cNvSpPr/>
          <p:nvPr/>
        </p:nvSpPr>
        <p:spPr>
          <a:xfrm>
            <a:off x="6675120" y="1920240"/>
            <a:ext cx="5074920" cy="4526280"/>
          </a:xfrm>
          <a:prstGeom prst="rect">
            <a:avLst/>
          </a:prstGeom>
          <a:solidFill>
            <a:srgbClr val="F7F4EE"/>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75120" y="1920240"/>
            <a:ext cx="5074920" cy="41148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1920240"/>
            <a:ext cx="5074920" cy="411480"/>
          </a:xfrm>
          <a:prstGeom prst="rect">
            <a:avLst/>
          </a:prstGeom>
          <a:noFill/>
        </p:spPr>
        <p:txBody>
          <a:bodyPr wrap="square" lIns="45720" rIns="45720" tIns="18288" bIns="18288" anchor="ctr">
            <a:spAutoFit/>
          </a:bodyPr>
          <a:lstStyle/>
          <a:p>
            <a:pPr algn="ctr"/>
            <a:r>
              <a:rPr sz="1100" b="1" i="0">
                <a:solidFill>
                  <a:srgbClr val="FFFFFF"/>
                </a:solidFill>
                <a:latin typeface="Consolas"/>
              </a:rPr>
              <a:t>COMMON FINDINGS</a:t>
            </a:r>
          </a:p>
        </p:txBody>
      </p:sp>
      <p:sp>
        <p:nvSpPr>
          <p:cNvPr id="15" name="TextBox 14"/>
          <p:cNvSpPr txBox="1"/>
          <p:nvPr/>
        </p:nvSpPr>
        <p:spPr>
          <a:xfrm>
            <a:off x="6858000" y="2468880"/>
            <a:ext cx="4754880" cy="3840480"/>
          </a:xfrm>
          <a:prstGeom prst="rect">
            <a:avLst/>
          </a:prstGeom>
          <a:noFill/>
        </p:spPr>
        <p:txBody>
          <a:bodyPr wrap="square" lIns="45720" rIns="45720">
            <a:spAutoFit/>
          </a:bodyPr>
          <a:lstStyle/>
          <a:p>
            <a:pPr algn="l">
              <a:spcAft>
                <a:spcPts val="400"/>
              </a:spcAft>
            </a:pPr>
            <a:r>
              <a:rPr sz="1100" b="0">
                <a:solidFill>
                  <a:srgbClr val="1A1A1A"/>
                </a:solidFill>
                <a:latin typeface="Calibri"/>
              </a:rPr>
              <a:t>•  Every welding booth has a 30" frame opening (must be 32" min).</a:t>
            </a:r>
          </a:p>
          <a:p>
            <a:pPr algn="l">
              <a:spcAft>
                <a:spcPts val="400"/>
              </a:spcAft>
            </a:pPr>
            <a:r>
              <a:rPr sz="1100" b="0">
                <a:solidFill>
                  <a:srgbClr val="1A1A1A"/>
                </a:solidFill>
                <a:latin typeface="Calibri"/>
              </a:rPr>
              <a:t>•  Welding-table-height fixed at 38"; no accessible alternate.</a:t>
            </a:r>
          </a:p>
          <a:p>
            <a:pPr algn="l">
              <a:spcAft>
                <a:spcPts val="400"/>
              </a:spcAft>
            </a:pPr>
            <a:r>
              <a:rPr sz="1100" b="0">
                <a:solidFill>
                  <a:srgbClr val="1A1A1A"/>
                </a:solidFill>
                <a:latin typeface="Calibri"/>
              </a:rPr>
              <a:t>•  Gas valves mounted at 70" wall height (out of reach).</a:t>
            </a:r>
          </a:p>
          <a:p>
            <a:pPr algn="l">
              <a:spcAft>
                <a:spcPts val="400"/>
              </a:spcAft>
            </a:pPr>
            <a:r>
              <a:rPr sz="1100" b="0">
                <a:solidFill>
                  <a:srgbClr val="1A1A1A"/>
                </a:solidFill>
                <a:latin typeface="Calibri"/>
              </a:rPr>
              <a:t>•  CNC pendant control on a fixed swing-arm at 52" (1991 ADA range, but 48" max under 2010 ADA for forward unobstructed reach).</a:t>
            </a:r>
          </a:p>
          <a:p>
            <a:pPr algn="l">
              <a:spcAft>
                <a:spcPts val="400"/>
              </a:spcAft>
            </a:pPr>
            <a:r>
              <a:rPr sz="1100" b="0">
                <a:solidFill>
                  <a:srgbClr val="1A1A1A"/>
                </a:solidFill>
                <a:latin typeface="Calibri"/>
              </a:rPr>
              <a:t>•  Auto lift bay reached only via 1:8 internal driveway slope.</a:t>
            </a:r>
          </a:p>
          <a:p>
            <a:pPr algn="l">
              <a:spcAft>
                <a:spcPts val="400"/>
              </a:spcAft>
            </a:pPr>
            <a:r>
              <a:rPr sz="1100" b="0">
                <a:solidFill>
                  <a:srgbClr val="1A1A1A"/>
                </a:solidFill>
                <a:latin typeface="Calibri"/>
              </a:rPr>
              <a:t>•  Tool-crib service window at 42" with no lower counter — violates 904.4.1 (34" max).</a:t>
            </a:r>
          </a:p>
        </p:txBody>
      </p:sp>
      <p:sp>
        <p:nvSpPr>
          <p:cNvPr id="16" name="TextBox 15"/>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7" name="TextBox 16"/>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45 / 63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46 · CTE CLASSROOMS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CTE deep-dive — Culinary &amp; hospitality</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300" b="0" i="1">
                <a:solidFill>
                  <a:srgbClr val="6B6659"/>
                </a:solidFill>
                <a:latin typeface="Calibri"/>
              </a:rPr>
              <a:t>Commercial kitchens, baking labs, hotel mock-rooms — purpose-built with heavy fixed equipment.</a:t>
            </a:r>
          </a:p>
        </p:txBody>
      </p:sp>
      <p:sp>
        <p:nvSpPr>
          <p:cNvPr id="10" name="TextBox 9"/>
          <p:cNvSpPr txBox="1"/>
          <p:nvPr/>
        </p:nvSpPr>
        <p:spPr>
          <a:xfrm>
            <a:off x="502920" y="1920240"/>
            <a:ext cx="5943600" cy="365760"/>
          </a:xfrm>
          <a:prstGeom prst="rect">
            <a:avLst/>
          </a:prstGeom>
          <a:noFill/>
        </p:spPr>
        <p:txBody>
          <a:bodyPr wrap="square" lIns="45720" rIns="45720" tIns="18288" bIns="18288" anchor="t">
            <a:spAutoFit/>
          </a:bodyPr>
          <a:lstStyle/>
          <a:p>
            <a:pPr algn="l"/>
            <a:r>
              <a:rPr sz="1400" b="1" i="0">
                <a:solidFill>
                  <a:srgbClr val="1A2744"/>
                </a:solidFill>
                <a:latin typeface="Calibri"/>
              </a:rPr>
              <a:t>Critical issues:</a:t>
            </a:r>
          </a:p>
        </p:txBody>
      </p:sp>
      <p:sp>
        <p:nvSpPr>
          <p:cNvPr id="11" name="TextBox 10"/>
          <p:cNvSpPr txBox="1"/>
          <p:nvPr/>
        </p:nvSpPr>
        <p:spPr>
          <a:xfrm>
            <a:off x="502920" y="2331720"/>
            <a:ext cx="5943600" cy="4114800"/>
          </a:xfrm>
          <a:prstGeom prst="rect">
            <a:avLst/>
          </a:prstGeom>
          <a:noFill/>
        </p:spPr>
        <p:txBody>
          <a:bodyPr wrap="square" lIns="45720" rIns="45720">
            <a:spAutoFit/>
          </a:bodyPr>
          <a:lstStyle/>
          <a:p>
            <a:pPr algn="l">
              <a:spcAft>
                <a:spcPts val="300"/>
              </a:spcAft>
            </a:pPr>
            <a:r>
              <a:rPr sz="1200" b="1">
                <a:solidFill>
                  <a:srgbClr val="1A1A1A"/>
                </a:solidFill>
                <a:latin typeface="Calibri"/>
              </a:rPr>
              <a:t>•  Accessible prep station.</a:t>
            </a:r>
            <a:r>
              <a:rPr sz="1200">
                <a:solidFill>
                  <a:srgbClr val="1A1A1A"/>
                </a:solidFill>
                <a:latin typeface="Calibri"/>
              </a:rPr>
              <a:t>  Min one prep counter at 34" max height with 27"H × 30"W × 19"D knee/toe clearance.</a:t>
            </a:r>
          </a:p>
          <a:p>
            <a:pPr algn="l">
              <a:spcAft>
                <a:spcPts val="300"/>
              </a:spcAft>
            </a:pPr>
            <a:r>
              <a:rPr sz="1200" b="1">
                <a:solidFill>
                  <a:srgbClr val="1A1A1A"/>
                </a:solidFill>
                <a:latin typeface="Calibri"/>
              </a:rPr>
              <a:t>•  Cooktop / range.</a:t>
            </a:r>
            <a:r>
              <a:rPr sz="1200">
                <a:solidFill>
                  <a:srgbClr val="1A1A1A"/>
                </a:solidFill>
                <a:latin typeface="Calibri"/>
              </a:rPr>
              <a:t>  Min one cooktop at 34" max with knee clearance, OR an accessible alternate cooktop on a movable cart.</a:t>
            </a:r>
          </a:p>
          <a:p>
            <a:pPr algn="l">
              <a:spcAft>
                <a:spcPts val="300"/>
              </a:spcAft>
            </a:pPr>
            <a:r>
              <a:rPr sz="1200" b="1">
                <a:solidFill>
                  <a:srgbClr val="1A1A1A"/>
                </a:solidFill>
                <a:latin typeface="Calibri"/>
              </a:rPr>
              <a:t>•  Sink height.</a:t>
            </a:r>
            <a:r>
              <a:rPr sz="1200">
                <a:solidFill>
                  <a:srgbClr val="1A1A1A"/>
                </a:solidFill>
                <a:latin typeface="Calibri"/>
              </a:rPr>
              <a:t>  Lab sink: 34" max with knee/toe under. Hot/drain pipes insulated.</a:t>
            </a:r>
          </a:p>
          <a:p>
            <a:pPr algn="l">
              <a:spcAft>
                <a:spcPts val="300"/>
              </a:spcAft>
            </a:pPr>
            <a:r>
              <a:rPr sz="1200" b="1">
                <a:solidFill>
                  <a:srgbClr val="1A1A1A"/>
                </a:solidFill>
                <a:latin typeface="Calibri"/>
              </a:rPr>
              <a:t>•  Cabinet &amp; pantry reach.</a:t>
            </a:r>
            <a:r>
              <a:rPr sz="1200">
                <a:solidFill>
                  <a:srgbClr val="1A1A1A"/>
                </a:solidFill>
                <a:latin typeface="Calibri"/>
              </a:rPr>
              <a:t>  Drawers and lower shelves accessible — top shelf ≤ 48". Walk-in pantry door 32" min clear width.</a:t>
            </a:r>
          </a:p>
          <a:p>
            <a:pPr algn="l">
              <a:spcAft>
                <a:spcPts val="300"/>
              </a:spcAft>
            </a:pPr>
            <a:r>
              <a:rPr sz="1200" b="1">
                <a:solidFill>
                  <a:srgbClr val="1A1A1A"/>
                </a:solidFill>
                <a:latin typeface="Calibri"/>
              </a:rPr>
              <a:t>•  Refrigerator / freezer.</a:t>
            </a:r>
            <a:r>
              <a:rPr sz="1200">
                <a:solidFill>
                  <a:srgbClr val="1A1A1A"/>
                </a:solidFill>
                <a:latin typeface="Calibri"/>
              </a:rPr>
              <a:t>  Door handle within reach (48" max); pull force ≤ 5 lbf; clear floor space at door.</a:t>
            </a:r>
          </a:p>
          <a:p>
            <a:pPr algn="l">
              <a:spcAft>
                <a:spcPts val="300"/>
              </a:spcAft>
            </a:pPr>
            <a:r>
              <a:rPr sz="1200" b="1">
                <a:solidFill>
                  <a:srgbClr val="1A1A1A"/>
                </a:solidFill>
                <a:latin typeface="Calibri"/>
              </a:rPr>
              <a:t>•  Dishwashing station.</a:t>
            </a:r>
            <a:r>
              <a:rPr sz="1200">
                <a:solidFill>
                  <a:srgbClr val="1A1A1A"/>
                </a:solidFill>
                <a:latin typeface="Calibri"/>
              </a:rPr>
              <a:t>  Spray-arm controls within 48" reach; rinse-station entry 32" min.</a:t>
            </a:r>
          </a:p>
          <a:p>
            <a:pPr algn="l">
              <a:spcAft>
                <a:spcPts val="300"/>
              </a:spcAft>
            </a:pPr>
            <a:r>
              <a:rPr sz="1200" b="1">
                <a:solidFill>
                  <a:srgbClr val="1A1A1A"/>
                </a:solidFill>
                <a:latin typeface="Calibri"/>
              </a:rPr>
              <a:t>•  Service / dining counter.</a:t>
            </a:r>
            <a:r>
              <a:rPr sz="1200">
                <a:solidFill>
                  <a:srgbClr val="1A1A1A"/>
                </a:solidFill>
                <a:latin typeface="Calibri"/>
              </a:rPr>
              <a:t>  Per 904.4.1 — 34" max counter, 36" min length.</a:t>
            </a:r>
          </a:p>
        </p:txBody>
      </p:sp>
      <p:sp>
        <p:nvSpPr>
          <p:cNvPr id="12" name="Rectangle 11"/>
          <p:cNvSpPr/>
          <p:nvPr/>
        </p:nvSpPr>
        <p:spPr>
          <a:xfrm>
            <a:off x="6675120" y="1920240"/>
            <a:ext cx="5074920" cy="4526280"/>
          </a:xfrm>
          <a:prstGeom prst="rect">
            <a:avLst/>
          </a:prstGeom>
          <a:solidFill>
            <a:srgbClr val="F7F4EE"/>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75120" y="1920240"/>
            <a:ext cx="5074920" cy="41148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1920240"/>
            <a:ext cx="5074920" cy="411480"/>
          </a:xfrm>
          <a:prstGeom prst="rect">
            <a:avLst/>
          </a:prstGeom>
          <a:noFill/>
        </p:spPr>
        <p:txBody>
          <a:bodyPr wrap="square" lIns="45720" rIns="45720" tIns="18288" bIns="18288" anchor="ctr">
            <a:spAutoFit/>
          </a:bodyPr>
          <a:lstStyle/>
          <a:p>
            <a:pPr algn="ctr"/>
            <a:r>
              <a:rPr sz="1100" b="1" i="0">
                <a:solidFill>
                  <a:srgbClr val="FFFFFF"/>
                </a:solidFill>
                <a:latin typeface="Consolas"/>
              </a:rPr>
              <a:t>COMMON FINDINGS</a:t>
            </a:r>
          </a:p>
        </p:txBody>
      </p:sp>
      <p:sp>
        <p:nvSpPr>
          <p:cNvPr id="15" name="TextBox 14"/>
          <p:cNvSpPr txBox="1"/>
          <p:nvPr/>
        </p:nvSpPr>
        <p:spPr>
          <a:xfrm>
            <a:off x="6858000" y="2468880"/>
            <a:ext cx="4754880" cy="3840480"/>
          </a:xfrm>
          <a:prstGeom prst="rect">
            <a:avLst/>
          </a:prstGeom>
          <a:noFill/>
        </p:spPr>
        <p:txBody>
          <a:bodyPr wrap="square" lIns="45720" rIns="45720">
            <a:spAutoFit/>
          </a:bodyPr>
          <a:lstStyle/>
          <a:p>
            <a:pPr algn="l">
              <a:spcAft>
                <a:spcPts val="300"/>
              </a:spcAft>
            </a:pPr>
            <a:r>
              <a:rPr sz="1100" b="0">
                <a:solidFill>
                  <a:srgbClr val="1A1A1A"/>
                </a:solidFill>
                <a:latin typeface="Calibri"/>
              </a:rPr>
              <a:t>•  Every prep station at 36" with full-skirt cabinets — zero knee clearance.</a:t>
            </a:r>
          </a:p>
          <a:p>
            <a:pPr algn="l">
              <a:spcAft>
                <a:spcPts val="300"/>
              </a:spcAft>
            </a:pPr>
            <a:r>
              <a:rPr sz="1100" b="0">
                <a:solidFill>
                  <a:srgbClr val="1A1A1A"/>
                </a:solidFill>
                <a:latin typeface="Calibri"/>
              </a:rPr>
              <a:t>•  Cooktops at 38" with no knee clearance and no accessible alternate.</a:t>
            </a:r>
          </a:p>
          <a:p>
            <a:pPr algn="l">
              <a:spcAft>
                <a:spcPts val="300"/>
              </a:spcAft>
            </a:pPr>
            <a:r>
              <a:rPr sz="1100" b="0">
                <a:solidFill>
                  <a:srgbClr val="1A1A1A"/>
                </a:solidFill>
                <a:latin typeface="Calibri"/>
              </a:rPr>
              <a:t>•  Dish-pit spray arm controls behind a fixed stainless splash — 52" reach over 12" deep counter (max allowed = 48" under 308.2).</a:t>
            </a:r>
          </a:p>
          <a:p>
            <a:pPr algn="l">
              <a:spcAft>
                <a:spcPts val="300"/>
              </a:spcAft>
            </a:pPr>
            <a:r>
              <a:rPr sz="1100" b="0">
                <a:solidFill>
                  <a:srgbClr val="1A1A1A"/>
                </a:solidFill>
                <a:latin typeface="Calibri"/>
              </a:rPr>
              <a:t>•  Walk-in pantry door 30" clear width (must be 32" min).</a:t>
            </a:r>
          </a:p>
          <a:p>
            <a:pPr algn="l">
              <a:spcAft>
                <a:spcPts val="300"/>
              </a:spcAft>
            </a:pPr>
            <a:r>
              <a:rPr sz="1100" b="0">
                <a:solidFill>
                  <a:srgbClr val="1A1A1A"/>
                </a:solidFill>
                <a:latin typeface="Calibri"/>
              </a:rPr>
              <a:t>•  Tray-slide service line at 36" (must be 34" max).</a:t>
            </a:r>
          </a:p>
          <a:p>
            <a:pPr algn="l">
              <a:spcAft>
                <a:spcPts val="300"/>
              </a:spcAft>
            </a:pPr>
            <a:r>
              <a:rPr sz="1100" b="0">
                <a:solidFill>
                  <a:srgbClr val="1A1A1A"/>
                </a:solidFill>
                <a:latin typeface="Calibri"/>
              </a:rPr>
              <a:t>•  Walk-in freezer threshold &gt; ½" — trips wheelchair casters.</a:t>
            </a:r>
          </a:p>
          <a:p>
            <a:pPr algn="l">
              <a:spcAft>
                <a:spcPts val="300"/>
              </a:spcAft>
            </a:pPr>
            <a:r>
              <a:rPr sz="1100" b="0">
                <a:solidFill>
                  <a:srgbClr val="1A1A1A"/>
                </a:solidFill>
                <a:latin typeface="Calibri"/>
              </a:rPr>
              <a:t>•  Hand-wash sink at 40" rim height (must be 34" max).</a:t>
            </a:r>
          </a:p>
        </p:txBody>
      </p:sp>
      <p:sp>
        <p:nvSpPr>
          <p:cNvPr id="16" name="TextBox 15"/>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7" name="TextBox 16"/>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46 / 63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47 · CTE CLASSROOMS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CTE deep-dive — Agriculture &amp; natural resources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300" b="0" i="1">
                <a:solidFill>
                  <a:srgbClr val="6B6659"/>
                </a:solidFill>
                <a:latin typeface="Calibri"/>
              </a:rPr>
              <a:t>Ag mechanics, greenhouses, animal labs, vet science — often the oldest buildings on campus.</a:t>
            </a:r>
          </a:p>
        </p:txBody>
      </p:sp>
      <p:sp>
        <p:nvSpPr>
          <p:cNvPr id="10" name="TextBox 9"/>
          <p:cNvSpPr txBox="1"/>
          <p:nvPr/>
        </p:nvSpPr>
        <p:spPr>
          <a:xfrm>
            <a:off x="502920" y="1920240"/>
            <a:ext cx="5943600" cy="365760"/>
          </a:xfrm>
          <a:prstGeom prst="rect">
            <a:avLst/>
          </a:prstGeom>
          <a:noFill/>
        </p:spPr>
        <p:txBody>
          <a:bodyPr wrap="square" lIns="45720" rIns="45720" tIns="18288" bIns="18288" anchor="t">
            <a:spAutoFit/>
          </a:bodyPr>
          <a:lstStyle/>
          <a:p>
            <a:pPr algn="l"/>
            <a:r>
              <a:rPr sz="1400" b="1" i="0">
                <a:solidFill>
                  <a:srgbClr val="1A2744"/>
                </a:solidFill>
                <a:latin typeface="Calibri"/>
              </a:rPr>
              <a:t>Critical issues:</a:t>
            </a:r>
          </a:p>
        </p:txBody>
      </p:sp>
      <p:sp>
        <p:nvSpPr>
          <p:cNvPr id="11" name="TextBox 10"/>
          <p:cNvSpPr txBox="1"/>
          <p:nvPr/>
        </p:nvSpPr>
        <p:spPr>
          <a:xfrm>
            <a:off x="502920" y="2331720"/>
            <a:ext cx="5943600" cy="4114800"/>
          </a:xfrm>
          <a:prstGeom prst="rect">
            <a:avLst/>
          </a:prstGeom>
          <a:noFill/>
        </p:spPr>
        <p:txBody>
          <a:bodyPr wrap="square" lIns="45720" rIns="45720">
            <a:spAutoFit/>
          </a:bodyPr>
          <a:lstStyle/>
          <a:p>
            <a:pPr algn="l">
              <a:spcAft>
                <a:spcPts val="400"/>
              </a:spcAft>
            </a:pPr>
            <a:r>
              <a:rPr sz="1200" b="1">
                <a:solidFill>
                  <a:srgbClr val="1A1A1A"/>
                </a:solidFill>
                <a:latin typeface="Calibri"/>
              </a:rPr>
              <a:t>•  Greenhouse access.</a:t>
            </a:r>
            <a:r>
              <a:rPr sz="1200">
                <a:solidFill>
                  <a:srgbClr val="1A1A1A"/>
                </a:solidFill>
                <a:latin typeface="Calibri"/>
              </a:rPr>
              <a:t>  Door clear width 32" min; bench/table height with knee/toe per 306; aisle 36" min between benches.</a:t>
            </a:r>
          </a:p>
          <a:p>
            <a:pPr algn="l">
              <a:spcAft>
                <a:spcPts val="400"/>
              </a:spcAft>
            </a:pPr>
            <a:r>
              <a:rPr sz="1200" b="1">
                <a:solidFill>
                  <a:srgbClr val="1A1A1A"/>
                </a:solidFill>
                <a:latin typeface="Calibri"/>
              </a:rPr>
              <a:t>•  Greenhouse surface.</a:t>
            </a:r>
            <a:r>
              <a:rPr sz="1200">
                <a:solidFill>
                  <a:srgbClr val="1A1A1A"/>
                </a:solidFill>
                <a:latin typeface="Calibri"/>
              </a:rPr>
              <a:t>  Gravel floors fail 302.1 firm/stable. Concrete or composite paver paths required for accessible route.</a:t>
            </a:r>
          </a:p>
          <a:p>
            <a:pPr algn="l">
              <a:spcAft>
                <a:spcPts val="400"/>
              </a:spcAft>
            </a:pPr>
            <a:r>
              <a:rPr sz="1200" b="1">
                <a:solidFill>
                  <a:srgbClr val="1A1A1A"/>
                </a:solidFill>
                <a:latin typeface="Calibri"/>
              </a:rPr>
              <a:t>•  Ag mech shop.</a:t>
            </a:r>
            <a:r>
              <a:rPr sz="1200">
                <a:solidFill>
                  <a:srgbClr val="1A1A1A"/>
                </a:solidFill>
                <a:latin typeface="Calibri"/>
              </a:rPr>
              <a:t>  Same workbench, reach, and aisle requirements as Building &amp; Construction Trades shops.</a:t>
            </a:r>
          </a:p>
          <a:p>
            <a:pPr algn="l">
              <a:spcAft>
                <a:spcPts val="400"/>
              </a:spcAft>
            </a:pPr>
            <a:r>
              <a:rPr sz="1200" b="1">
                <a:solidFill>
                  <a:srgbClr val="1A1A1A"/>
                </a:solidFill>
                <a:latin typeface="Calibri"/>
              </a:rPr>
              <a:t>•  Animal-science labs.</a:t>
            </a:r>
            <a:r>
              <a:rPr sz="1200">
                <a:solidFill>
                  <a:srgbClr val="1A1A1A"/>
                </a:solidFill>
                <a:latin typeface="Calibri"/>
              </a:rPr>
              <a:t>  Hose-bibs and wash stations within reach; clear floor space at restraint chutes.</a:t>
            </a:r>
          </a:p>
          <a:p>
            <a:pPr algn="l">
              <a:spcAft>
                <a:spcPts val="400"/>
              </a:spcAft>
            </a:pPr>
            <a:r>
              <a:rPr sz="1200" b="1">
                <a:solidFill>
                  <a:srgbClr val="1A1A1A"/>
                </a:solidFill>
                <a:latin typeface="Calibri"/>
              </a:rPr>
              <a:t>•  Outdoor classrooms / pens.</a:t>
            </a:r>
            <a:r>
              <a:rPr sz="1200">
                <a:solidFill>
                  <a:srgbClr val="1A1A1A"/>
                </a:solidFill>
                <a:latin typeface="Calibri"/>
              </a:rPr>
              <a:t>  Accessible route from building to pen; gates 32" min clear; ground surfaces firm and stable.</a:t>
            </a:r>
          </a:p>
          <a:p>
            <a:pPr algn="l">
              <a:spcAft>
                <a:spcPts val="400"/>
              </a:spcAft>
            </a:pPr>
            <a:r>
              <a:rPr sz="1200" b="1">
                <a:solidFill>
                  <a:srgbClr val="1A1A1A"/>
                </a:solidFill>
                <a:latin typeface="Calibri"/>
              </a:rPr>
              <a:t>•  Farm-to-school kitchen.</a:t>
            </a:r>
            <a:r>
              <a:rPr sz="1200">
                <a:solidFill>
                  <a:srgbClr val="1A1A1A"/>
                </a:solidFill>
                <a:latin typeface="Calibri"/>
              </a:rPr>
              <a:t>  Same culinary specs (see Slide 46).</a:t>
            </a:r>
          </a:p>
        </p:txBody>
      </p:sp>
      <p:sp>
        <p:nvSpPr>
          <p:cNvPr id="12" name="Rectangle 11"/>
          <p:cNvSpPr/>
          <p:nvPr/>
        </p:nvSpPr>
        <p:spPr>
          <a:xfrm>
            <a:off x="6675120" y="1920240"/>
            <a:ext cx="5074920" cy="4526280"/>
          </a:xfrm>
          <a:prstGeom prst="rect">
            <a:avLst/>
          </a:prstGeom>
          <a:solidFill>
            <a:srgbClr val="F7F4EE"/>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75120" y="1920240"/>
            <a:ext cx="5074920" cy="41148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1920240"/>
            <a:ext cx="5074920" cy="411480"/>
          </a:xfrm>
          <a:prstGeom prst="rect">
            <a:avLst/>
          </a:prstGeom>
          <a:noFill/>
        </p:spPr>
        <p:txBody>
          <a:bodyPr wrap="square" lIns="45720" rIns="45720" tIns="18288" bIns="18288" anchor="ctr">
            <a:spAutoFit/>
          </a:bodyPr>
          <a:lstStyle/>
          <a:p>
            <a:pPr algn="ctr"/>
            <a:r>
              <a:rPr sz="1100" b="1" i="0">
                <a:solidFill>
                  <a:srgbClr val="FFFFFF"/>
                </a:solidFill>
                <a:latin typeface="Consolas"/>
              </a:rPr>
              <a:t>COMMON FINDINGS</a:t>
            </a:r>
          </a:p>
        </p:txBody>
      </p:sp>
      <p:sp>
        <p:nvSpPr>
          <p:cNvPr id="15" name="TextBox 14"/>
          <p:cNvSpPr txBox="1"/>
          <p:nvPr/>
        </p:nvSpPr>
        <p:spPr>
          <a:xfrm>
            <a:off x="6858000" y="2468880"/>
            <a:ext cx="4754880" cy="3840480"/>
          </a:xfrm>
          <a:prstGeom prst="rect">
            <a:avLst/>
          </a:prstGeom>
          <a:noFill/>
        </p:spPr>
        <p:txBody>
          <a:bodyPr wrap="square" lIns="45720" rIns="45720">
            <a:spAutoFit/>
          </a:bodyPr>
          <a:lstStyle/>
          <a:p>
            <a:pPr algn="l">
              <a:spcAft>
                <a:spcPts val="400"/>
              </a:spcAft>
            </a:pPr>
            <a:r>
              <a:rPr sz="1100" b="0">
                <a:solidFill>
                  <a:srgbClr val="1A1A1A"/>
                </a:solidFill>
                <a:latin typeface="Calibri"/>
              </a:rPr>
              <a:t>•  Greenhouse door 30" clear (must be 32" min).</a:t>
            </a:r>
          </a:p>
          <a:p>
            <a:pPr algn="l">
              <a:spcAft>
                <a:spcPts val="400"/>
              </a:spcAft>
            </a:pPr>
            <a:r>
              <a:rPr sz="1100" b="0">
                <a:solidFill>
                  <a:srgbClr val="1A1A1A"/>
                </a:solidFill>
                <a:latin typeface="Calibri"/>
              </a:rPr>
              <a:t>•  Decomposed-granite pathway to pens — not firm or stable, fails 302.1.</a:t>
            </a:r>
          </a:p>
          <a:p>
            <a:pPr algn="l">
              <a:spcAft>
                <a:spcPts val="400"/>
              </a:spcAft>
            </a:pPr>
            <a:r>
              <a:rPr sz="1100" b="0">
                <a:solidFill>
                  <a:srgbClr val="1A1A1A"/>
                </a:solidFill>
                <a:latin typeface="Calibri"/>
              </a:rPr>
              <a:t>•  Pen gates with drop-bolt closures requiring tight grasping (309.4 violation).</a:t>
            </a:r>
          </a:p>
          <a:p>
            <a:pPr algn="l">
              <a:spcAft>
                <a:spcPts val="400"/>
              </a:spcAft>
            </a:pPr>
            <a:r>
              <a:rPr sz="1100" b="0">
                <a:solidFill>
                  <a:srgbClr val="1A1A1A"/>
                </a:solidFill>
                <a:latin typeface="Calibri"/>
              </a:rPr>
              <a:t>•  Greenhouse benches all at 40" with no knee clearance.</a:t>
            </a:r>
          </a:p>
          <a:p>
            <a:pPr algn="l">
              <a:spcAft>
                <a:spcPts val="400"/>
              </a:spcAft>
            </a:pPr>
            <a:r>
              <a:rPr sz="1100" b="0">
                <a:solidFill>
                  <a:srgbClr val="1A1A1A"/>
                </a:solidFill>
                <a:latin typeface="Calibri"/>
              </a:rPr>
              <a:t>•  Ag mech shop in a pre-1977 building — Program Access; NO findings (this is the trap!).</a:t>
            </a:r>
          </a:p>
          <a:p>
            <a:pPr algn="l">
              <a:spcAft>
                <a:spcPts val="400"/>
              </a:spcAft>
            </a:pPr>
            <a:r>
              <a:rPr sz="1100" b="0">
                <a:solidFill>
                  <a:srgbClr val="1A1A1A"/>
                </a:solidFill>
                <a:latin typeface="Calibri"/>
              </a:rPr>
              <a:t>•  Welding pad next to ag building — added 2018, becomes 2010 ADA.</a:t>
            </a:r>
          </a:p>
        </p:txBody>
      </p:sp>
      <p:sp>
        <p:nvSpPr>
          <p:cNvPr id="16" name="TextBox 15"/>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7" name="TextBox 16"/>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47 / 63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48 · CTE CLASSROOMS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CTE deep-dive — Health Science &amp; Medical Tech</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300" b="0" i="1">
                <a:solidFill>
                  <a:srgbClr val="6B6659"/>
                </a:solidFill>
                <a:latin typeface="Calibri"/>
              </a:rPr>
              <a:t>Nursing skills labs, dental labs, biotech, sports medicine — usually newer (post-2010), so 2010 ADA applies.</a:t>
            </a:r>
          </a:p>
        </p:txBody>
      </p:sp>
      <p:sp>
        <p:nvSpPr>
          <p:cNvPr id="10" name="TextBox 9"/>
          <p:cNvSpPr txBox="1"/>
          <p:nvPr/>
        </p:nvSpPr>
        <p:spPr>
          <a:xfrm>
            <a:off x="502920" y="1920240"/>
            <a:ext cx="5943600" cy="365760"/>
          </a:xfrm>
          <a:prstGeom prst="rect">
            <a:avLst/>
          </a:prstGeom>
          <a:noFill/>
        </p:spPr>
        <p:txBody>
          <a:bodyPr wrap="square" lIns="45720" rIns="45720" tIns="18288" bIns="18288" anchor="t">
            <a:spAutoFit/>
          </a:bodyPr>
          <a:lstStyle/>
          <a:p>
            <a:pPr algn="l"/>
            <a:r>
              <a:rPr sz="1400" b="1" i="0">
                <a:solidFill>
                  <a:srgbClr val="1A2744"/>
                </a:solidFill>
                <a:latin typeface="Calibri"/>
              </a:rPr>
              <a:t>Critical issues:</a:t>
            </a:r>
          </a:p>
        </p:txBody>
      </p:sp>
      <p:sp>
        <p:nvSpPr>
          <p:cNvPr id="11" name="TextBox 10"/>
          <p:cNvSpPr txBox="1"/>
          <p:nvPr/>
        </p:nvSpPr>
        <p:spPr>
          <a:xfrm>
            <a:off x="502920" y="2331720"/>
            <a:ext cx="5943600" cy="4114800"/>
          </a:xfrm>
          <a:prstGeom prst="rect">
            <a:avLst/>
          </a:prstGeom>
          <a:noFill/>
        </p:spPr>
        <p:txBody>
          <a:bodyPr wrap="square" lIns="45720" rIns="45720">
            <a:spAutoFit/>
          </a:bodyPr>
          <a:lstStyle/>
          <a:p>
            <a:pPr algn="l">
              <a:spcAft>
                <a:spcPts val="400"/>
              </a:spcAft>
            </a:pPr>
            <a:r>
              <a:rPr sz="1200" b="1">
                <a:solidFill>
                  <a:srgbClr val="1A1A1A"/>
                </a:solidFill>
                <a:latin typeface="Calibri"/>
              </a:rPr>
              <a:t>•  Patient simulation bays.</a:t>
            </a:r>
            <a:r>
              <a:rPr sz="1200">
                <a:solidFill>
                  <a:srgbClr val="1A1A1A"/>
                </a:solidFill>
                <a:latin typeface="Calibri"/>
              </a:rPr>
              <a:t>  Aisle 36" min; clear floor space at hospital bed for student approach. Curtain hardware operable with closed fist.</a:t>
            </a:r>
          </a:p>
          <a:p>
            <a:pPr algn="l">
              <a:spcAft>
                <a:spcPts val="400"/>
              </a:spcAft>
            </a:pPr>
            <a:r>
              <a:rPr sz="1200" b="1">
                <a:solidFill>
                  <a:srgbClr val="1A1A1A"/>
                </a:solidFill>
                <a:latin typeface="Calibri"/>
              </a:rPr>
              <a:t>•  Medication cart / Pyxis.</a:t>
            </a:r>
            <a:r>
              <a:rPr sz="1200">
                <a:solidFill>
                  <a:srgbClr val="1A1A1A"/>
                </a:solidFill>
                <a:latin typeface="Calibri"/>
              </a:rPr>
              <a:t>  Drawer pulls within reach; operable parts at 15"–48"; door swing maneuvering clearance.</a:t>
            </a:r>
          </a:p>
          <a:p>
            <a:pPr algn="l">
              <a:spcAft>
                <a:spcPts val="400"/>
              </a:spcAft>
            </a:pPr>
            <a:r>
              <a:rPr sz="1200" b="1">
                <a:solidFill>
                  <a:srgbClr val="1A1A1A"/>
                </a:solidFill>
                <a:latin typeface="Calibri"/>
              </a:rPr>
              <a:t>•  Dental chair stations.</a:t>
            </a:r>
            <a:r>
              <a:rPr sz="1200">
                <a:solidFill>
                  <a:srgbClr val="1A1A1A"/>
                </a:solidFill>
                <a:latin typeface="Calibri"/>
              </a:rPr>
              <a:t>  Min one station with student approach from accessible side. Lap-tray accessible counter alternate.</a:t>
            </a:r>
          </a:p>
          <a:p>
            <a:pPr algn="l">
              <a:spcAft>
                <a:spcPts val="400"/>
              </a:spcAft>
            </a:pPr>
            <a:r>
              <a:rPr sz="1200" b="1">
                <a:solidFill>
                  <a:srgbClr val="1A1A1A"/>
                </a:solidFill>
                <a:latin typeface="Calibri"/>
              </a:rPr>
              <a:t>•  Lab benches (biotech).</a:t>
            </a:r>
            <a:r>
              <a:rPr sz="1200">
                <a:solidFill>
                  <a:srgbClr val="1A1A1A"/>
                </a:solidFill>
                <a:latin typeface="Calibri"/>
              </a:rPr>
              <a:t>  Same workbench rules — at least one bench with knee/toe; reagent shelves within reach.</a:t>
            </a:r>
          </a:p>
          <a:p>
            <a:pPr algn="l">
              <a:spcAft>
                <a:spcPts val="400"/>
              </a:spcAft>
            </a:pPr>
            <a:r>
              <a:rPr sz="1200" b="1">
                <a:solidFill>
                  <a:srgbClr val="1A1A1A"/>
                </a:solidFill>
                <a:latin typeface="Calibri"/>
              </a:rPr>
              <a:t>•  Microscope / fume hood.</a:t>
            </a:r>
            <a:r>
              <a:rPr sz="1200">
                <a:solidFill>
                  <a:srgbClr val="1A1A1A"/>
                </a:solidFill>
                <a:latin typeface="Calibri"/>
              </a:rPr>
              <a:t>  Knee clearance under hood sash; control sash and valves within reach. Pull force ≤ 5 lbf.</a:t>
            </a:r>
          </a:p>
          <a:p>
            <a:pPr algn="l">
              <a:spcAft>
                <a:spcPts val="400"/>
              </a:spcAft>
            </a:pPr>
            <a:r>
              <a:rPr sz="1200" b="1">
                <a:solidFill>
                  <a:srgbClr val="1A1A1A"/>
                </a:solidFill>
                <a:latin typeface="Calibri"/>
              </a:rPr>
              <a:t>•  Hand-wash sink locations.</a:t>
            </a:r>
            <a:r>
              <a:rPr sz="1200">
                <a:solidFill>
                  <a:srgbClr val="1A1A1A"/>
                </a:solidFill>
                <a:latin typeface="Calibri"/>
              </a:rPr>
              <a:t>  34" rim, knee clearance, insulated pipes — same as restroom lavs.</a:t>
            </a:r>
          </a:p>
        </p:txBody>
      </p:sp>
      <p:sp>
        <p:nvSpPr>
          <p:cNvPr id="12" name="Rectangle 11"/>
          <p:cNvSpPr/>
          <p:nvPr/>
        </p:nvSpPr>
        <p:spPr>
          <a:xfrm>
            <a:off x="6675120" y="1920240"/>
            <a:ext cx="5074920" cy="4526280"/>
          </a:xfrm>
          <a:prstGeom prst="rect">
            <a:avLst/>
          </a:prstGeom>
          <a:solidFill>
            <a:srgbClr val="F7F4EE"/>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75120" y="1920240"/>
            <a:ext cx="5074920" cy="41148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1920240"/>
            <a:ext cx="5074920" cy="411480"/>
          </a:xfrm>
          <a:prstGeom prst="rect">
            <a:avLst/>
          </a:prstGeom>
          <a:noFill/>
        </p:spPr>
        <p:txBody>
          <a:bodyPr wrap="square" lIns="45720" rIns="45720" tIns="18288" bIns="18288" anchor="ctr">
            <a:spAutoFit/>
          </a:bodyPr>
          <a:lstStyle/>
          <a:p>
            <a:pPr algn="ctr"/>
            <a:r>
              <a:rPr sz="1100" b="1" i="0">
                <a:solidFill>
                  <a:srgbClr val="FFFFFF"/>
                </a:solidFill>
                <a:latin typeface="Consolas"/>
              </a:rPr>
              <a:t>COMMON FINDINGS</a:t>
            </a:r>
          </a:p>
        </p:txBody>
      </p:sp>
      <p:sp>
        <p:nvSpPr>
          <p:cNvPr id="15" name="TextBox 14"/>
          <p:cNvSpPr txBox="1"/>
          <p:nvPr/>
        </p:nvSpPr>
        <p:spPr>
          <a:xfrm>
            <a:off x="6858000" y="2468880"/>
            <a:ext cx="4754880" cy="3840480"/>
          </a:xfrm>
          <a:prstGeom prst="rect">
            <a:avLst/>
          </a:prstGeom>
          <a:noFill/>
        </p:spPr>
        <p:txBody>
          <a:bodyPr wrap="square" lIns="45720" rIns="45720">
            <a:spAutoFit/>
          </a:bodyPr>
          <a:lstStyle/>
          <a:p>
            <a:pPr algn="l">
              <a:spcAft>
                <a:spcPts val="400"/>
              </a:spcAft>
            </a:pPr>
            <a:r>
              <a:rPr sz="1100" b="0">
                <a:solidFill>
                  <a:srgbClr val="1A1A1A"/>
                </a:solidFill>
                <a:latin typeface="Calibri"/>
              </a:rPr>
              <a:t>•  Sim-bay curtain track requires two-hand operation (309.4 violation).</a:t>
            </a:r>
          </a:p>
          <a:p>
            <a:pPr algn="l">
              <a:spcAft>
                <a:spcPts val="400"/>
              </a:spcAft>
            </a:pPr>
            <a:r>
              <a:rPr sz="1100" b="0">
                <a:solidFill>
                  <a:srgbClr val="1A1A1A"/>
                </a:solidFill>
                <a:latin typeface="Calibri"/>
              </a:rPr>
              <a:t>•  Med-cart drawers with knob-only pulls (need lever / paddle).</a:t>
            </a:r>
          </a:p>
          <a:p>
            <a:pPr algn="l">
              <a:spcAft>
                <a:spcPts val="400"/>
              </a:spcAft>
            </a:pPr>
            <a:r>
              <a:rPr sz="1100" b="0">
                <a:solidFill>
                  <a:srgbClr val="1A1A1A"/>
                </a:solidFill>
                <a:latin typeface="Calibri"/>
              </a:rPr>
              <a:t>•  Biotech bench at 36" with full skirt — no accessible alternate.</a:t>
            </a:r>
          </a:p>
          <a:p>
            <a:pPr algn="l">
              <a:spcAft>
                <a:spcPts val="400"/>
              </a:spcAft>
            </a:pPr>
            <a:r>
              <a:rPr sz="1100" b="0">
                <a:solidFill>
                  <a:srgbClr val="1A1A1A"/>
                </a:solidFill>
                <a:latin typeface="Calibri"/>
              </a:rPr>
              <a:t>•  Fume hood sash control at 56" forward reach (must be ≤ 48").</a:t>
            </a:r>
          </a:p>
          <a:p>
            <a:pPr algn="l">
              <a:spcAft>
                <a:spcPts val="400"/>
              </a:spcAft>
            </a:pPr>
            <a:r>
              <a:rPr sz="1100" b="0">
                <a:solidFill>
                  <a:srgbClr val="1A1A1A"/>
                </a:solidFill>
                <a:latin typeface="Calibri"/>
              </a:rPr>
              <a:t>•  Eye-wash mounted in a corner with no clear floor space.</a:t>
            </a:r>
          </a:p>
          <a:p>
            <a:pPr algn="l">
              <a:spcAft>
                <a:spcPts val="400"/>
              </a:spcAft>
            </a:pPr>
            <a:r>
              <a:rPr sz="1100" b="0">
                <a:solidFill>
                  <a:srgbClr val="1A1A1A"/>
                </a:solidFill>
                <a:latin typeface="Calibri"/>
              </a:rPr>
              <a:t>•  Specimen-prep counter at 38" — must be 34" max under 904.4.</a:t>
            </a:r>
          </a:p>
        </p:txBody>
      </p:sp>
      <p:sp>
        <p:nvSpPr>
          <p:cNvPr id="16" name="TextBox 15"/>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7" name="TextBox 16"/>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48 / 63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49 · CTE CLASSROOMS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Survey of remaining CTE sectors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300" b="0" i="1">
                <a:solidFill>
                  <a:srgbClr val="6B6659"/>
                </a:solidFill>
                <a:latin typeface="Calibri"/>
              </a:rPr>
              <a:t>Quick orientation to the remaining sectors — at least one issue to look for in each.</a:t>
            </a:r>
          </a:p>
        </p:txBody>
      </p:sp>
      <p:sp>
        <p:nvSpPr>
          <p:cNvPr id="10" name="Rectangle 9"/>
          <p:cNvSpPr/>
          <p:nvPr/>
        </p:nvSpPr>
        <p:spPr>
          <a:xfrm>
            <a:off x="502920" y="1920240"/>
            <a:ext cx="5486400" cy="8229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920240"/>
            <a:ext cx="109728" cy="8229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984248"/>
            <a:ext cx="5212080" cy="274320"/>
          </a:xfrm>
          <a:prstGeom prst="rect">
            <a:avLst/>
          </a:prstGeom>
          <a:noFill/>
        </p:spPr>
        <p:txBody>
          <a:bodyPr wrap="square" lIns="45720" rIns="45720" tIns="18288" bIns="18288" anchor="t">
            <a:spAutoFit/>
          </a:bodyPr>
          <a:lstStyle/>
          <a:p>
            <a:pPr algn="l"/>
            <a:r>
              <a:rPr sz="1100" b="1" i="0">
                <a:solidFill>
                  <a:srgbClr val="1A2744"/>
                </a:solidFill>
                <a:latin typeface="Calibri"/>
              </a:rPr>
              <a:t>Arts, Media &amp; Entertainment</a:t>
            </a:r>
          </a:p>
        </p:txBody>
      </p:sp>
      <p:sp>
        <p:nvSpPr>
          <p:cNvPr id="13" name="TextBox 12"/>
          <p:cNvSpPr txBox="1"/>
          <p:nvPr/>
        </p:nvSpPr>
        <p:spPr>
          <a:xfrm>
            <a:off x="685800" y="2286000"/>
            <a:ext cx="5212080" cy="457200"/>
          </a:xfrm>
          <a:prstGeom prst="rect">
            <a:avLst/>
          </a:prstGeom>
          <a:noFill/>
        </p:spPr>
        <p:txBody>
          <a:bodyPr wrap="square" lIns="45720" rIns="45720" tIns="18288" bIns="18288" anchor="t">
            <a:spAutoFit/>
          </a:bodyPr>
          <a:lstStyle/>
          <a:p>
            <a:pPr algn="l"/>
            <a:r>
              <a:rPr sz="1000" b="0" i="0">
                <a:solidFill>
                  <a:srgbClr val="1A1A1A"/>
                </a:solidFill>
                <a:latin typeface="Calibri"/>
              </a:rPr>
              <a:t>Darkrooms (32" door); edit-bay desk knee/toe; performance stage routing to/from.</a:t>
            </a:r>
          </a:p>
        </p:txBody>
      </p:sp>
      <p:sp>
        <p:nvSpPr>
          <p:cNvPr id="14" name="Rectangle 13"/>
          <p:cNvSpPr/>
          <p:nvPr/>
        </p:nvSpPr>
        <p:spPr>
          <a:xfrm>
            <a:off x="6172200" y="1920240"/>
            <a:ext cx="5486400" cy="8229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920240"/>
            <a:ext cx="109728" cy="8229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984248"/>
            <a:ext cx="5212080" cy="274320"/>
          </a:xfrm>
          <a:prstGeom prst="rect">
            <a:avLst/>
          </a:prstGeom>
          <a:noFill/>
        </p:spPr>
        <p:txBody>
          <a:bodyPr wrap="square" lIns="45720" rIns="45720" tIns="18288" bIns="18288" anchor="t">
            <a:spAutoFit/>
          </a:bodyPr>
          <a:lstStyle/>
          <a:p>
            <a:pPr algn="l"/>
            <a:r>
              <a:rPr sz="1100" b="1" i="0">
                <a:solidFill>
                  <a:srgbClr val="1A2744"/>
                </a:solidFill>
                <a:latin typeface="Calibri"/>
              </a:rPr>
              <a:t>Business &amp; Finance</a:t>
            </a:r>
          </a:p>
        </p:txBody>
      </p:sp>
      <p:sp>
        <p:nvSpPr>
          <p:cNvPr id="17" name="TextBox 16"/>
          <p:cNvSpPr txBox="1"/>
          <p:nvPr/>
        </p:nvSpPr>
        <p:spPr>
          <a:xfrm>
            <a:off x="6355080" y="2286000"/>
            <a:ext cx="5212080" cy="457200"/>
          </a:xfrm>
          <a:prstGeom prst="rect">
            <a:avLst/>
          </a:prstGeom>
          <a:noFill/>
        </p:spPr>
        <p:txBody>
          <a:bodyPr wrap="square" lIns="45720" rIns="45720" tIns="18288" bIns="18288" anchor="t">
            <a:spAutoFit/>
          </a:bodyPr>
          <a:lstStyle/>
          <a:p>
            <a:pPr algn="l"/>
            <a:r>
              <a:rPr sz="1000" b="0" i="0">
                <a:solidFill>
                  <a:srgbClr val="1A1A1A"/>
                </a:solidFill>
                <a:latin typeface="Calibri"/>
              </a:rPr>
              <a:t>Computer labs: workstation height + accessible chair pull-up; service window 34" max.</a:t>
            </a:r>
          </a:p>
        </p:txBody>
      </p:sp>
      <p:sp>
        <p:nvSpPr>
          <p:cNvPr id="18" name="Rectangle 17"/>
          <p:cNvSpPr/>
          <p:nvPr/>
        </p:nvSpPr>
        <p:spPr>
          <a:xfrm>
            <a:off x="502920" y="2834640"/>
            <a:ext cx="5486400" cy="8229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2834640"/>
            <a:ext cx="109728" cy="8229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898648"/>
            <a:ext cx="5212080" cy="274320"/>
          </a:xfrm>
          <a:prstGeom prst="rect">
            <a:avLst/>
          </a:prstGeom>
          <a:noFill/>
        </p:spPr>
        <p:txBody>
          <a:bodyPr wrap="square" lIns="45720" rIns="45720" tIns="18288" bIns="18288" anchor="t">
            <a:spAutoFit/>
          </a:bodyPr>
          <a:lstStyle/>
          <a:p>
            <a:pPr algn="l"/>
            <a:r>
              <a:rPr sz="1100" b="1" i="0">
                <a:solidFill>
                  <a:srgbClr val="1A2744"/>
                </a:solidFill>
                <a:latin typeface="Calibri"/>
              </a:rPr>
              <a:t>Education, Child Dev.</a:t>
            </a:r>
          </a:p>
        </p:txBody>
      </p:sp>
      <p:sp>
        <p:nvSpPr>
          <p:cNvPr id="21" name="TextBox 20"/>
          <p:cNvSpPr txBox="1"/>
          <p:nvPr/>
        </p:nvSpPr>
        <p:spPr>
          <a:xfrm>
            <a:off x="685800" y="3200400"/>
            <a:ext cx="5212080" cy="457200"/>
          </a:xfrm>
          <a:prstGeom prst="rect">
            <a:avLst/>
          </a:prstGeom>
          <a:noFill/>
        </p:spPr>
        <p:txBody>
          <a:bodyPr wrap="square" lIns="45720" rIns="45720" tIns="18288" bIns="18288" anchor="t">
            <a:spAutoFit/>
          </a:bodyPr>
          <a:lstStyle/>
          <a:p>
            <a:pPr algn="l"/>
            <a:r>
              <a:rPr sz="1000" b="0" i="0">
                <a:solidFill>
                  <a:srgbClr val="1A1A1A"/>
                </a:solidFill>
                <a:latin typeface="Calibri"/>
              </a:rPr>
              <a:t>Lab schools — child-height fixtures, BUT accessible-route + restroom under 2010 ADA.</a:t>
            </a:r>
          </a:p>
        </p:txBody>
      </p:sp>
      <p:sp>
        <p:nvSpPr>
          <p:cNvPr id="22" name="Rectangle 21"/>
          <p:cNvSpPr/>
          <p:nvPr/>
        </p:nvSpPr>
        <p:spPr>
          <a:xfrm>
            <a:off x="6172200" y="2834640"/>
            <a:ext cx="5486400" cy="8229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2834640"/>
            <a:ext cx="109728" cy="8229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2898648"/>
            <a:ext cx="5212080" cy="274320"/>
          </a:xfrm>
          <a:prstGeom prst="rect">
            <a:avLst/>
          </a:prstGeom>
          <a:noFill/>
        </p:spPr>
        <p:txBody>
          <a:bodyPr wrap="square" lIns="45720" rIns="45720" tIns="18288" bIns="18288" anchor="t">
            <a:spAutoFit/>
          </a:bodyPr>
          <a:lstStyle/>
          <a:p>
            <a:pPr algn="l"/>
            <a:r>
              <a:rPr sz="1100" b="1" i="0">
                <a:solidFill>
                  <a:srgbClr val="1A2744"/>
                </a:solidFill>
                <a:latin typeface="Calibri"/>
              </a:rPr>
              <a:t>Energy, Environment &amp; Util.</a:t>
            </a:r>
          </a:p>
        </p:txBody>
      </p:sp>
      <p:sp>
        <p:nvSpPr>
          <p:cNvPr id="25" name="TextBox 24"/>
          <p:cNvSpPr txBox="1"/>
          <p:nvPr/>
        </p:nvSpPr>
        <p:spPr>
          <a:xfrm>
            <a:off x="6355080" y="3200400"/>
            <a:ext cx="5212080" cy="457200"/>
          </a:xfrm>
          <a:prstGeom prst="rect">
            <a:avLst/>
          </a:prstGeom>
          <a:noFill/>
        </p:spPr>
        <p:txBody>
          <a:bodyPr wrap="square" lIns="45720" rIns="45720" tIns="18288" bIns="18288" anchor="t">
            <a:spAutoFit/>
          </a:bodyPr>
          <a:lstStyle/>
          <a:p>
            <a:pPr algn="l"/>
            <a:r>
              <a:rPr sz="1000" b="0" i="0">
                <a:solidFill>
                  <a:srgbClr val="1A1A1A"/>
                </a:solidFill>
                <a:latin typeface="Calibri"/>
              </a:rPr>
              <a:t>Solar/wind lab outdoor pads — surface stable, route 36" min.</a:t>
            </a:r>
          </a:p>
        </p:txBody>
      </p:sp>
      <p:sp>
        <p:nvSpPr>
          <p:cNvPr id="26" name="Rectangle 25"/>
          <p:cNvSpPr/>
          <p:nvPr/>
        </p:nvSpPr>
        <p:spPr>
          <a:xfrm>
            <a:off x="502920" y="3749039"/>
            <a:ext cx="5486400" cy="8229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3749039"/>
            <a:ext cx="109728" cy="8229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3813047"/>
            <a:ext cx="5212080" cy="274320"/>
          </a:xfrm>
          <a:prstGeom prst="rect">
            <a:avLst/>
          </a:prstGeom>
          <a:noFill/>
        </p:spPr>
        <p:txBody>
          <a:bodyPr wrap="square" lIns="45720" rIns="45720" tIns="18288" bIns="18288" anchor="t">
            <a:spAutoFit/>
          </a:bodyPr>
          <a:lstStyle/>
          <a:p>
            <a:pPr algn="l"/>
            <a:r>
              <a:rPr sz="1100" b="1" i="0">
                <a:solidFill>
                  <a:srgbClr val="1A2744"/>
                </a:solidFill>
                <a:latin typeface="Calibri"/>
              </a:rPr>
              <a:t>Engineering &amp; Architecture</a:t>
            </a:r>
          </a:p>
        </p:txBody>
      </p:sp>
      <p:sp>
        <p:nvSpPr>
          <p:cNvPr id="29" name="TextBox 28"/>
          <p:cNvSpPr txBox="1"/>
          <p:nvPr/>
        </p:nvSpPr>
        <p:spPr>
          <a:xfrm>
            <a:off x="685800" y="4114799"/>
            <a:ext cx="5212080" cy="457200"/>
          </a:xfrm>
          <a:prstGeom prst="rect">
            <a:avLst/>
          </a:prstGeom>
          <a:noFill/>
        </p:spPr>
        <p:txBody>
          <a:bodyPr wrap="square" lIns="45720" rIns="45720" tIns="18288" bIns="18288" anchor="t">
            <a:spAutoFit/>
          </a:bodyPr>
          <a:lstStyle/>
          <a:p>
            <a:pPr algn="l"/>
            <a:r>
              <a:rPr sz="1000" b="0" i="0">
                <a:solidFill>
                  <a:srgbClr val="1A1A1A"/>
                </a:solidFill>
                <a:latin typeface="Calibri"/>
              </a:rPr>
              <a:t>CAD stations: keyboard at 28"–34" preferred; drafting tables w/ knee clearance.</a:t>
            </a:r>
          </a:p>
        </p:txBody>
      </p:sp>
      <p:sp>
        <p:nvSpPr>
          <p:cNvPr id="30" name="Rectangle 29"/>
          <p:cNvSpPr/>
          <p:nvPr/>
        </p:nvSpPr>
        <p:spPr>
          <a:xfrm>
            <a:off x="6172200" y="3749039"/>
            <a:ext cx="5486400" cy="8229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2200" y="3749039"/>
            <a:ext cx="109728" cy="8229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3813047"/>
            <a:ext cx="5212080" cy="274320"/>
          </a:xfrm>
          <a:prstGeom prst="rect">
            <a:avLst/>
          </a:prstGeom>
          <a:noFill/>
        </p:spPr>
        <p:txBody>
          <a:bodyPr wrap="square" lIns="45720" rIns="45720" tIns="18288" bIns="18288" anchor="t">
            <a:spAutoFit/>
          </a:bodyPr>
          <a:lstStyle/>
          <a:p>
            <a:pPr algn="l"/>
            <a:r>
              <a:rPr sz="1100" b="1" i="0">
                <a:solidFill>
                  <a:srgbClr val="1A2744"/>
                </a:solidFill>
                <a:latin typeface="Calibri"/>
              </a:rPr>
              <a:t>Fashion &amp; Interior Design</a:t>
            </a:r>
          </a:p>
        </p:txBody>
      </p:sp>
      <p:sp>
        <p:nvSpPr>
          <p:cNvPr id="33" name="TextBox 32"/>
          <p:cNvSpPr txBox="1"/>
          <p:nvPr/>
        </p:nvSpPr>
        <p:spPr>
          <a:xfrm>
            <a:off x="6355080" y="4114799"/>
            <a:ext cx="5212080" cy="457200"/>
          </a:xfrm>
          <a:prstGeom prst="rect">
            <a:avLst/>
          </a:prstGeom>
          <a:noFill/>
        </p:spPr>
        <p:txBody>
          <a:bodyPr wrap="square" lIns="45720" rIns="45720" tIns="18288" bIns="18288" anchor="t">
            <a:spAutoFit/>
          </a:bodyPr>
          <a:lstStyle/>
          <a:p>
            <a:pPr algn="l"/>
            <a:r>
              <a:rPr sz="1000" b="0" i="0">
                <a:solidFill>
                  <a:srgbClr val="1A1A1A"/>
                </a:solidFill>
                <a:latin typeface="Calibri"/>
              </a:rPr>
              <a:t>Sewing stations: machine controls within reach; fitting rooms 60"×60" turning.</a:t>
            </a:r>
          </a:p>
        </p:txBody>
      </p:sp>
      <p:sp>
        <p:nvSpPr>
          <p:cNvPr id="34" name="Rectangle 33"/>
          <p:cNvSpPr/>
          <p:nvPr/>
        </p:nvSpPr>
        <p:spPr>
          <a:xfrm>
            <a:off x="502920" y="4663440"/>
            <a:ext cx="5486400" cy="8229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2920" y="4663440"/>
            <a:ext cx="109728" cy="8229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4727448"/>
            <a:ext cx="5212080" cy="274320"/>
          </a:xfrm>
          <a:prstGeom prst="rect">
            <a:avLst/>
          </a:prstGeom>
          <a:noFill/>
        </p:spPr>
        <p:txBody>
          <a:bodyPr wrap="square" lIns="45720" rIns="45720" tIns="18288" bIns="18288" anchor="t">
            <a:spAutoFit/>
          </a:bodyPr>
          <a:lstStyle/>
          <a:p>
            <a:pPr algn="l"/>
            <a:r>
              <a:rPr sz="1100" b="1" i="0">
                <a:solidFill>
                  <a:srgbClr val="1A2744"/>
                </a:solidFill>
                <a:latin typeface="Calibri"/>
              </a:rPr>
              <a:t>Information &amp; Comm. Tech</a:t>
            </a:r>
          </a:p>
        </p:txBody>
      </p:sp>
      <p:sp>
        <p:nvSpPr>
          <p:cNvPr id="37" name="TextBox 36"/>
          <p:cNvSpPr txBox="1"/>
          <p:nvPr/>
        </p:nvSpPr>
        <p:spPr>
          <a:xfrm>
            <a:off x="685800" y="5029200"/>
            <a:ext cx="5212080" cy="457200"/>
          </a:xfrm>
          <a:prstGeom prst="rect">
            <a:avLst/>
          </a:prstGeom>
          <a:noFill/>
        </p:spPr>
        <p:txBody>
          <a:bodyPr wrap="square" lIns="45720" rIns="45720" tIns="18288" bIns="18288" anchor="t">
            <a:spAutoFit/>
          </a:bodyPr>
          <a:lstStyle/>
          <a:p>
            <a:pPr algn="l"/>
            <a:r>
              <a:rPr sz="1000" b="0" i="0">
                <a:solidFill>
                  <a:srgbClr val="1A1A1A"/>
                </a:solidFill>
                <a:latin typeface="Calibri"/>
              </a:rPr>
              <a:t>Server racks have no accessibility scoping; student stations DO — apply standard workstation rules.</a:t>
            </a:r>
          </a:p>
        </p:txBody>
      </p:sp>
      <p:sp>
        <p:nvSpPr>
          <p:cNvPr id="38" name="Rectangle 37"/>
          <p:cNvSpPr/>
          <p:nvPr/>
        </p:nvSpPr>
        <p:spPr>
          <a:xfrm>
            <a:off x="6172200" y="4663440"/>
            <a:ext cx="5486400" cy="8229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72200" y="4663440"/>
            <a:ext cx="109728" cy="8229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4727448"/>
            <a:ext cx="5212080" cy="274320"/>
          </a:xfrm>
          <a:prstGeom prst="rect">
            <a:avLst/>
          </a:prstGeom>
          <a:noFill/>
        </p:spPr>
        <p:txBody>
          <a:bodyPr wrap="square" lIns="45720" rIns="45720" tIns="18288" bIns="18288" anchor="t">
            <a:spAutoFit/>
          </a:bodyPr>
          <a:lstStyle/>
          <a:p>
            <a:pPr algn="l"/>
            <a:r>
              <a:rPr sz="1100" b="1" i="0">
                <a:solidFill>
                  <a:srgbClr val="1A2744"/>
                </a:solidFill>
                <a:latin typeface="Calibri"/>
              </a:rPr>
              <a:t>Marketing, Sales &amp; Service</a:t>
            </a:r>
          </a:p>
        </p:txBody>
      </p:sp>
      <p:sp>
        <p:nvSpPr>
          <p:cNvPr id="41" name="TextBox 40"/>
          <p:cNvSpPr txBox="1"/>
          <p:nvPr/>
        </p:nvSpPr>
        <p:spPr>
          <a:xfrm>
            <a:off x="6355080" y="5029200"/>
            <a:ext cx="5212080" cy="457200"/>
          </a:xfrm>
          <a:prstGeom prst="rect">
            <a:avLst/>
          </a:prstGeom>
          <a:noFill/>
        </p:spPr>
        <p:txBody>
          <a:bodyPr wrap="square" lIns="45720" rIns="45720" tIns="18288" bIns="18288" anchor="t">
            <a:spAutoFit/>
          </a:bodyPr>
          <a:lstStyle/>
          <a:p>
            <a:pPr algn="l"/>
            <a:r>
              <a:rPr sz="1000" b="0" i="0">
                <a:solidFill>
                  <a:srgbClr val="1A1A1A"/>
                </a:solidFill>
                <a:latin typeface="Calibri"/>
              </a:rPr>
              <a:t>Mock-retail service counters — apply 904.4.1 (34" max, 36" min length).</a:t>
            </a:r>
          </a:p>
        </p:txBody>
      </p:sp>
      <p:sp>
        <p:nvSpPr>
          <p:cNvPr id="42" name="Rectangle 41"/>
          <p:cNvSpPr/>
          <p:nvPr/>
        </p:nvSpPr>
        <p:spPr>
          <a:xfrm>
            <a:off x="502920" y="5577840"/>
            <a:ext cx="5486400" cy="8229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2920" y="5577840"/>
            <a:ext cx="109728" cy="8229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5641848"/>
            <a:ext cx="5212080" cy="274320"/>
          </a:xfrm>
          <a:prstGeom prst="rect">
            <a:avLst/>
          </a:prstGeom>
          <a:noFill/>
        </p:spPr>
        <p:txBody>
          <a:bodyPr wrap="square" lIns="45720" rIns="45720" tIns="18288" bIns="18288" anchor="t">
            <a:spAutoFit/>
          </a:bodyPr>
          <a:lstStyle/>
          <a:p>
            <a:pPr algn="l"/>
            <a:r>
              <a:rPr sz="1100" b="1" i="0">
                <a:solidFill>
                  <a:srgbClr val="1A2744"/>
                </a:solidFill>
                <a:latin typeface="Calibri"/>
              </a:rPr>
              <a:t>Public Services</a:t>
            </a:r>
          </a:p>
        </p:txBody>
      </p:sp>
      <p:sp>
        <p:nvSpPr>
          <p:cNvPr id="45" name="TextBox 44"/>
          <p:cNvSpPr txBox="1"/>
          <p:nvPr/>
        </p:nvSpPr>
        <p:spPr>
          <a:xfrm>
            <a:off x="685800" y="5943600"/>
            <a:ext cx="5212080" cy="457200"/>
          </a:xfrm>
          <a:prstGeom prst="rect">
            <a:avLst/>
          </a:prstGeom>
          <a:noFill/>
        </p:spPr>
        <p:txBody>
          <a:bodyPr wrap="square" lIns="45720" rIns="45720" tIns="18288" bIns="18288" anchor="t">
            <a:spAutoFit/>
          </a:bodyPr>
          <a:lstStyle/>
          <a:p>
            <a:pPr algn="l"/>
            <a:r>
              <a:rPr sz="1000" b="0" i="0">
                <a:solidFill>
                  <a:srgbClr val="1A1A1A"/>
                </a:solidFill>
                <a:latin typeface="Calibri"/>
              </a:rPr>
              <a:t>Simulators and fire/police training props — at least one accessible station; restroom in vehicle bay.</a:t>
            </a:r>
          </a:p>
        </p:txBody>
      </p:sp>
      <p:sp>
        <p:nvSpPr>
          <p:cNvPr id="46" name="Rectangle 45"/>
          <p:cNvSpPr/>
          <p:nvPr/>
        </p:nvSpPr>
        <p:spPr>
          <a:xfrm>
            <a:off x="6172200" y="5577840"/>
            <a:ext cx="5486400" cy="8229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72200" y="5577840"/>
            <a:ext cx="109728" cy="8229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55080" y="5641848"/>
            <a:ext cx="5212080" cy="274320"/>
          </a:xfrm>
          <a:prstGeom prst="rect">
            <a:avLst/>
          </a:prstGeom>
          <a:noFill/>
        </p:spPr>
        <p:txBody>
          <a:bodyPr wrap="square" lIns="45720" rIns="45720" tIns="18288" bIns="18288" anchor="t">
            <a:spAutoFit/>
          </a:bodyPr>
          <a:lstStyle/>
          <a:p>
            <a:pPr algn="l"/>
            <a:r>
              <a:rPr sz="1100" b="1" i="0">
                <a:solidFill>
                  <a:srgbClr val="1A2744"/>
                </a:solidFill>
                <a:latin typeface="Calibri"/>
              </a:rPr>
              <a:t>Transportation</a:t>
            </a:r>
          </a:p>
        </p:txBody>
      </p:sp>
      <p:sp>
        <p:nvSpPr>
          <p:cNvPr id="49" name="TextBox 48"/>
          <p:cNvSpPr txBox="1"/>
          <p:nvPr/>
        </p:nvSpPr>
        <p:spPr>
          <a:xfrm>
            <a:off x="6355080" y="5943600"/>
            <a:ext cx="5212080" cy="457200"/>
          </a:xfrm>
          <a:prstGeom prst="rect">
            <a:avLst/>
          </a:prstGeom>
          <a:noFill/>
        </p:spPr>
        <p:txBody>
          <a:bodyPr wrap="square" lIns="45720" rIns="45720" tIns="18288" bIns="18288" anchor="t">
            <a:spAutoFit/>
          </a:bodyPr>
          <a:lstStyle/>
          <a:p>
            <a:pPr algn="l"/>
            <a:r>
              <a:rPr sz="1000" b="0" i="0">
                <a:solidFill>
                  <a:srgbClr val="1A1A1A"/>
                </a:solidFill>
                <a:latin typeface="Calibri"/>
              </a:rPr>
              <a:t>Auto / diesel / aviation bays — same as Manufacturing. Lifts, hoists, work pits = clear floor space.</a:t>
            </a:r>
          </a:p>
        </p:txBody>
      </p:sp>
      <p:sp>
        <p:nvSpPr>
          <p:cNvPr id="50" name="TextBox 49"/>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51" name="TextBox 50"/>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49 / 63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50 · CTE CLASSROOMS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How LEAs actually accommodate — patterns that work</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Reviewers should recognize compliant configurations — not just non-compliant ones.</a:t>
            </a:r>
          </a:p>
        </p:txBody>
      </p:sp>
      <p:sp>
        <p:nvSpPr>
          <p:cNvPr id="10" name="Rectangle 9"/>
          <p:cNvSpPr/>
          <p:nvPr/>
        </p:nvSpPr>
        <p:spPr>
          <a:xfrm>
            <a:off x="502920" y="1920240"/>
            <a:ext cx="5486400" cy="1463040"/>
          </a:xfrm>
          <a:prstGeom prst="rect">
            <a:avLst/>
          </a:prstGeom>
          <a:solidFill>
            <a:srgbClr val="F7F4EE"/>
          </a:solidFill>
          <a:ln w="9525">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920240"/>
            <a:ext cx="164592" cy="146304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011680"/>
            <a:ext cx="5029200" cy="365760"/>
          </a:xfrm>
          <a:prstGeom prst="rect">
            <a:avLst/>
          </a:prstGeom>
          <a:noFill/>
        </p:spPr>
        <p:txBody>
          <a:bodyPr wrap="square" lIns="45720" rIns="45720" tIns="18288" bIns="18288" anchor="t">
            <a:spAutoFit/>
          </a:bodyPr>
          <a:lstStyle/>
          <a:p>
            <a:pPr algn="l"/>
            <a:r>
              <a:rPr sz="1300" b="1" i="0">
                <a:solidFill>
                  <a:srgbClr val="166534"/>
                </a:solidFill>
                <a:latin typeface="Calibri"/>
              </a:rPr>
              <a:t>Adjustable-height workbenches</a:t>
            </a:r>
          </a:p>
        </p:txBody>
      </p:sp>
      <p:sp>
        <p:nvSpPr>
          <p:cNvPr id="13" name="TextBox 12"/>
          <p:cNvSpPr txBox="1"/>
          <p:nvPr/>
        </p:nvSpPr>
        <p:spPr>
          <a:xfrm>
            <a:off x="822960" y="2423160"/>
            <a:ext cx="5029200" cy="914400"/>
          </a:xfrm>
          <a:prstGeom prst="rect">
            <a:avLst/>
          </a:prstGeom>
          <a:noFill/>
        </p:spPr>
        <p:txBody>
          <a:bodyPr wrap="square" lIns="45720" rIns="45720" tIns="18288" bIns="18288" anchor="t">
            <a:spAutoFit/>
          </a:bodyPr>
          <a:lstStyle/>
          <a:p>
            <a:pPr algn="l"/>
            <a:r>
              <a:rPr sz="1100" b="0" i="0">
                <a:solidFill>
                  <a:srgbClr val="1A1A1A"/>
                </a:solidFill>
                <a:latin typeface="Calibri"/>
              </a:rPr>
              <a:t>Crank or motorized tables that rise from 28" to 42". One per shop satisfies the accessible-workstation requirement under 2010 ADA 902.4.</a:t>
            </a:r>
          </a:p>
        </p:txBody>
      </p:sp>
      <p:sp>
        <p:nvSpPr>
          <p:cNvPr id="14" name="Rectangle 13"/>
          <p:cNvSpPr/>
          <p:nvPr/>
        </p:nvSpPr>
        <p:spPr>
          <a:xfrm>
            <a:off x="6172200" y="1920240"/>
            <a:ext cx="5486400" cy="1463040"/>
          </a:xfrm>
          <a:prstGeom prst="rect">
            <a:avLst/>
          </a:prstGeom>
          <a:solidFill>
            <a:srgbClr val="F7F4EE"/>
          </a:solidFill>
          <a:ln w="9525">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920240"/>
            <a:ext cx="164592" cy="146304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2011680"/>
            <a:ext cx="5029200" cy="365760"/>
          </a:xfrm>
          <a:prstGeom prst="rect">
            <a:avLst/>
          </a:prstGeom>
          <a:noFill/>
        </p:spPr>
        <p:txBody>
          <a:bodyPr wrap="square" lIns="45720" rIns="45720" tIns="18288" bIns="18288" anchor="t">
            <a:spAutoFit/>
          </a:bodyPr>
          <a:lstStyle/>
          <a:p>
            <a:pPr algn="l"/>
            <a:r>
              <a:rPr sz="1300" b="1" i="0">
                <a:solidFill>
                  <a:srgbClr val="166534"/>
                </a:solidFill>
                <a:latin typeface="Calibri"/>
              </a:rPr>
              <a:t>Mobile prep carts (culinary)</a:t>
            </a:r>
          </a:p>
        </p:txBody>
      </p:sp>
      <p:sp>
        <p:nvSpPr>
          <p:cNvPr id="17" name="TextBox 16"/>
          <p:cNvSpPr txBox="1"/>
          <p:nvPr/>
        </p:nvSpPr>
        <p:spPr>
          <a:xfrm>
            <a:off x="6492240" y="2423160"/>
            <a:ext cx="5029200" cy="914400"/>
          </a:xfrm>
          <a:prstGeom prst="rect">
            <a:avLst/>
          </a:prstGeom>
          <a:noFill/>
        </p:spPr>
        <p:txBody>
          <a:bodyPr wrap="square" lIns="45720" rIns="45720" tIns="18288" bIns="18288" anchor="t">
            <a:spAutoFit/>
          </a:bodyPr>
          <a:lstStyle/>
          <a:p>
            <a:pPr algn="l"/>
            <a:r>
              <a:rPr sz="1100" b="0" i="0">
                <a:solidFill>
                  <a:srgbClr val="1A1A1A"/>
                </a:solidFill>
                <a:latin typeface="Calibri"/>
              </a:rPr>
              <a:t>Wheeled cart with 34" max counter and knee clearance can supplement fixed prep stations — must be present and used, not stored.</a:t>
            </a:r>
          </a:p>
        </p:txBody>
      </p:sp>
      <p:sp>
        <p:nvSpPr>
          <p:cNvPr id="18" name="Rectangle 17"/>
          <p:cNvSpPr/>
          <p:nvPr/>
        </p:nvSpPr>
        <p:spPr>
          <a:xfrm>
            <a:off x="502920" y="3474720"/>
            <a:ext cx="5486400" cy="1463040"/>
          </a:xfrm>
          <a:prstGeom prst="rect">
            <a:avLst/>
          </a:prstGeom>
          <a:solidFill>
            <a:srgbClr val="F7F4EE"/>
          </a:solidFill>
          <a:ln w="9525">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474720"/>
            <a:ext cx="164592" cy="146304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566160"/>
            <a:ext cx="5029200" cy="365760"/>
          </a:xfrm>
          <a:prstGeom prst="rect">
            <a:avLst/>
          </a:prstGeom>
          <a:noFill/>
        </p:spPr>
        <p:txBody>
          <a:bodyPr wrap="square" lIns="45720" rIns="45720" tIns="18288" bIns="18288" anchor="t">
            <a:spAutoFit/>
          </a:bodyPr>
          <a:lstStyle/>
          <a:p>
            <a:pPr algn="l"/>
            <a:r>
              <a:rPr sz="1300" b="1" i="0">
                <a:solidFill>
                  <a:srgbClr val="166534"/>
                </a:solidFill>
                <a:latin typeface="Calibri"/>
              </a:rPr>
              <a:t>Designated accessible welding booth</a:t>
            </a:r>
          </a:p>
        </p:txBody>
      </p:sp>
      <p:sp>
        <p:nvSpPr>
          <p:cNvPr id="21" name="TextBox 20"/>
          <p:cNvSpPr txBox="1"/>
          <p:nvPr/>
        </p:nvSpPr>
        <p:spPr>
          <a:xfrm>
            <a:off x="822960" y="3977640"/>
            <a:ext cx="5029200" cy="914400"/>
          </a:xfrm>
          <a:prstGeom prst="rect">
            <a:avLst/>
          </a:prstGeom>
          <a:noFill/>
        </p:spPr>
        <p:txBody>
          <a:bodyPr wrap="square" lIns="45720" rIns="45720" tIns="18288" bIns="18288" anchor="t">
            <a:spAutoFit/>
          </a:bodyPr>
          <a:lstStyle/>
          <a:p>
            <a:pPr algn="l"/>
            <a:r>
              <a:rPr sz="1100" b="0" i="0">
                <a:solidFill>
                  <a:srgbClr val="1A1A1A"/>
                </a:solidFill>
                <a:latin typeface="Calibri"/>
              </a:rPr>
              <a:t>32" min frame opening + 60"×60" interior turning space + accessible-height table. Programs that designate ONE such booth and rotate students through it are compliant.</a:t>
            </a:r>
          </a:p>
        </p:txBody>
      </p:sp>
      <p:sp>
        <p:nvSpPr>
          <p:cNvPr id="22" name="Rectangle 21"/>
          <p:cNvSpPr/>
          <p:nvPr/>
        </p:nvSpPr>
        <p:spPr>
          <a:xfrm>
            <a:off x="6172200" y="3474720"/>
            <a:ext cx="5486400" cy="1463040"/>
          </a:xfrm>
          <a:prstGeom prst="rect">
            <a:avLst/>
          </a:prstGeom>
          <a:solidFill>
            <a:srgbClr val="F7F4EE"/>
          </a:solidFill>
          <a:ln w="9525">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3474720"/>
            <a:ext cx="164592" cy="146304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3566160"/>
            <a:ext cx="5029200" cy="365760"/>
          </a:xfrm>
          <a:prstGeom prst="rect">
            <a:avLst/>
          </a:prstGeom>
          <a:noFill/>
        </p:spPr>
        <p:txBody>
          <a:bodyPr wrap="square" lIns="45720" rIns="45720" tIns="18288" bIns="18288" anchor="t">
            <a:spAutoFit/>
          </a:bodyPr>
          <a:lstStyle/>
          <a:p>
            <a:pPr algn="l"/>
            <a:r>
              <a:rPr sz="1300" b="1" i="0">
                <a:solidFill>
                  <a:srgbClr val="166534"/>
                </a:solidFill>
                <a:latin typeface="Calibri"/>
              </a:rPr>
              <a:t>Roll-under microscope / fume-hood station</a:t>
            </a:r>
          </a:p>
        </p:txBody>
      </p:sp>
      <p:sp>
        <p:nvSpPr>
          <p:cNvPr id="25" name="TextBox 24"/>
          <p:cNvSpPr txBox="1"/>
          <p:nvPr/>
        </p:nvSpPr>
        <p:spPr>
          <a:xfrm>
            <a:off x="6492240" y="3977640"/>
            <a:ext cx="5029200" cy="914400"/>
          </a:xfrm>
          <a:prstGeom prst="rect">
            <a:avLst/>
          </a:prstGeom>
          <a:noFill/>
        </p:spPr>
        <p:txBody>
          <a:bodyPr wrap="square" lIns="45720" rIns="45720" tIns="18288" bIns="18288" anchor="t">
            <a:spAutoFit/>
          </a:bodyPr>
          <a:lstStyle/>
          <a:p>
            <a:pPr algn="l"/>
            <a:r>
              <a:rPr sz="1100" b="0" i="0">
                <a:solidFill>
                  <a:srgbClr val="1A1A1A"/>
                </a:solidFill>
                <a:latin typeface="Calibri"/>
              </a:rPr>
              <a:t>Sash control at 48" max, open knee space, insulated piping. Common in newer biotech labs.</a:t>
            </a:r>
          </a:p>
        </p:txBody>
      </p:sp>
      <p:sp>
        <p:nvSpPr>
          <p:cNvPr id="26" name="Rectangle 25"/>
          <p:cNvSpPr/>
          <p:nvPr/>
        </p:nvSpPr>
        <p:spPr>
          <a:xfrm>
            <a:off x="502920" y="5029200"/>
            <a:ext cx="5486400" cy="1463040"/>
          </a:xfrm>
          <a:prstGeom prst="rect">
            <a:avLst/>
          </a:prstGeom>
          <a:solidFill>
            <a:srgbClr val="F7F4EE"/>
          </a:solidFill>
          <a:ln w="9525">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5029200"/>
            <a:ext cx="164592" cy="146304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120640"/>
            <a:ext cx="5029200" cy="365760"/>
          </a:xfrm>
          <a:prstGeom prst="rect">
            <a:avLst/>
          </a:prstGeom>
          <a:noFill/>
        </p:spPr>
        <p:txBody>
          <a:bodyPr wrap="square" lIns="45720" rIns="45720" tIns="18288" bIns="18288" anchor="t">
            <a:spAutoFit/>
          </a:bodyPr>
          <a:lstStyle/>
          <a:p>
            <a:pPr algn="l"/>
            <a:r>
              <a:rPr sz="1300" b="1" i="0">
                <a:solidFill>
                  <a:srgbClr val="166534"/>
                </a:solidFill>
                <a:latin typeface="Calibri"/>
              </a:rPr>
              <a:t>Service counter combo</a:t>
            </a:r>
          </a:p>
        </p:txBody>
      </p:sp>
      <p:sp>
        <p:nvSpPr>
          <p:cNvPr id="29" name="TextBox 28"/>
          <p:cNvSpPr txBox="1"/>
          <p:nvPr/>
        </p:nvSpPr>
        <p:spPr>
          <a:xfrm>
            <a:off x="822960" y="5532120"/>
            <a:ext cx="5029200" cy="914400"/>
          </a:xfrm>
          <a:prstGeom prst="rect">
            <a:avLst/>
          </a:prstGeom>
          <a:noFill/>
        </p:spPr>
        <p:txBody>
          <a:bodyPr wrap="square" lIns="45720" rIns="45720" tIns="18288" bIns="18288" anchor="t">
            <a:spAutoFit/>
          </a:bodyPr>
          <a:lstStyle/>
          <a:p>
            <a:pPr algn="l"/>
            <a:r>
              <a:rPr sz="1100" b="0" i="0">
                <a:solidFill>
                  <a:srgbClr val="1A1A1A"/>
                </a:solidFill>
                <a:latin typeface="Calibri"/>
              </a:rPr>
              <a:t>Standard 38" counter PLUS a 34" lower section ≥ 36" long. Satisfies 904.4.1.</a:t>
            </a:r>
          </a:p>
        </p:txBody>
      </p:sp>
      <p:sp>
        <p:nvSpPr>
          <p:cNvPr id="30" name="Rectangle 29"/>
          <p:cNvSpPr/>
          <p:nvPr/>
        </p:nvSpPr>
        <p:spPr>
          <a:xfrm>
            <a:off x="6172200" y="5029200"/>
            <a:ext cx="5486400" cy="1463040"/>
          </a:xfrm>
          <a:prstGeom prst="rect">
            <a:avLst/>
          </a:prstGeom>
          <a:solidFill>
            <a:srgbClr val="F7F4EE"/>
          </a:solidFill>
          <a:ln w="9525">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2200" y="5029200"/>
            <a:ext cx="164592" cy="146304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5120640"/>
            <a:ext cx="5029200" cy="365760"/>
          </a:xfrm>
          <a:prstGeom prst="rect">
            <a:avLst/>
          </a:prstGeom>
          <a:noFill/>
        </p:spPr>
        <p:txBody>
          <a:bodyPr wrap="square" lIns="45720" rIns="45720" tIns="18288" bIns="18288" anchor="t">
            <a:spAutoFit/>
          </a:bodyPr>
          <a:lstStyle/>
          <a:p>
            <a:pPr algn="l"/>
            <a:r>
              <a:rPr sz="1300" b="1" i="0">
                <a:solidFill>
                  <a:srgbClr val="166534"/>
                </a:solidFill>
                <a:latin typeface="Calibri"/>
              </a:rPr>
              <a:t>Greenhouse paver path</a:t>
            </a:r>
          </a:p>
        </p:txBody>
      </p:sp>
      <p:sp>
        <p:nvSpPr>
          <p:cNvPr id="33" name="TextBox 32"/>
          <p:cNvSpPr txBox="1"/>
          <p:nvPr/>
        </p:nvSpPr>
        <p:spPr>
          <a:xfrm>
            <a:off x="6492240" y="5532120"/>
            <a:ext cx="5029200" cy="914400"/>
          </a:xfrm>
          <a:prstGeom prst="rect">
            <a:avLst/>
          </a:prstGeom>
          <a:noFill/>
        </p:spPr>
        <p:txBody>
          <a:bodyPr wrap="square" lIns="45720" rIns="45720" tIns="18288" bIns="18288" anchor="t">
            <a:spAutoFit/>
          </a:bodyPr>
          <a:lstStyle/>
          <a:p>
            <a:pPr algn="l"/>
            <a:r>
              <a:rPr sz="1100" b="0" i="0">
                <a:solidFill>
                  <a:srgbClr val="1A1A1A"/>
                </a:solidFill>
                <a:latin typeface="Calibri"/>
              </a:rPr>
              <a:t>Concrete or composite paver path replacing gravel — meets 302.1 firm/stable for outdoor accessible route.</a:t>
            </a:r>
          </a:p>
        </p:txBody>
      </p:sp>
      <p:sp>
        <p:nvSpPr>
          <p:cNvPr id="34" name="TextBox 33"/>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35" name="TextBox 34"/>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50 / 63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51 · REVIEWER RULES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The 18 area review categories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Every CRR 20 / 21 self-assessment and LOF table uses this exact sequence — in this exact order.</a:t>
            </a:r>
          </a:p>
        </p:txBody>
      </p:sp>
      <p:sp>
        <p:nvSpPr>
          <p:cNvPr id="10" name="Rectangle 9"/>
          <p:cNvSpPr/>
          <p:nvPr/>
        </p:nvSpPr>
        <p:spPr>
          <a:xfrm>
            <a:off x="502920" y="196596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96596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01</a:t>
            </a:r>
          </a:p>
        </p:txBody>
      </p:sp>
      <p:sp>
        <p:nvSpPr>
          <p:cNvPr id="12" name="Rectangle 11"/>
          <p:cNvSpPr/>
          <p:nvPr/>
        </p:nvSpPr>
        <p:spPr>
          <a:xfrm>
            <a:off x="1051560" y="196596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196596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Accessible Parking</a:t>
            </a:r>
          </a:p>
        </p:txBody>
      </p:sp>
      <p:sp>
        <p:nvSpPr>
          <p:cNvPr id="14" name="Rectangle 13"/>
          <p:cNvSpPr/>
          <p:nvPr/>
        </p:nvSpPr>
        <p:spPr>
          <a:xfrm>
            <a:off x="502920" y="246888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46888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02</a:t>
            </a:r>
          </a:p>
        </p:txBody>
      </p:sp>
      <p:sp>
        <p:nvSpPr>
          <p:cNvPr id="16" name="Rectangle 15"/>
          <p:cNvSpPr/>
          <p:nvPr/>
        </p:nvSpPr>
        <p:spPr>
          <a:xfrm>
            <a:off x="1051560" y="246888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246888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Accessible Routes / Walkways from accessible parking</a:t>
            </a:r>
          </a:p>
        </p:txBody>
      </p:sp>
      <p:sp>
        <p:nvSpPr>
          <p:cNvPr id="18" name="Rectangle 17"/>
          <p:cNvSpPr/>
          <p:nvPr/>
        </p:nvSpPr>
        <p:spPr>
          <a:xfrm>
            <a:off x="502920" y="297180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97180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03</a:t>
            </a:r>
          </a:p>
        </p:txBody>
      </p:sp>
      <p:sp>
        <p:nvSpPr>
          <p:cNvPr id="20" name="Rectangle 19"/>
          <p:cNvSpPr/>
          <p:nvPr/>
        </p:nvSpPr>
        <p:spPr>
          <a:xfrm>
            <a:off x="1051560" y="297180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297180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Stairways and Steps</a:t>
            </a:r>
          </a:p>
        </p:txBody>
      </p:sp>
      <p:sp>
        <p:nvSpPr>
          <p:cNvPr id="22" name="Rectangle 21"/>
          <p:cNvSpPr/>
          <p:nvPr/>
        </p:nvSpPr>
        <p:spPr>
          <a:xfrm>
            <a:off x="502920" y="347472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47472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04</a:t>
            </a:r>
          </a:p>
        </p:txBody>
      </p:sp>
      <p:sp>
        <p:nvSpPr>
          <p:cNvPr id="24" name="Rectangle 23"/>
          <p:cNvSpPr/>
          <p:nvPr/>
        </p:nvSpPr>
        <p:spPr>
          <a:xfrm>
            <a:off x="1051560" y="347472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347472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Ramps</a:t>
            </a:r>
          </a:p>
        </p:txBody>
      </p:sp>
      <p:sp>
        <p:nvSpPr>
          <p:cNvPr id="26" name="Rectangle 25"/>
          <p:cNvSpPr/>
          <p:nvPr/>
        </p:nvSpPr>
        <p:spPr>
          <a:xfrm>
            <a:off x="502920" y="3977639"/>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3977639"/>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05</a:t>
            </a:r>
          </a:p>
        </p:txBody>
      </p:sp>
      <p:sp>
        <p:nvSpPr>
          <p:cNvPr id="28" name="Rectangle 27"/>
          <p:cNvSpPr/>
          <p:nvPr/>
        </p:nvSpPr>
        <p:spPr>
          <a:xfrm>
            <a:off x="1051560" y="3977639"/>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8720" y="3977639"/>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Curb Ramps</a:t>
            </a:r>
          </a:p>
        </p:txBody>
      </p:sp>
      <p:sp>
        <p:nvSpPr>
          <p:cNvPr id="30" name="Rectangle 29"/>
          <p:cNvSpPr/>
          <p:nvPr/>
        </p:nvSpPr>
        <p:spPr>
          <a:xfrm>
            <a:off x="502920" y="448056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448056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06</a:t>
            </a:r>
          </a:p>
        </p:txBody>
      </p:sp>
      <p:sp>
        <p:nvSpPr>
          <p:cNvPr id="32" name="Rectangle 31"/>
          <p:cNvSpPr/>
          <p:nvPr/>
        </p:nvSpPr>
        <p:spPr>
          <a:xfrm>
            <a:off x="1051560" y="448056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88720" y="448056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Entrances, Doors, and Gates</a:t>
            </a:r>
          </a:p>
        </p:txBody>
      </p:sp>
      <p:sp>
        <p:nvSpPr>
          <p:cNvPr id="34" name="Rectangle 33"/>
          <p:cNvSpPr/>
          <p:nvPr/>
        </p:nvSpPr>
        <p:spPr>
          <a:xfrm>
            <a:off x="502920" y="498348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498348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07</a:t>
            </a:r>
          </a:p>
        </p:txBody>
      </p:sp>
      <p:sp>
        <p:nvSpPr>
          <p:cNvPr id="36" name="Rectangle 35"/>
          <p:cNvSpPr/>
          <p:nvPr/>
        </p:nvSpPr>
        <p:spPr>
          <a:xfrm>
            <a:off x="1051560" y="498348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88720" y="498348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Rooms, Offices, and Administration</a:t>
            </a:r>
          </a:p>
        </p:txBody>
      </p:sp>
      <p:sp>
        <p:nvSpPr>
          <p:cNvPr id="38" name="Rectangle 37"/>
          <p:cNvSpPr/>
          <p:nvPr/>
        </p:nvSpPr>
        <p:spPr>
          <a:xfrm>
            <a:off x="502920" y="548640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548640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08</a:t>
            </a:r>
          </a:p>
        </p:txBody>
      </p:sp>
      <p:sp>
        <p:nvSpPr>
          <p:cNvPr id="40" name="Rectangle 39"/>
          <p:cNvSpPr/>
          <p:nvPr/>
        </p:nvSpPr>
        <p:spPr>
          <a:xfrm>
            <a:off x="1051560" y="548640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88720" y="548640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Elevators / Lifts</a:t>
            </a:r>
          </a:p>
        </p:txBody>
      </p:sp>
      <p:sp>
        <p:nvSpPr>
          <p:cNvPr id="42" name="Rectangle 41"/>
          <p:cNvSpPr/>
          <p:nvPr/>
        </p:nvSpPr>
        <p:spPr>
          <a:xfrm>
            <a:off x="502920" y="598932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598932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09</a:t>
            </a:r>
          </a:p>
        </p:txBody>
      </p:sp>
      <p:sp>
        <p:nvSpPr>
          <p:cNvPr id="44" name="Rectangle 43"/>
          <p:cNvSpPr/>
          <p:nvPr/>
        </p:nvSpPr>
        <p:spPr>
          <a:xfrm>
            <a:off x="1051560" y="598932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88720" y="598932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Accessible Drinking Fountains</a:t>
            </a:r>
          </a:p>
        </p:txBody>
      </p:sp>
      <p:sp>
        <p:nvSpPr>
          <p:cNvPr id="46" name="Rectangle 45"/>
          <p:cNvSpPr/>
          <p:nvPr/>
        </p:nvSpPr>
        <p:spPr>
          <a:xfrm>
            <a:off x="6355080" y="196596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55080" y="196596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10</a:t>
            </a:r>
          </a:p>
        </p:txBody>
      </p:sp>
      <p:sp>
        <p:nvSpPr>
          <p:cNvPr id="48" name="Rectangle 47"/>
          <p:cNvSpPr/>
          <p:nvPr/>
        </p:nvSpPr>
        <p:spPr>
          <a:xfrm>
            <a:off x="6903720" y="196596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40880" y="196596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Cafeteria</a:t>
            </a:r>
          </a:p>
        </p:txBody>
      </p:sp>
      <p:sp>
        <p:nvSpPr>
          <p:cNvPr id="50" name="Rectangle 49"/>
          <p:cNvSpPr/>
          <p:nvPr/>
        </p:nvSpPr>
        <p:spPr>
          <a:xfrm>
            <a:off x="6355080" y="246888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55080" y="246888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11</a:t>
            </a:r>
          </a:p>
        </p:txBody>
      </p:sp>
      <p:sp>
        <p:nvSpPr>
          <p:cNvPr id="52" name="Rectangle 51"/>
          <p:cNvSpPr/>
          <p:nvPr/>
        </p:nvSpPr>
        <p:spPr>
          <a:xfrm>
            <a:off x="6903720" y="246888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80" y="246888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Library</a:t>
            </a:r>
          </a:p>
        </p:txBody>
      </p:sp>
      <p:sp>
        <p:nvSpPr>
          <p:cNvPr id="54" name="Rectangle 53"/>
          <p:cNvSpPr/>
          <p:nvPr/>
        </p:nvSpPr>
        <p:spPr>
          <a:xfrm>
            <a:off x="6355080" y="297180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55080" y="297180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12</a:t>
            </a:r>
          </a:p>
        </p:txBody>
      </p:sp>
      <p:sp>
        <p:nvSpPr>
          <p:cNvPr id="56" name="Rectangle 55"/>
          <p:cNvSpPr/>
          <p:nvPr/>
        </p:nvSpPr>
        <p:spPr>
          <a:xfrm>
            <a:off x="6903720" y="297180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40880" y="297180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CTE Classrooms</a:t>
            </a:r>
          </a:p>
        </p:txBody>
      </p:sp>
      <p:sp>
        <p:nvSpPr>
          <p:cNvPr id="58" name="Rectangle 57"/>
          <p:cNvSpPr/>
          <p:nvPr/>
        </p:nvSpPr>
        <p:spPr>
          <a:xfrm>
            <a:off x="6355080" y="347472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55080" y="347472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13</a:t>
            </a:r>
          </a:p>
        </p:txBody>
      </p:sp>
      <p:sp>
        <p:nvSpPr>
          <p:cNvPr id="60" name="Rectangle 59"/>
          <p:cNvSpPr/>
          <p:nvPr/>
        </p:nvSpPr>
        <p:spPr>
          <a:xfrm>
            <a:off x="6903720" y="347472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40880" y="347472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Labs / Shops</a:t>
            </a:r>
          </a:p>
        </p:txBody>
      </p:sp>
      <p:sp>
        <p:nvSpPr>
          <p:cNvPr id="62" name="Rectangle 61"/>
          <p:cNvSpPr/>
          <p:nvPr/>
        </p:nvSpPr>
        <p:spPr>
          <a:xfrm>
            <a:off x="6355080" y="3977639"/>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55080" y="3977639"/>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14</a:t>
            </a:r>
          </a:p>
        </p:txBody>
      </p:sp>
      <p:sp>
        <p:nvSpPr>
          <p:cNvPr id="64" name="Rectangle 63"/>
          <p:cNvSpPr/>
          <p:nvPr/>
        </p:nvSpPr>
        <p:spPr>
          <a:xfrm>
            <a:off x="6903720" y="3977639"/>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040880" y="3977639"/>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Gymnasium / Auditorium / Weight Room / Other</a:t>
            </a:r>
          </a:p>
        </p:txBody>
      </p:sp>
      <p:sp>
        <p:nvSpPr>
          <p:cNvPr id="66" name="Rectangle 65"/>
          <p:cNvSpPr/>
          <p:nvPr/>
        </p:nvSpPr>
        <p:spPr>
          <a:xfrm>
            <a:off x="6355080" y="448056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55080" y="448056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15</a:t>
            </a:r>
          </a:p>
        </p:txBody>
      </p:sp>
      <p:sp>
        <p:nvSpPr>
          <p:cNvPr id="68" name="Rectangle 67"/>
          <p:cNvSpPr/>
          <p:nvPr/>
        </p:nvSpPr>
        <p:spPr>
          <a:xfrm>
            <a:off x="6903720" y="448056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040880" y="448056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Stadium / Field</a:t>
            </a:r>
          </a:p>
        </p:txBody>
      </p:sp>
      <p:sp>
        <p:nvSpPr>
          <p:cNvPr id="70" name="Rectangle 69"/>
          <p:cNvSpPr/>
          <p:nvPr/>
        </p:nvSpPr>
        <p:spPr>
          <a:xfrm>
            <a:off x="6355080" y="498348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55080" y="498348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16</a:t>
            </a:r>
          </a:p>
        </p:txBody>
      </p:sp>
      <p:sp>
        <p:nvSpPr>
          <p:cNvPr id="72" name="Rectangle 71"/>
          <p:cNvSpPr/>
          <p:nvPr/>
        </p:nvSpPr>
        <p:spPr>
          <a:xfrm>
            <a:off x="6903720" y="498348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040880" y="498348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Dressing, Fitting, and Locker Rooms</a:t>
            </a:r>
          </a:p>
        </p:txBody>
      </p:sp>
      <p:sp>
        <p:nvSpPr>
          <p:cNvPr id="74" name="Rectangle 73"/>
          <p:cNvSpPr/>
          <p:nvPr/>
        </p:nvSpPr>
        <p:spPr>
          <a:xfrm>
            <a:off x="6355080" y="548640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355080" y="548640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17</a:t>
            </a:r>
          </a:p>
        </p:txBody>
      </p:sp>
      <p:sp>
        <p:nvSpPr>
          <p:cNvPr id="76" name="Rectangle 75"/>
          <p:cNvSpPr/>
          <p:nvPr/>
        </p:nvSpPr>
        <p:spPr>
          <a:xfrm>
            <a:off x="6903720" y="548640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040880" y="548640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Restrooms</a:t>
            </a:r>
          </a:p>
        </p:txBody>
      </p:sp>
      <p:sp>
        <p:nvSpPr>
          <p:cNvPr id="78" name="Rectangle 77"/>
          <p:cNvSpPr/>
          <p:nvPr/>
        </p:nvSpPr>
        <p:spPr>
          <a:xfrm>
            <a:off x="6355080" y="5989320"/>
            <a:ext cx="54864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355080" y="5989320"/>
            <a:ext cx="548640" cy="411480"/>
          </a:xfrm>
          <a:prstGeom prst="rect">
            <a:avLst/>
          </a:prstGeom>
          <a:noFill/>
        </p:spPr>
        <p:txBody>
          <a:bodyPr wrap="square" lIns="45720" rIns="45720" tIns="18288" bIns="18288" anchor="ctr">
            <a:spAutoFit/>
          </a:bodyPr>
          <a:lstStyle/>
          <a:p>
            <a:pPr algn="ctr"/>
            <a:r>
              <a:rPr sz="1200" b="1" i="0">
                <a:solidFill>
                  <a:srgbClr val="C8A84B"/>
                </a:solidFill>
                <a:latin typeface="Consolas"/>
              </a:rPr>
              <a:t>18</a:t>
            </a:r>
          </a:p>
        </p:txBody>
      </p:sp>
      <p:sp>
        <p:nvSpPr>
          <p:cNvPr id="80" name="Rectangle 79"/>
          <p:cNvSpPr/>
          <p:nvPr/>
        </p:nvSpPr>
        <p:spPr>
          <a:xfrm>
            <a:off x="6903720" y="5989320"/>
            <a:ext cx="5029200" cy="4114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040880" y="5989320"/>
            <a:ext cx="4846320" cy="411480"/>
          </a:xfrm>
          <a:prstGeom prst="rect">
            <a:avLst/>
          </a:prstGeom>
          <a:noFill/>
        </p:spPr>
        <p:txBody>
          <a:bodyPr wrap="square" lIns="45720" rIns="45720" tIns="18288" bIns="18288" anchor="ctr">
            <a:spAutoFit/>
          </a:bodyPr>
          <a:lstStyle/>
          <a:p>
            <a:pPr algn="l"/>
            <a:r>
              <a:rPr sz="1200" b="0" i="0">
                <a:solidFill>
                  <a:srgbClr val="1A1A1A"/>
                </a:solidFill>
                <a:latin typeface="Calibri"/>
              </a:rPr>
              <a:t>Public Telephones</a:t>
            </a:r>
          </a:p>
        </p:txBody>
      </p:sp>
      <p:sp>
        <p:nvSpPr>
          <p:cNvPr id="82" name="Rectangle 81"/>
          <p:cNvSpPr/>
          <p:nvPr/>
        </p:nvSpPr>
        <p:spPr>
          <a:xfrm>
            <a:off x="502920" y="6400800"/>
            <a:ext cx="11247120" cy="22860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02920" y="6373368"/>
            <a:ext cx="11247120" cy="274320"/>
          </a:xfrm>
          <a:prstGeom prst="rect">
            <a:avLst/>
          </a:prstGeom>
          <a:noFill/>
        </p:spPr>
        <p:txBody>
          <a:bodyPr wrap="square" lIns="45720" rIns="45720" tIns="18288" bIns="18288" anchor="ctr">
            <a:spAutoFit/>
          </a:bodyPr>
          <a:lstStyle/>
          <a:p>
            <a:pPr algn="ctr"/>
            <a:r>
              <a:rPr sz="1100" b="1" i="0">
                <a:solidFill>
                  <a:srgbClr val="1A2744"/>
                </a:solidFill>
                <a:latin typeface="Calibri"/>
              </a:rPr>
              <a:t>Don't skip rows. If an area is not present, the row reads N/A — but the row still appears.</a:t>
            </a:r>
          </a:p>
        </p:txBody>
      </p:sp>
      <p:sp>
        <p:nvSpPr>
          <p:cNvPr id="84" name="TextBox 83"/>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85" name="TextBox 84"/>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51 / 63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52 · REVIEWER RULES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Reviewer rule #1 — element-by-element alterations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411480"/>
          </a:xfrm>
          <a:prstGeom prst="rect">
            <a:avLst/>
          </a:prstGeom>
          <a:noFill/>
        </p:spPr>
        <p:txBody>
          <a:bodyPr wrap="square" lIns="45720" rIns="45720" tIns="18288" bIns="18288" anchor="t">
            <a:spAutoFit/>
          </a:bodyPr>
          <a:lstStyle/>
          <a:p>
            <a:pPr algn="l"/>
            <a:r>
              <a:rPr sz="1400" b="0" i="1">
                <a:solidFill>
                  <a:srgbClr val="6B6659"/>
                </a:solidFill>
                <a:latin typeface="Calibri"/>
              </a:rPr>
              <a:t>The single most common reviewer mistake — applying a newer standard to an older facility because part of it was altered. Don't.</a:t>
            </a:r>
          </a:p>
        </p:txBody>
      </p:sp>
      <p:sp>
        <p:nvSpPr>
          <p:cNvPr id="10" name="Rectangle 9"/>
          <p:cNvSpPr/>
          <p:nvPr/>
        </p:nvSpPr>
        <p:spPr>
          <a:xfrm>
            <a:off x="502920" y="1874519"/>
            <a:ext cx="54864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874519"/>
            <a:ext cx="548640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WHAT THE LEA REPORTS</a:t>
            </a:r>
          </a:p>
        </p:txBody>
      </p:sp>
      <p:sp>
        <p:nvSpPr>
          <p:cNvPr id="12" name="Rectangle 11"/>
          <p:cNvSpPr/>
          <p:nvPr/>
        </p:nvSpPr>
        <p:spPr>
          <a:xfrm>
            <a:off x="6172200" y="1874519"/>
            <a:ext cx="5486400" cy="3657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874519"/>
            <a:ext cx="5486400" cy="365760"/>
          </a:xfrm>
          <a:prstGeom prst="rect">
            <a:avLst/>
          </a:prstGeom>
          <a:noFill/>
        </p:spPr>
        <p:txBody>
          <a:bodyPr wrap="square" lIns="45720" rIns="45720" tIns="18288" bIns="18288" anchor="ctr">
            <a:spAutoFit/>
          </a:bodyPr>
          <a:lstStyle/>
          <a:p>
            <a:pPr algn="ctr"/>
            <a:r>
              <a:rPr sz="1100" b="1" i="0">
                <a:solidFill>
                  <a:srgbClr val="C8A84B"/>
                </a:solidFill>
                <a:latin typeface="Consolas"/>
              </a:rPr>
              <a:t>WHAT THE REVIEWER ASSIGNS</a:t>
            </a:r>
          </a:p>
        </p:txBody>
      </p:sp>
      <p:sp>
        <p:nvSpPr>
          <p:cNvPr id="14" name="Rectangle 13"/>
          <p:cNvSpPr/>
          <p:nvPr/>
        </p:nvSpPr>
        <p:spPr>
          <a:xfrm>
            <a:off x="502920" y="2286000"/>
            <a:ext cx="5486400" cy="9144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377440"/>
            <a:ext cx="5257800" cy="777240"/>
          </a:xfrm>
          <a:prstGeom prst="rect">
            <a:avLst/>
          </a:prstGeom>
          <a:noFill/>
        </p:spPr>
        <p:txBody>
          <a:bodyPr wrap="square" lIns="45720" rIns="45720" tIns="18288" bIns="18288" anchor="t">
            <a:spAutoFit/>
          </a:bodyPr>
          <a:lstStyle/>
          <a:p>
            <a:pPr algn="l"/>
            <a:r>
              <a:rPr sz="1100" b="0" i="1">
                <a:solidFill>
                  <a:srgbClr val="1A1A1A"/>
                </a:solidFill>
                <a:latin typeface="Calibri"/>
              </a:rPr>
              <a:t>1968 restroom — grab bars replaced 2018.</a:t>
            </a:r>
          </a:p>
          <a:p>
            <a:pPr algn="l"/>
            <a:r>
              <a:rPr sz="1100" b="0" i="1">
                <a:solidFill>
                  <a:srgbClr val="1A1A1A"/>
                </a:solidFill>
                <a:latin typeface="Calibri"/>
              </a:rPr>
              <a:t>No other alterations.</a:t>
            </a:r>
          </a:p>
        </p:txBody>
      </p:sp>
      <p:sp>
        <p:nvSpPr>
          <p:cNvPr id="16" name="Rectangle 15"/>
          <p:cNvSpPr/>
          <p:nvPr/>
        </p:nvSpPr>
        <p:spPr>
          <a:xfrm>
            <a:off x="6172200" y="2286000"/>
            <a:ext cx="5486400" cy="914400"/>
          </a:xfrm>
          <a:prstGeom prst="rect">
            <a:avLst/>
          </a:prstGeom>
          <a:solidFill>
            <a:srgbClr val="F7F4EE"/>
          </a:solidFill>
          <a:ln w="9525">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2377440"/>
            <a:ext cx="5257800" cy="777240"/>
          </a:xfrm>
          <a:prstGeom prst="rect">
            <a:avLst/>
          </a:prstGeom>
          <a:noFill/>
        </p:spPr>
        <p:txBody>
          <a:bodyPr wrap="square" lIns="45720" rIns="45720" tIns="18288" bIns="18288" anchor="t">
            <a:spAutoFit/>
          </a:bodyPr>
          <a:lstStyle/>
          <a:p>
            <a:pPr algn="l"/>
            <a:r>
              <a:rPr sz="1100" b="0" i="0">
                <a:solidFill>
                  <a:srgbClr val="1A2744"/>
                </a:solidFill>
                <a:latin typeface="Calibri"/>
              </a:rPr>
              <a:t>Grab bars → 2010 ADA (609.4).</a:t>
            </a:r>
          </a:p>
          <a:p>
            <a:pPr algn="l"/>
            <a:r>
              <a:rPr sz="1100" b="0" i="0">
                <a:solidFill>
                  <a:srgbClr val="1A2744"/>
                </a:solidFill>
                <a:latin typeface="Calibri"/>
              </a:rPr>
              <a:t>WC seat, lav, mirror, stall, signage → Program Access. NO findings possible on those elements.</a:t>
            </a:r>
          </a:p>
        </p:txBody>
      </p:sp>
      <p:sp>
        <p:nvSpPr>
          <p:cNvPr id="18" name="Rectangle 17"/>
          <p:cNvSpPr/>
          <p:nvPr/>
        </p:nvSpPr>
        <p:spPr>
          <a:xfrm>
            <a:off x="502920" y="3291840"/>
            <a:ext cx="5486400" cy="9144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383280"/>
            <a:ext cx="5257800" cy="777240"/>
          </a:xfrm>
          <a:prstGeom prst="rect">
            <a:avLst/>
          </a:prstGeom>
          <a:noFill/>
        </p:spPr>
        <p:txBody>
          <a:bodyPr wrap="square" lIns="45720" rIns="45720" tIns="18288" bIns="18288" anchor="t">
            <a:spAutoFit/>
          </a:bodyPr>
          <a:lstStyle/>
          <a:p>
            <a:pPr algn="l"/>
            <a:r>
              <a:rPr sz="1100" b="0" i="1">
                <a:solidFill>
                  <a:srgbClr val="1A1A1A"/>
                </a:solidFill>
                <a:latin typeface="Calibri"/>
              </a:rPr>
              <a:t>1985 ramp — entire ramp + handrails rebuilt 2020.</a:t>
            </a:r>
          </a:p>
          <a:p>
            <a:pPr algn="l"/>
            <a:r>
              <a:rPr sz="1100" b="0" i="1">
                <a:solidFill>
                  <a:srgbClr val="1A1A1A"/>
                </a:solidFill>
                <a:latin typeface="Calibri"/>
              </a:rPr>
              <a:t>Whole-element rebuild.</a:t>
            </a:r>
          </a:p>
        </p:txBody>
      </p:sp>
      <p:sp>
        <p:nvSpPr>
          <p:cNvPr id="20" name="Rectangle 19"/>
          <p:cNvSpPr/>
          <p:nvPr/>
        </p:nvSpPr>
        <p:spPr>
          <a:xfrm>
            <a:off x="6172200" y="3291840"/>
            <a:ext cx="5486400" cy="914400"/>
          </a:xfrm>
          <a:prstGeom prst="rect">
            <a:avLst/>
          </a:prstGeom>
          <a:solidFill>
            <a:srgbClr val="F7F4EE"/>
          </a:solidFill>
          <a:ln w="9525">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3383280"/>
            <a:ext cx="5257800" cy="777240"/>
          </a:xfrm>
          <a:prstGeom prst="rect">
            <a:avLst/>
          </a:prstGeom>
          <a:noFill/>
        </p:spPr>
        <p:txBody>
          <a:bodyPr wrap="square" lIns="45720" rIns="45720" tIns="18288" bIns="18288" anchor="t">
            <a:spAutoFit/>
          </a:bodyPr>
          <a:lstStyle/>
          <a:p>
            <a:pPr algn="l"/>
            <a:r>
              <a:rPr sz="1100" b="0" i="0">
                <a:solidFill>
                  <a:srgbClr val="1A2744"/>
                </a:solidFill>
                <a:latin typeface="Calibri"/>
              </a:rPr>
              <a:t>Entire ramp + handrails → 2010 ADA (405, 505).</a:t>
            </a:r>
          </a:p>
          <a:p>
            <a:pPr algn="l"/>
            <a:r>
              <a:rPr sz="1100" b="0" i="0">
                <a:solidFill>
                  <a:srgbClr val="1A2744"/>
                </a:solidFill>
                <a:latin typeface="Calibri"/>
              </a:rPr>
              <a:t>The ramp is the element; rebuilding it is a whole-element alteration.</a:t>
            </a:r>
          </a:p>
        </p:txBody>
      </p:sp>
      <p:sp>
        <p:nvSpPr>
          <p:cNvPr id="22" name="Rectangle 21"/>
          <p:cNvSpPr/>
          <p:nvPr/>
        </p:nvSpPr>
        <p:spPr>
          <a:xfrm>
            <a:off x="502920" y="4297680"/>
            <a:ext cx="5486400" cy="9144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389120"/>
            <a:ext cx="5257800" cy="777240"/>
          </a:xfrm>
          <a:prstGeom prst="rect">
            <a:avLst/>
          </a:prstGeom>
          <a:noFill/>
        </p:spPr>
        <p:txBody>
          <a:bodyPr wrap="square" lIns="45720" rIns="45720" tIns="18288" bIns="18288" anchor="t">
            <a:spAutoFit/>
          </a:bodyPr>
          <a:lstStyle/>
          <a:p>
            <a:pPr algn="l"/>
            <a:r>
              <a:rPr sz="1100" b="0" i="1">
                <a:solidFill>
                  <a:srgbClr val="1A1A1A"/>
                </a:solidFill>
                <a:latin typeface="Calibri"/>
              </a:rPr>
              <a:t>1962 cafeteria — new tray-slide installed 2016.</a:t>
            </a:r>
          </a:p>
          <a:p>
            <a:pPr algn="l"/>
            <a:r>
              <a:rPr sz="1100" b="0" i="1">
                <a:solidFill>
                  <a:srgbClr val="1A1A1A"/>
                </a:solidFill>
                <a:latin typeface="Calibri"/>
              </a:rPr>
              <a:t>Kitchen otherwise unchanged.</a:t>
            </a:r>
          </a:p>
        </p:txBody>
      </p:sp>
      <p:sp>
        <p:nvSpPr>
          <p:cNvPr id="24" name="Rectangle 23"/>
          <p:cNvSpPr/>
          <p:nvPr/>
        </p:nvSpPr>
        <p:spPr>
          <a:xfrm>
            <a:off x="6172200" y="4297680"/>
            <a:ext cx="5486400" cy="914400"/>
          </a:xfrm>
          <a:prstGeom prst="rect">
            <a:avLst/>
          </a:prstGeom>
          <a:solidFill>
            <a:srgbClr val="F7F4EE"/>
          </a:solidFill>
          <a:ln w="9525">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4389120"/>
            <a:ext cx="5257800" cy="777240"/>
          </a:xfrm>
          <a:prstGeom prst="rect">
            <a:avLst/>
          </a:prstGeom>
          <a:noFill/>
        </p:spPr>
        <p:txBody>
          <a:bodyPr wrap="square" lIns="45720" rIns="45720" tIns="18288" bIns="18288" anchor="t">
            <a:spAutoFit/>
          </a:bodyPr>
          <a:lstStyle/>
          <a:p>
            <a:pPr algn="l"/>
            <a:r>
              <a:rPr sz="1100" b="0" i="0">
                <a:solidFill>
                  <a:srgbClr val="1A2744"/>
                </a:solidFill>
                <a:latin typeface="Calibri"/>
              </a:rPr>
              <a:t>Tray-slide → 2010 ADA (904.4.1, max 34").</a:t>
            </a:r>
          </a:p>
          <a:p>
            <a:pPr algn="l"/>
            <a:r>
              <a:rPr sz="1100" b="0" i="0">
                <a:solidFill>
                  <a:srgbClr val="1A2744"/>
                </a:solidFill>
                <a:latin typeface="Calibri"/>
              </a:rPr>
              <a:t>Fixed tables, counter heights elsewhere → Program Access. NO findings.</a:t>
            </a:r>
          </a:p>
        </p:txBody>
      </p:sp>
      <p:sp>
        <p:nvSpPr>
          <p:cNvPr id="26" name="Rectangle 25"/>
          <p:cNvSpPr/>
          <p:nvPr/>
        </p:nvSpPr>
        <p:spPr>
          <a:xfrm>
            <a:off x="502920" y="5303520"/>
            <a:ext cx="5486400" cy="9144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394960"/>
            <a:ext cx="5257800" cy="777240"/>
          </a:xfrm>
          <a:prstGeom prst="rect">
            <a:avLst/>
          </a:prstGeom>
          <a:noFill/>
        </p:spPr>
        <p:txBody>
          <a:bodyPr wrap="square" lIns="45720" rIns="45720" tIns="18288" bIns="18288" anchor="t">
            <a:spAutoFit/>
          </a:bodyPr>
          <a:lstStyle/>
          <a:p>
            <a:pPr algn="l"/>
            <a:r>
              <a:rPr sz="1100" b="0" i="1">
                <a:solidFill>
                  <a:srgbClr val="1A1A1A"/>
                </a:solidFill>
                <a:latin typeface="Calibri"/>
              </a:rPr>
              <a:t>1970 wood shop — entire room gutted &amp; rebuilt 2019.</a:t>
            </a:r>
          </a:p>
        </p:txBody>
      </p:sp>
      <p:sp>
        <p:nvSpPr>
          <p:cNvPr id="28" name="Rectangle 27"/>
          <p:cNvSpPr/>
          <p:nvPr/>
        </p:nvSpPr>
        <p:spPr>
          <a:xfrm>
            <a:off x="6172200" y="5303520"/>
            <a:ext cx="5486400" cy="914400"/>
          </a:xfrm>
          <a:prstGeom prst="rect">
            <a:avLst/>
          </a:prstGeom>
          <a:solidFill>
            <a:srgbClr val="F7F4EE"/>
          </a:solidFill>
          <a:ln w="9525">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5394960"/>
            <a:ext cx="5257800" cy="777240"/>
          </a:xfrm>
          <a:prstGeom prst="rect">
            <a:avLst/>
          </a:prstGeom>
          <a:noFill/>
        </p:spPr>
        <p:txBody>
          <a:bodyPr wrap="square" lIns="45720" rIns="45720" tIns="18288" bIns="18288" anchor="t">
            <a:spAutoFit/>
          </a:bodyPr>
          <a:lstStyle/>
          <a:p>
            <a:pPr algn="l"/>
            <a:r>
              <a:rPr sz="1100" b="0" i="0">
                <a:solidFill>
                  <a:srgbClr val="1A2744"/>
                </a:solidFill>
                <a:latin typeface="Calibri"/>
              </a:rPr>
              <a:t>Whole-room rule (§ 202.3): entire rebuilt room → 2010 ADA. Every element (workbenches, signage, doors, outlets, eye-wash) evaluated to 2010 ADA.</a:t>
            </a:r>
          </a:p>
        </p:txBody>
      </p:sp>
      <p:sp>
        <p:nvSpPr>
          <p:cNvPr id="30" name="TextBox 29"/>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31" name="TextBox 30"/>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52 / 63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53 · REVIEWER RULES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Reviewer rule #2 — corrective actions = always 2010 ADA</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411480"/>
          </a:xfrm>
          <a:prstGeom prst="rect">
            <a:avLst/>
          </a:prstGeom>
          <a:noFill/>
        </p:spPr>
        <p:txBody>
          <a:bodyPr wrap="square" lIns="45720" rIns="45720" tIns="18288" bIns="18288" anchor="t">
            <a:spAutoFit/>
          </a:bodyPr>
          <a:lstStyle/>
          <a:p>
            <a:pPr algn="l"/>
            <a:r>
              <a:rPr sz="1400" b="0" i="1">
                <a:solidFill>
                  <a:srgbClr val="6B6659"/>
                </a:solidFill>
                <a:latin typeface="Calibri"/>
              </a:rPr>
              <a:t>Cite the violation at the standard that applies to the element. Write the corrective action to bring the element into compliance with 2010 ADA — always.</a:t>
            </a:r>
          </a:p>
        </p:txBody>
      </p:sp>
      <p:sp>
        <p:nvSpPr>
          <p:cNvPr id="10" name="Rectangle 9"/>
          <p:cNvSpPr/>
          <p:nvPr/>
        </p:nvSpPr>
        <p:spPr>
          <a:xfrm>
            <a:off x="502920" y="1920240"/>
            <a:ext cx="11247120" cy="9144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920240"/>
            <a:ext cx="164592" cy="91440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011680"/>
            <a:ext cx="10789920" cy="274320"/>
          </a:xfrm>
          <a:prstGeom prst="rect">
            <a:avLst/>
          </a:prstGeom>
          <a:noFill/>
        </p:spPr>
        <p:txBody>
          <a:bodyPr wrap="square" lIns="45720" rIns="45720" tIns="18288" bIns="18288" anchor="t">
            <a:spAutoFit/>
          </a:bodyPr>
          <a:lstStyle/>
          <a:p>
            <a:pPr algn="l"/>
            <a:r>
              <a:rPr sz="1100" b="1" i="0">
                <a:solidFill>
                  <a:srgbClr val="1A2744"/>
                </a:solidFill>
                <a:latin typeface="Consolas"/>
              </a:rPr>
              <a:t>CRR 20 boilerplate (Summary of Analysis):</a:t>
            </a:r>
          </a:p>
        </p:txBody>
      </p:sp>
      <p:sp>
        <p:nvSpPr>
          <p:cNvPr id="13" name="TextBox 12"/>
          <p:cNvSpPr txBox="1"/>
          <p:nvPr/>
        </p:nvSpPr>
        <p:spPr>
          <a:xfrm>
            <a:off x="777240" y="2286000"/>
            <a:ext cx="10698480" cy="548640"/>
          </a:xfrm>
          <a:prstGeom prst="rect">
            <a:avLst/>
          </a:prstGeom>
          <a:noFill/>
        </p:spPr>
        <p:txBody>
          <a:bodyPr wrap="square" lIns="45720" rIns="45720" tIns="18288" bIns="18288" anchor="t">
            <a:spAutoFit/>
          </a:bodyPr>
          <a:lstStyle/>
          <a:p>
            <a:pPr algn="l"/>
            <a:r>
              <a:rPr sz="1200" b="0" i="1">
                <a:solidFill>
                  <a:srgbClr val="1A1A1A"/>
                </a:solidFill>
                <a:latin typeface="Calibri"/>
              </a:rPr>
              <a:t>"The Office of Civil Rights requires all corrective actions to be made in accordance with 2010 ADA standards; therefore, certain areas will not require corrective action as the noted deficiency is within the 2010 ADA standards."</a:t>
            </a:r>
          </a:p>
        </p:txBody>
      </p:sp>
      <p:sp>
        <p:nvSpPr>
          <p:cNvPr id="14" name="Rectangle 13"/>
          <p:cNvSpPr/>
          <p:nvPr/>
        </p:nvSpPr>
        <p:spPr>
          <a:xfrm>
            <a:off x="502920" y="3017520"/>
            <a:ext cx="5486400" cy="32004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017520"/>
            <a:ext cx="548640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017520"/>
            <a:ext cx="5486400" cy="411480"/>
          </a:xfrm>
          <a:prstGeom prst="rect">
            <a:avLst/>
          </a:prstGeom>
          <a:noFill/>
        </p:spPr>
        <p:txBody>
          <a:bodyPr wrap="square" lIns="45720" rIns="45720" tIns="18288" bIns="18288" anchor="ctr">
            <a:spAutoFit/>
          </a:bodyPr>
          <a:lstStyle/>
          <a:p>
            <a:pPr algn="ctr"/>
            <a:r>
              <a:rPr sz="1100" b="1" i="0">
                <a:solidFill>
                  <a:srgbClr val="C8A84B"/>
                </a:solidFill>
                <a:latin typeface="Consolas"/>
              </a:rPr>
              <a:t>VIOLATION COLUMN — cite at the APPLICABLE standard</a:t>
            </a:r>
          </a:p>
        </p:txBody>
      </p:sp>
      <p:sp>
        <p:nvSpPr>
          <p:cNvPr id="17" name="TextBox 16"/>
          <p:cNvSpPr txBox="1"/>
          <p:nvPr/>
        </p:nvSpPr>
        <p:spPr>
          <a:xfrm>
            <a:off x="685800" y="3520440"/>
            <a:ext cx="5212080" cy="2651760"/>
          </a:xfrm>
          <a:prstGeom prst="rect">
            <a:avLst/>
          </a:prstGeom>
          <a:noFill/>
        </p:spPr>
        <p:txBody>
          <a:bodyPr wrap="square" lIns="45720" rIns="45720">
            <a:spAutoFit/>
          </a:bodyPr>
          <a:lstStyle/>
          <a:p>
            <a:pPr algn="l">
              <a:spcAft>
                <a:spcPts val="600"/>
              </a:spcAft>
            </a:pPr>
            <a:r>
              <a:rPr sz="1200" b="0">
                <a:solidFill>
                  <a:srgbClr val="1A1A1A"/>
                </a:solidFill>
                <a:latin typeface="Calibri"/>
              </a:rPr>
              <a:t>•  1985 handrail at 30" → Cite: ANSI A117.1 § 4.8.5 (34–38" required).</a:t>
            </a:r>
          </a:p>
          <a:p>
            <a:pPr algn="l">
              <a:spcAft>
                <a:spcPts val="600"/>
              </a:spcAft>
            </a:pPr>
            <a:r>
              <a:rPr sz="1200" b="0">
                <a:solidFill>
                  <a:srgbClr val="1A1A1A"/>
                </a:solidFill>
                <a:latin typeface="Calibri"/>
              </a:rPr>
              <a:t>•  2003 ramp at 1:9 → Cite: 1991 ADA § 4.8.2 (1:12 max).</a:t>
            </a:r>
          </a:p>
          <a:p>
            <a:pPr algn="l">
              <a:spcAft>
                <a:spcPts val="600"/>
              </a:spcAft>
            </a:pPr>
            <a:r>
              <a:rPr sz="1200" b="0">
                <a:solidFill>
                  <a:srgbClr val="1A1A1A"/>
                </a:solidFill>
                <a:latin typeface="Calibri"/>
              </a:rPr>
              <a:t>•  2016 toilet seat at 16" → Cite: 2010 ADA § 604.4 (17–19").</a:t>
            </a:r>
          </a:p>
        </p:txBody>
      </p:sp>
      <p:sp>
        <p:nvSpPr>
          <p:cNvPr id="18" name="Rectangle 17"/>
          <p:cNvSpPr/>
          <p:nvPr/>
        </p:nvSpPr>
        <p:spPr>
          <a:xfrm>
            <a:off x="6263640" y="3017520"/>
            <a:ext cx="5486400" cy="3200400"/>
          </a:xfrm>
          <a:prstGeom prst="rect">
            <a:avLst/>
          </a:prstGeom>
          <a:solidFill>
            <a:srgbClr val="F7F4EE"/>
          </a:solidFill>
          <a:ln w="9525">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017520"/>
            <a:ext cx="5486400" cy="41148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3017520"/>
            <a:ext cx="5486400" cy="411480"/>
          </a:xfrm>
          <a:prstGeom prst="rect">
            <a:avLst/>
          </a:prstGeom>
          <a:noFill/>
        </p:spPr>
        <p:txBody>
          <a:bodyPr wrap="square" lIns="45720" rIns="45720" tIns="18288" bIns="18288" anchor="ctr">
            <a:spAutoFit/>
          </a:bodyPr>
          <a:lstStyle/>
          <a:p>
            <a:pPr algn="ctr"/>
            <a:r>
              <a:rPr sz="1100" b="1" i="0">
                <a:solidFill>
                  <a:srgbClr val="1A2744"/>
                </a:solidFill>
                <a:latin typeface="Consolas"/>
              </a:rPr>
              <a:t>CORRECTIVE COLUMN — always cite 2010 ADA</a:t>
            </a:r>
          </a:p>
        </p:txBody>
      </p:sp>
      <p:sp>
        <p:nvSpPr>
          <p:cNvPr id="21" name="TextBox 20"/>
          <p:cNvSpPr txBox="1"/>
          <p:nvPr/>
        </p:nvSpPr>
        <p:spPr>
          <a:xfrm>
            <a:off x="6446520" y="3520440"/>
            <a:ext cx="5212080" cy="2651760"/>
          </a:xfrm>
          <a:prstGeom prst="rect">
            <a:avLst/>
          </a:prstGeom>
          <a:noFill/>
        </p:spPr>
        <p:txBody>
          <a:bodyPr wrap="square" lIns="45720" rIns="45720">
            <a:spAutoFit/>
          </a:bodyPr>
          <a:lstStyle/>
          <a:p>
            <a:pPr algn="l">
              <a:spcAft>
                <a:spcPts val="600"/>
              </a:spcAft>
            </a:pPr>
            <a:r>
              <a:rPr sz="1200" b="0">
                <a:solidFill>
                  <a:srgbClr val="1A1A1A"/>
                </a:solidFill>
                <a:latin typeface="Calibri"/>
              </a:rPr>
              <a:t>•  Reset handrail to 34–38" per 2010 ADA § 505.4.</a:t>
            </a:r>
          </a:p>
          <a:p>
            <a:pPr algn="l">
              <a:spcAft>
                <a:spcPts val="600"/>
              </a:spcAft>
            </a:pPr>
            <a:r>
              <a:rPr sz="1200" b="0">
                <a:solidFill>
                  <a:srgbClr val="1A1A1A"/>
                </a:solidFill>
                <a:latin typeface="Calibri"/>
              </a:rPr>
              <a:t>•  Re-grade ramp to max 1:12 running, 1:48 cross per 2010 ADA § 405.2 / 405.3.</a:t>
            </a:r>
          </a:p>
          <a:p>
            <a:pPr algn="l">
              <a:spcAft>
                <a:spcPts val="600"/>
              </a:spcAft>
            </a:pPr>
            <a:r>
              <a:rPr sz="1200" b="0">
                <a:solidFill>
                  <a:srgbClr val="1A1A1A"/>
                </a:solidFill>
                <a:latin typeface="Calibri"/>
              </a:rPr>
              <a:t>•  Reset water closet seat to 17–19" per 2010 ADA § 604.4.</a:t>
            </a:r>
          </a:p>
        </p:txBody>
      </p:sp>
      <p:sp>
        <p:nvSpPr>
          <p:cNvPr id="22" name="Rectangle 21"/>
          <p:cNvSpPr/>
          <p:nvPr/>
        </p:nvSpPr>
        <p:spPr>
          <a:xfrm>
            <a:off x="502920" y="6355080"/>
            <a:ext cx="11247120" cy="36576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336792"/>
            <a:ext cx="11247120" cy="365760"/>
          </a:xfrm>
          <a:prstGeom prst="rect">
            <a:avLst/>
          </a:prstGeom>
          <a:noFill/>
        </p:spPr>
        <p:txBody>
          <a:bodyPr wrap="square" lIns="45720" rIns="45720" tIns="18288" bIns="18288" anchor="ctr">
            <a:spAutoFit/>
          </a:bodyPr>
          <a:lstStyle/>
          <a:p>
            <a:pPr algn="ctr"/>
            <a:r>
              <a:rPr sz="1200" b="1" i="0">
                <a:solidFill>
                  <a:srgbClr val="1A2744"/>
                </a:solidFill>
                <a:latin typeface="Calibri"/>
              </a:rPr>
              <a:t>Why: 2010 ADA is the federal target state. Bringing an old element "up to its old standard" doesn't fix the access barrier — only 2010 ADA does.</a:t>
            </a:r>
          </a:p>
        </p:txBody>
      </p:sp>
      <p:sp>
        <p:nvSpPr>
          <p:cNvPr id="24" name="TextBox 23"/>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25" name="TextBox 24"/>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53 / 63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10972800" cy="457200"/>
          </a:xfrm>
          <a:prstGeom prst="rect">
            <a:avLst/>
          </a:prstGeom>
          <a:noFill/>
        </p:spPr>
        <p:txBody>
          <a:bodyPr wrap="square" lIns="45720" rIns="45720" tIns="18288" bIns="18288" anchor="t">
            <a:spAutoFit/>
          </a:bodyPr>
          <a:lstStyle/>
          <a:p>
            <a:pPr algn="l"/>
            <a:r>
              <a:rPr sz="1200" b="1" i="0">
                <a:solidFill>
                  <a:srgbClr val="C8A84B"/>
                </a:solidFill>
                <a:latin typeface="Consolas"/>
              </a:rPr>
              <a:t>KNOWLEDGE CHECK · 04½</a:t>
            </a:r>
          </a:p>
        </p:txBody>
      </p:sp>
      <p:sp>
        <p:nvSpPr>
          <p:cNvPr id="5" name="TextBox 4"/>
          <p:cNvSpPr txBox="1"/>
          <p:nvPr/>
        </p:nvSpPr>
        <p:spPr>
          <a:xfrm>
            <a:off x="777240" y="1005840"/>
            <a:ext cx="10972800" cy="822960"/>
          </a:xfrm>
          <a:prstGeom prst="rect">
            <a:avLst/>
          </a:prstGeom>
          <a:noFill/>
        </p:spPr>
        <p:txBody>
          <a:bodyPr wrap="square" lIns="45720" rIns="45720" tIns="18288" bIns="18288" anchor="t">
            <a:spAutoFit/>
          </a:bodyPr>
          <a:lstStyle/>
          <a:p>
            <a:pPr algn="l"/>
            <a:r>
              <a:rPr sz="3200" b="1" i="0">
                <a:solidFill>
                  <a:srgbClr val="FFFFFF"/>
                </a:solidFill>
                <a:latin typeface="Georgia"/>
              </a:rPr>
              <a:t>Both rules at once</a:t>
            </a:r>
          </a:p>
        </p:txBody>
      </p:sp>
      <p:sp>
        <p:nvSpPr>
          <p:cNvPr id="6" name="Rectangle 5"/>
          <p:cNvSpPr/>
          <p:nvPr/>
        </p:nvSpPr>
        <p:spPr>
          <a:xfrm>
            <a:off x="777240" y="1965960"/>
            <a:ext cx="10927080" cy="1554480"/>
          </a:xfrm>
          <a:prstGeom prst="rect">
            <a:avLst/>
          </a:prstGeom>
          <a:solidFill>
            <a:srgbClr val="243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10515600" cy="1371600"/>
          </a:xfrm>
          <a:prstGeom prst="rect">
            <a:avLst/>
          </a:prstGeom>
          <a:noFill/>
        </p:spPr>
        <p:txBody>
          <a:bodyPr wrap="square" lIns="45720" rIns="45720" tIns="18288" bIns="18288" anchor="t">
            <a:spAutoFit/>
          </a:bodyPr>
          <a:lstStyle/>
          <a:p>
            <a:pPr algn="l"/>
            <a:r>
              <a:rPr sz="1400" b="0" i="0">
                <a:solidFill>
                  <a:srgbClr val="FFFFFF"/>
                </a:solidFill>
                <a:latin typeface="Calibri"/>
              </a:rPr>
              <a:t>1972 high-school cafeteria. Original 1972 fixed counters, 1972 tray-slide. In 2018 the LEA installed a NEW tray-slide (only) — work orders confirm.</a:t>
            </a:r>
          </a:p>
          <a:p>
            <a:pPr algn="l"/>
            <a:r>
              <a:rPr sz="1400" b="0" i="0">
                <a:solidFill>
                  <a:srgbClr val="FFFFFF"/>
                </a:solidFill>
                <a:latin typeface="Calibri"/>
              </a:rPr>
              <a:t/>
            </a:r>
          </a:p>
          <a:p>
            <a:pPr algn="l"/>
            <a:r>
              <a:rPr sz="1400" b="0" i="0">
                <a:solidFill>
                  <a:srgbClr val="FFFFFF"/>
                </a:solidFill>
                <a:latin typeface="Calibri"/>
              </a:rPr>
              <a:t>Field measurement: new (2018) tray-slide at 36" above floor.</a:t>
            </a:r>
          </a:p>
          <a:p>
            <a:pPr algn="l"/>
            <a:r>
              <a:rPr sz="1400" b="0" i="0">
                <a:solidFill>
                  <a:srgbClr val="FFFFFF"/>
                </a:solidFill>
                <a:latin typeface="Calibri"/>
              </a:rPr>
              <a:t>Field measurement: original 1972 counter at 37" above floor.</a:t>
            </a:r>
          </a:p>
        </p:txBody>
      </p:sp>
      <p:sp>
        <p:nvSpPr>
          <p:cNvPr id="8" name="TextBox 7"/>
          <p:cNvSpPr txBox="1"/>
          <p:nvPr/>
        </p:nvSpPr>
        <p:spPr>
          <a:xfrm>
            <a:off x="777240" y="3657600"/>
            <a:ext cx="10972800" cy="365760"/>
          </a:xfrm>
          <a:prstGeom prst="rect">
            <a:avLst/>
          </a:prstGeom>
          <a:noFill/>
        </p:spPr>
        <p:txBody>
          <a:bodyPr wrap="square" lIns="45720" rIns="45720" tIns="18288" bIns="18288" anchor="t">
            <a:spAutoFit/>
          </a:bodyPr>
          <a:lstStyle/>
          <a:p>
            <a:pPr algn="l"/>
            <a:r>
              <a:rPr sz="1200" b="1" i="0">
                <a:solidFill>
                  <a:srgbClr val="C8A84B"/>
                </a:solidFill>
                <a:latin typeface="Consolas"/>
              </a:rPr>
              <a:t>ANSWER BOTH PARTS:</a:t>
            </a:r>
          </a:p>
        </p:txBody>
      </p:sp>
      <p:sp>
        <p:nvSpPr>
          <p:cNvPr id="9" name="Rectangle 8"/>
          <p:cNvSpPr/>
          <p:nvPr/>
        </p:nvSpPr>
        <p:spPr>
          <a:xfrm>
            <a:off x="777240" y="4114800"/>
            <a:ext cx="5303520" cy="2240280"/>
          </a:xfrm>
          <a:prstGeom prst="rect">
            <a:avLst/>
          </a:prstGeom>
          <a:solidFill>
            <a:srgbClr val="243460"/>
          </a:solidFill>
          <a:ln w="9525">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206240"/>
            <a:ext cx="5029200" cy="365760"/>
          </a:xfrm>
          <a:prstGeom prst="rect">
            <a:avLst/>
          </a:prstGeom>
          <a:noFill/>
        </p:spPr>
        <p:txBody>
          <a:bodyPr wrap="square" lIns="45720" rIns="45720" tIns="18288" bIns="18288" anchor="t">
            <a:spAutoFit/>
          </a:bodyPr>
          <a:lstStyle/>
          <a:p>
            <a:pPr algn="l"/>
            <a:r>
              <a:rPr sz="1300" b="1" i="0">
                <a:solidFill>
                  <a:srgbClr val="C8A84B"/>
                </a:solidFill>
                <a:latin typeface="Calibri"/>
              </a:rPr>
              <a:t>PART A — 2018 tray-slide @ 36":</a:t>
            </a:r>
          </a:p>
        </p:txBody>
      </p:sp>
      <p:sp>
        <p:nvSpPr>
          <p:cNvPr id="11" name="TextBox 10"/>
          <p:cNvSpPr txBox="1"/>
          <p:nvPr/>
        </p:nvSpPr>
        <p:spPr>
          <a:xfrm>
            <a:off x="960120" y="4572000"/>
            <a:ext cx="5029200" cy="1691640"/>
          </a:xfrm>
          <a:prstGeom prst="rect">
            <a:avLst/>
          </a:prstGeom>
          <a:noFill/>
        </p:spPr>
        <p:txBody>
          <a:bodyPr wrap="square" lIns="45720" rIns="45720" tIns="18288" bIns="18288" anchor="t">
            <a:spAutoFit/>
          </a:bodyPr>
          <a:lstStyle/>
          <a:p>
            <a:pPr algn="l"/>
            <a:r>
              <a:rPr sz="1200" b="0" i="0">
                <a:solidFill>
                  <a:srgbClr val="E8D08A"/>
                </a:solidFill>
                <a:latin typeface="Consolas"/>
              </a:rPr>
              <a:t>Standard at violation: ____________</a:t>
            </a:r>
          </a:p>
          <a:p>
            <a:pPr algn="l"/>
            <a:r>
              <a:rPr sz="1200" b="0" i="0">
                <a:solidFill>
                  <a:srgbClr val="E8D08A"/>
                </a:solidFill>
                <a:latin typeface="Consolas"/>
              </a:rPr>
              <a:t/>
            </a:r>
          </a:p>
          <a:p>
            <a:pPr algn="l"/>
            <a:r>
              <a:rPr sz="1200" b="0" i="0">
                <a:solidFill>
                  <a:srgbClr val="E8D08A"/>
                </a:solidFill>
                <a:latin typeface="Consolas"/>
              </a:rPr>
              <a:t>Cite at violation: ____________</a:t>
            </a:r>
          </a:p>
          <a:p>
            <a:pPr algn="l"/>
            <a:r>
              <a:rPr sz="1200" b="0" i="0">
                <a:solidFill>
                  <a:srgbClr val="E8D08A"/>
                </a:solidFill>
                <a:latin typeface="Consolas"/>
              </a:rPr>
              <a:t/>
            </a:r>
          </a:p>
          <a:p>
            <a:pPr algn="l"/>
            <a:r>
              <a:rPr sz="1200" b="0" i="0">
                <a:solidFill>
                  <a:srgbClr val="E8D08A"/>
                </a:solidFill>
                <a:latin typeface="Consolas"/>
              </a:rPr>
              <a:t>Cite at corrective: ____________</a:t>
            </a:r>
          </a:p>
        </p:txBody>
      </p:sp>
      <p:sp>
        <p:nvSpPr>
          <p:cNvPr id="12" name="Rectangle 11"/>
          <p:cNvSpPr/>
          <p:nvPr/>
        </p:nvSpPr>
        <p:spPr>
          <a:xfrm>
            <a:off x="6446520" y="4114800"/>
            <a:ext cx="5303520" cy="2240280"/>
          </a:xfrm>
          <a:prstGeom prst="rect">
            <a:avLst/>
          </a:prstGeom>
          <a:solidFill>
            <a:srgbClr val="243460"/>
          </a:solidFill>
          <a:ln w="9525">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4206240"/>
            <a:ext cx="5029200" cy="365760"/>
          </a:xfrm>
          <a:prstGeom prst="rect">
            <a:avLst/>
          </a:prstGeom>
          <a:noFill/>
        </p:spPr>
        <p:txBody>
          <a:bodyPr wrap="square" lIns="45720" rIns="45720" tIns="18288" bIns="18288" anchor="t">
            <a:spAutoFit/>
          </a:bodyPr>
          <a:lstStyle/>
          <a:p>
            <a:pPr algn="l"/>
            <a:r>
              <a:rPr sz="1300" b="1" i="0">
                <a:solidFill>
                  <a:srgbClr val="C8A84B"/>
                </a:solidFill>
                <a:latin typeface="Calibri"/>
              </a:rPr>
              <a:t>PART B — 1972 counter @ 37":</a:t>
            </a:r>
          </a:p>
        </p:txBody>
      </p:sp>
      <p:sp>
        <p:nvSpPr>
          <p:cNvPr id="14" name="TextBox 13"/>
          <p:cNvSpPr txBox="1"/>
          <p:nvPr/>
        </p:nvSpPr>
        <p:spPr>
          <a:xfrm>
            <a:off x="6629400" y="4572000"/>
            <a:ext cx="5029200" cy="1691640"/>
          </a:xfrm>
          <a:prstGeom prst="rect">
            <a:avLst/>
          </a:prstGeom>
          <a:noFill/>
        </p:spPr>
        <p:txBody>
          <a:bodyPr wrap="square" lIns="45720" rIns="45720" tIns="18288" bIns="18288" anchor="t">
            <a:spAutoFit/>
          </a:bodyPr>
          <a:lstStyle/>
          <a:p>
            <a:pPr algn="l"/>
            <a:r>
              <a:rPr sz="1200" b="0" i="0">
                <a:solidFill>
                  <a:srgbClr val="E8D08A"/>
                </a:solidFill>
                <a:latin typeface="Consolas"/>
              </a:rPr>
              <a:t>Standard at violation: ____________</a:t>
            </a:r>
          </a:p>
          <a:p>
            <a:pPr algn="l"/>
            <a:r>
              <a:rPr sz="1200" b="0" i="0">
                <a:solidFill>
                  <a:srgbClr val="E8D08A"/>
                </a:solidFill>
                <a:latin typeface="Consolas"/>
              </a:rPr>
              <a:t/>
            </a:r>
          </a:p>
          <a:p>
            <a:pPr algn="l"/>
            <a:r>
              <a:rPr sz="1200" b="0" i="0">
                <a:solidFill>
                  <a:srgbClr val="E8D08A"/>
                </a:solidFill>
                <a:latin typeface="Consolas"/>
              </a:rPr>
              <a:t>Cite at violation: ____________</a:t>
            </a:r>
          </a:p>
          <a:p>
            <a:pPr algn="l"/>
            <a:r>
              <a:rPr sz="1200" b="0" i="0">
                <a:solidFill>
                  <a:srgbClr val="E8D08A"/>
                </a:solidFill>
                <a:latin typeface="Consolas"/>
              </a:rPr>
              <a:t/>
            </a:r>
          </a:p>
          <a:p>
            <a:pPr algn="l"/>
            <a:r>
              <a:rPr sz="1200" b="0" i="0">
                <a:solidFill>
                  <a:srgbClr val="E8D08A"/>
                </a:solidFill>
                <a:latin typeface="Consolas"/>
              </a:rPr>
              <a:t>Cite at corrective: ____________</a:t>
            </a:r>
          </a:p>
        </p:txBody>
      </p:sp>
      <p:sp>
        <p:nvSpPr>
          <p:cNvPr id="15" name="TextBox 14"/>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6" name="TextBox 15"/>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54 / 63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55 · WRITING FINDINGS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Anatomy of an Accessibility Violation entry</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A defensible violation entry has four parts. Every one must be present.</a:t>
            </a:r>
          </a:p>
        </p:txBody>
      </p:sp>
      <p:sp>
        <p:nvSpPr>
          <p:cNvPr id="10" name="Rectangle 9"/>
          <p:cNvSpPr/>
          <p:nvPr/>
        </p:nvSpPr>
        <p:spPr>
          <a:xfrm>
            <a:off x="502920" y="1874519"/>
            <a:ext cx="11247120" cy="14630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874519"/>
            <a:ext cx="164592" cy="14630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011680"/>
            <a:ext cx="10972800" cy="365760"/>
          </a:xfrm>
          <a:prstGeom prst="rect">
            <a:avLst/>
          </a:prstGeom>
          <a:noFill/>
        </p:spPr>
        <p:txBody>
          <a:bodyPr wrap="square" lIns="45720" rIns="45720" tIns="18288" bIns="18288" anchor="t">
            <a:spAutoFit/>
          </a:bodyPr>
          <a:lstStyle/>
          <a:p>
            <a:pPr algn="l"/>
            <a:r>
              <a:rPr sz="1100" b="1" i="0">
                <a:solidFill>
                  <a:srgbClr val="1A2744"/>
                </a:solidFill>
                <a:latin typeface="Consolas"/>
              </a:rPr>
              <a:t>EXAMPLE — fully-formed violation entry:</a:t>
            </a:r>
          </a:p>
        </p:txBody>
      </p:sp>
      <p:sp>
        <p:nvSpPr>
          <p:cNvPr id="13" name="TextBox 12"/>
          <p:cNvSpPr txBox="1"/>
          <p:nvPr/>
        </p:nvSpPr>
        <p:spPr>
          <a:xfrm>
            <a:off x="777240" y="2377440"/>
            <a:ext cx="10698480" cy="914400"/>
          </a:xfrm>
          <a:prstGeom prst="rect">
            <a:avLst/>
          </a:prstGeom>
          <a:noFill/>
        </p:spPr>
        <p:txBody>
          <a:bodyPr wrap="square" lIns="45720" rIns="45720" tIns="18288" bIns="18288" anchor="t">
            <a:spAutoFit/>
          </a:bodyPr>
          <a:lstStyle/>
          <a:p>
            <a:pPr algn="l"/>
            <a:r>
              <a:rPr sz="1300" b="0" i="1">
                <a:solidFill>
                  <a:srgbClr val="1A1A1A"/>
                </a:solidFill>
                <a:latin typeface="Calibri"/>
              </a:rPr>
              <a:t>Van-accessible parking aisle adjacent to space #1 measured at 84 inches wide. The aisle does not meet the 96-inch minimum width specified in 2010 ADA Standards § 502.3.3 for van-accessible aisles. Cite: 2010 ADA 502.3.3.</a:t>
            </a:r>
          </a:p>
        </p:txBody>
      </p:sp>
      <p:sp>
        <p:nvSpPr>
          <p:cNvPr id="14" name="Rectangle 13"/>
          <p:cNvSpPr/>
          <p:nvPr/>
        </p:nvSpPr>
        <p:spPr>
          <a:xfrm>
            <a:off x="502920" y="3520440"/>
            <a:ext cx="914400" cy="5943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520440"/>
            <a:ext cx="914400" cy="594360"/>
          </a:xfrm>
          <a:prstGeom prst="rect">
            <a:avLst/>
          </a:prstGeom>
          <a:noFill/>
        </p:spPr>
        <p:txBody>
          <a:bodyPr wrap="square" lIns="45720" rIns="45720" tIns="18288" bIns="18288" anchor="ctr">
            <a:spAutoFit/>
          </a:bodyPr>
          <a:lstStyle/>
          <a:p>
            <a:pPr algn="ctr"/>
            <a:r>
              <a:rPr sz="1100" b="1" i="0">
                <a:solidFill>
                  <a:srgbClr val="C8A84B"/>
                </a:solidFill>
                <a:latin typeface="Consolas"/>
              </a:rPr>
              <a:t>WHAT</a:t>
            </a:r>
          </a:p>
        </p:txBody>
      </p:sp>
      <p:sp>
        <p:nvSpPr>
          <p:cNvPr id="16" name="Rectangle 15"/>
          <p:cNvSpPr/>
          <p:nvPr/>
        </p:nvSpPr>
        <p:spPr>
          <a:xfrm>
            <a:off x="1463040" y="3520440"/>
            <a:ext cx="10332720" cy="5943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45920" y="3566160"/>
            <a:ext cx="10058400" cy="274320"/>
          </a:xfrm>
          <a:prstGeom prst="rect">
            <a:avLst/>
          </a:prstGeom>
          <a:noFill/>
        </p:spPr>
        <p:txBody>
          <a:bodyPr wrap="square" lIns="45720" rIns="45720" tIns="18288" bIns="18288" anchor="t">
            <a:spAutoFit/>
          </a:bodyPr>
          <a:lstStyle/>
          <a:p>
            <a:pPr algn="l"/>
            <a:r>
              <a:rPr sz="1100" b="1" i="0">
                <a:solidFill>
                  <a:srgbClr val="1A2744"/>
                </a:solidFill>
                <a:latin typeface="Calibri"/>
              </a:rPr>
              <a:t>The element and its measured condition.</a:t>
            </a:r>
          </a:p>
        </p:txBody>
      </p:sp>
      <p:sp>
        <p:nvSpPr>
          <p:cNvPr id="18" name="TextBox 17"/>
          <p:cNvSpPr txBox="1"/>
          <p:nvPr/>
        </p:nvSpPr>
        <p:spPr>
          <a:xfrm>
            <a:off x="1645920" y="3840480"/>
            <a:ext cx="10058400" cy="274320"/>
          </a:xfrm>
          <a:prstGeom prst="rect">
            <a:avLst/>
          </a:prstGeom>
          <a:noFill/>
        </p:spPr>
        <p:txBody>
          <a:bodyPr wrap="square" lIns="45720" rIns="45720" tIns="18288" bIns="18288" anchor="t">
            <a:spAutoFit/>
          </a:bodyPr>
          <a:lstStyle/>
          <a:p>
            <a:pPr algn="l"/>
            <a:r>
              <a:rPr sz="1000" b="0" i="1">
                <a:solidFill>
                  <a:srgbClr val="6B6659"/>
                </a:solidFill>
                <a:latin typeface="Calibri"/>
              </a:rPr>
              <a:t>"Van-accessible parking aisle adjacent to space #1 measured at 84 inches wide."</a:t>
            </a:r>
          </a:p>
        </p:txBody>
      </p:sp>
      <p:sp>
        <p:nvSpPr>
          <p:cNvPr id="19" name="Rectangle 18"/>
          <p:cNvSpPr/>
          <p:nvPr/>
        </p:nvSpPr>
        <p:spPr>
          <a:xfrm>
            <a:off x="502920" y="4206240"/>
            <a:ext cx="914400" cy="5943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206240"/>
            <a:ext cx="914400" cy="594360"/>
          </a:xfrm>
          <a:prstGeom prst="rect">
            <a:avLst/>
          </a:prstGeom>
          <a:noFill/>
        </p:spPr>
        <p:txBody>
          <a:bodyPr wrap="square" lIns="45720" rIns="45720" tIns="18288" bIns="18288" anchor="ctr">
            <a:spAutoFit/>
          </a:bodyPr>
          <a:lstStyle/>
          <a:p>
            <a:pPr algn="ctr"/>
            <a:r>
              <a:rPr sz="1100" b="1" i="0">
                <a:solidFill>
                  <a:srgbClr val="C8A84B"/>
                </a:solidFill>
                <a:latin typeface="Consolas"/>
              </a:rPr>
              <a:t>WHY</a:t>
            </a:r>
          </a:p>
        </p:txBody>
      </p:sp>
      <p:sp>
        <p:nvSpPr>
          <p:cNvPr id="21" name="Rectangle 20"/>
          <p:cNvSpPr/>
          <p:nvPr/>
        </p:nvSpPr>
        <p:spPr>
          <a:xfrm>
            <a:off x="1463040" y="4206240"/>
            <a:ext cx="10332720" cy="5943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45920" y="4251960"/>
            <a:ext cx="10058400" cy="274320"/>
          </a:xfrm>
          <a:prstGeom prst="rect">
            <a:avLst/>
          </a:prstGeom>
          <a:noFill/>
        </p:spPr>
        <p:txBody>
          <a:bodyPr wrap="square" lIns="45720" rIns="45720" tIns="18288" bIns="18288" anchor="t">
            <a:spAutoFit/>
          </a:bodyPr>
          <a:lstStyle/>
          <a:p>
            <a:pPr algn="l"/>
            <a:r>
              <a:rPr sz="1100" b="1" i="0">
                <a:solidFill>
                  <a:srgbClr val="1A2744"/>
                </a:solidFill>
                <a:latin typeface="Calibri"/>
              </a:rPr>
              <a:t>The standard's requirement — quoted or paraphrased.</a:t>
            </a:r>
          </a:p>
        </p:txBody>
      </p:sp>
      <p:sp>
        <p:nvSpPr>
          <p:cNvPr id="23" name="TextBox 22"/>
          <p:cNvSpPr txBox="1"/>
          <p:nvPr/>
        </p:nvSpPr>
        <p:spPr>
          <a:xfrm>
            <a:off x="1645920" y="4526280"/>
            <a:ext cx="10058400" cy="274320"/>
          </a:xfrm>
          <a:prstGeom prst="rect">
            <a:avLst/>
          </a:prstGeom>
          <a:noFill/>
        </p:spPr>
        <p:txBody>
          <a:bodyPr wrap="square" lIns="45720" rIns="45720" tIns="18288" bIns="18288" anchor="t">
            <a:spAutoFit/>
          </a:bodyPr>
          <a:lstStyle/>
          <a:p>
            <a:pPr algn="l"/>
            <a:r>
              <a:rPr sz="1000" b="0" i="1">
                <a:solidFill>
                  <a:srgbClr val="6B6659"/>
                </a:solidFill>
                <a:latin typeface="Calibri"/>
              </a:rPr>
              <a:t>"The aisle does not meet the 96-inch minimum width specified in 2010 ADA § 502.3.3."</a:t>
            </a:r>
          </a:p>
        </p:txBody>
      </p:sp>
      <p:sp>
        <p:nvSpPr>
          <p:cNvPr id="24" name="Rectangle 23"/>
          <p:cNvSpPr/>
          <p:nvPr/>
        </p:nvSpPr>
        <p:spPr>
          <a:xfrm>
            <a:off x="502920" y="4892040"/>
            <a:ext cx="914400" cy="5943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892040"/>
            <a:ext cx="914400" cy="594360"/>
          </a:xfrm>
          <a:prstGeom prst="rect">
            <a:avLst/>
          </a:prstGeom>
          <a:noFill/>
        </p:spPr>
        <p:txBody>
          <a:bodyPr wrap="square" lIns="45720" rIns="45720" tIns="18288" bIns="18288" anchor="ctr">
            <a:spAutoFit/>
          </a:bodyPr>
          <a:lstStyle/>
          <a:p>
            <a:pPr algn="ctr"/>
            <a:r>
              <a:rPr sz="1100" b="1" i="0">
                <a:solidFill>
                  <a:srgbClr val="C8A84B"/>
                </a:solidFill>
                <a:latin typeface="Consolas"/>
              </a:rPr>
              <a:t>WHERE</a:t>
            </a:r>
          </a:p>
        </p:txBody>
      </p:sp>
      <p:sp>
        <p:nvSpPr>
          <p:cNvPr id="26" name="Rectangle 25"/>
          <p:cNvSpPr/>
          <p:nvPr/>
        </p:nvSpPr>
        <p:spPr>
          <a:xfrm>
            <a:off x="1463040" y="4892040"/>
            <a:ext cx="10332720" cy="5943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45920" y="4937760"/>
            <a:ext cx="10058400" cy="274320"/>
          </a:xfrm>
          <a:prstGeom prst="rect">
            <a:avLst/>
          </a:prstGeom>
          <a:noFill/>
        </p:spPr>
        <p:txBody>
          <a:bodyPr wrap="square" lIns="45720" rIns="45720" tIns="18288" bIns="18288" anchor="t">
            <a:spAutoFit/>
          </a:bodyPr>
          <a:lstStyle/>
          <a:p>
            <a:pPr algn="l"/>
            <a:r>
              <a:rPr sz="1100" b="1" i="0">
                <a:solidFill>
                  <a:srgbClr val="1A2744"/>
                </a:solidFill>
                <a:latin typeface="Calibri"/>
              </a:rPr>
              <a:t>Specific location identifier.</a:t>
            </a:r>
          </a:p>
        </p:txBody>
      </p:sp>
      <p:sp>
        <p:nvSpPr>
          <p:cNvPr id="28" name="TextBox 27"/>
          <p:cNvSpPr txBox="1"/>
          <p:nvPr/>
        </p:nvSpPr>
        <p:spPr>
          <a:xfrm>
            <a:off x="1645920" y="5212080"/>
            <a:ext cx="10058400" cy="274320"/>
          </a:xfrm>
          <a:prstGeom prst="rect">
            <a:avLst/>
          </a:prstGeom>
          <a:noFill/>
        </p:spPr>
        <p:txBody>
          <a:bodyPr wrap="square" lIns="45720" rIns="45720" tIns="18288" bIns="18288" anchor="t">
            <a:spAutoFit/>
          </a:bodyPr>
          <a:lstStyle/>
          <a:p>
            <a:pPr algn="l"/>
            <a:r>
              <a:rPr sz="1000" b="0" i="1">
                <a:solidFill>
                  <a:srgbClr val="6B6659"/>
                </a:solidFill>
                <a:latin typeface="Calibri"/>
              </a:rPr>
              <a:t>"adjacent to space #1"</a:t>
            </a:r>
          </a:p>
        </p:txBody>
      </p:sp>
      <p:sp>
        <p:nvSpPr>
          <p:cNvPr id="29" name="Rectangle 28"/>
          <p:cNvSpPr/>
          <p:nvPr/>
        </p:nvSpPr>
        <p:spPr>
          <a:xfrm>
            <a:off x="502920" y="5577840"/>
            <a:ext cx="914400" cy="59436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577840"/>
            <a:ext cx="914400" cy="594360"/>
          </a:xfrm>
          <a:prstGeom prst="rect">
            <a:avLst/>
          </a:prstGeom>
          <a:noFill/>
        </p:spPr>
        <p:txBody>
          <a:bodyPr wrap="square" lIns="45720" rIns="45720" tIns="18288" bIns="18288" anchor="ctr">
            <a:spAutoFit/>
          </a:bodyPr>
          <a:lstStyle/>
          <a:p>
            <a:pPr algn="ctr"/>
            <a:r>
              <a:rPr sz="1100" b="1" i="0">
                <a:solidFill>
                  <a:srgbClr val="C8A84B"/>
                </a:solidFill>
                <a:latin typeface="Consolas"/>
              </a:rPr>
              <a:t>CITE</a:t>
            </a:r>
          </a:p>
        </p:txBody>
      </p:sp>
      <p:sp>
        <p:nvSpPr>
          <p:cNvPr id="31" name="Rectangle 30"/>
          <p:cNvSpPr/>
          <p:nvPr/>
        </p:nvSpPr>
        <p:spPr>
          <a:xfrm>
            <a:off x="1463040" y="5577840"/>
            <a:ext cx="10332720" cy="5943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45920" y="5623560"/>
            <a:ext cx="10058400" cy="274320"/>
          </a:xfrm>
          <a:prstGeom prst="rect">
            <a:avLst/>
          </a:prstGeom>
          <a:noFill/>
        </p:spPr>
        <p:txBody>
          <a:bodyPr wrap="square" lIns="45720" rIns="45720" tIns="18288" bIns="18288" anchor="t">
            <a:spAutoFit/>
          </a:bodyPr>
          <a:lstStyle/>
          <a:p>
            <a:pPr algn="l"/>
            <a:r>
              <a:rPr sz="1100" b="1" i="0">
                <a:solidFill>
                  <a:srgbClr val="1A2744"/>
                </a:solidFill>
                <a:latin typeface="Calibri"/>
              </a:rPr>
              <a:t>The controlling section, with standard year.</a:t>
            </a:r>
          </a:p>
        </p:txBody>
      </p:sp>
      <p:sp>
        <p:nvSpPr>
          <p:cNvPr id="33" name="TextBox 32"/>
          <p:cNvSpPr txBox="1"/>
          <p:nvPr/>
        </p:nvSpPr>
        <p:spPr>
          <a:xfrm>
            <a:off x="1645920" y="5897880"/>
            <a:ext cx="10058400" cy="274320"/>
          </a:xfrm>
          <a:prstGeom prst="rect">
            <a:avLst/>
          </a:prstGeom>
          <a:noFill/>
        </p:spPr>
        <p:txBody>
          <a:bodyPr wrap="square" lIns="45720" rIns="45720" tIns="18288" bIns="18288" anchor="t">
            <a:spAutoFit/>
          </a:bodyPr>
          <a:lstStyle/>
          <a:p>
            <a:pPr algn="l"/>
            <a:r>
              <a:rPr sz="1000" b="0" i="1">
                <a:solidFill>
                  <a:srgbClr val="6B6659"/>
                </a:solidFill>
                <a:latin typeface="Calibri"/>
              </a:rPr>
              <a:t>"Cite: 2010 ADA 502.3.3."</a:t>
            </a:r>
          </a:p>
        </p:txBody>
      </p:sp>
      <p:sp>
        <p:nvSpPr>
          <p:cNvPr id="34" name="TextBox 33"/>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35" name="TextBox 34"/>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55 / 63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56 · WRITING FINDINGS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Anatomy of a Corrective Action entry</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A defensible corrective action tells the LEA exactly what to do, by when, against what standard.</a:t>
            </a:r>
          </a:p>
        </p:txBody>
      </p:sp>
      <p:sp>
        <p:nvSpPr>
          <p:cNvPr id="10" name="Rectangle 9"/>
          <p:cNvSpPr/>
          <p:nvPr/>
        </p:nvSpPr>
        <p:spPr>
          <a:xfrm>
            <a:off x="502920" y="1874519"/>
            <a:ext cx="11247120" cy="146304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874519"/>
            <a:ext cx="164592" cy="146304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011680"/>
            <a:ext cx="10972800" cy="365760"/>
          </a:xfrm>
          <a:prstGeom prst="rect">
            <a:avLst/>
          </a:prstGeom>
          <a:noFill/>
        </p:spPr>
        <p:txBody>
          <a:bodyPr wrap="square" lIns="45720" rIns="45720" tIns="18288" bIns="18288" anchor="t">
            <a:spAutoFit/>
          </a:bodyPr>
          <a:lstStyle/>
          <a:p>
            <a:pPr algn="l"/>
            <a:r>
              <a:rPr sz="1100" b="1" i="0">
                <a:solidFill>
                  <a:srgbClr val="1A2744"/>
                </a:solidFill>
                <a:latin typeface="Consolas"/>
              </a:rPr>
              <a:t>EXAMPLE — fully-formed corrective action:</a:t>
            </a:r>
          </a:p>
        </p:txBody>
      </p:sp>
      <p:sp>
        <p:nvSpPr>
          <p:cNvPr id="13" name="TextBox 12"/>
          <p:cNvSpPr txBox="1"/>
          <p:nvPr/>
        </p:nvSpPr>
        <p:spPr>
          <a:xfrm>
            <a:off x="777240" y="2377440"/>
            <a:ext cx="10698480" cy="914400"/>
          </a:xfrm>
          <a:prstGeom prst="rect">
            <a:avLst/>
          </a:prstGeom>
          <a:noFill/>
        </p:spPr>
        <p:txBody>
          <a:bodyPr wrap="square" lIns="45720" rIns="45720" tIns="18288" bIns="18288" anchor="t">
            <a:spAutoFit/>
          </a:bodyPr>
          <a:lstStyle/>
          <a:p>
            <a:pPr algn="l"/>
            <a:r>
              <a:rPr sz="1200" b="0" i="1">
                <a:solidFill>
                  <a:srgbClr val="1A1A1A"/>
                </a:solidFill>
                <a:latin typeface="Calibri"/>
              </a:rPr>
              <a:t>Restripe the front parking lot to provide a van-accessible parking space with an access aisle of not less than 96 inches in width, in conformance with 2010 ADA Standards § 502.3.3. Provide photographic documentation of completed restriping. Complete within 45 days of receipt of this Letter of Findings. Cite: 2010 ADA 502.3.3.</a:t>
            </a:r>
          </a:p>
        </p:txBody>
      </p:sp>
      <p:sp>
        <p:nvSpPr>
          <p:cNvPr id="14" name="Rectangle 13"/>
          <p:cNvSpPr/>
          <p:nvPr/>
        </p:nvSpPr>
        <p:spPr>
          <a:xfrm>
            <a:off x="502920" y="3520440"/>
            <a:ext cx="914400" cy="5029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520440"/>
            <a:ext cx="914400" cy="502920"/>
          </a:xfrm>
          <a:prstGeom prst="rect">
            <a:avLst/>
          </a:prstGeom>
          <a:noFill/>
        </p:spPr>
        <p:txBody>
          <a:bodyPr wrap="square" lIns="45720" rIns="45720" tIns="18288" bIns="18288" anchor="ctr">
            <a:spAutoFit/>
          </a:bodyPr>
          <a:lstStyle/>
          <a:p>
            <a:pPr algn="ctr"/>
            <a:r>
              <a:rPr sz="1000" b="1" i="0">
                <a:solidFill>
                  <a:srgbClr val="C8A84B"/>
                </a:solidFill>
                <a:latin typeface="Consolas"/>
              </a:rPr>
              <a:t>ACTION</a:t>
            </a:r>
          </a:p>
        </p:txBody>
      </p:sp>
      <p:sp>
        <p:nvSpPr>
          <p:cNvPr id="16" name="Rectangle 15"/>
          <p:cNvSpPr/>
          <p:nvPr/>
        </p:nvSpPr>
        <p:spPr>
          <a:xfrm>
            <a:off x="1463040" y="3520440"/>
            <a:ext cx="10332720" cy="5029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45920" y="3547872"/>
            <a:ext cx="10058400" cy="237744"/>
          </a:xfrm>
          <a:prstGeom prst="rect">
            <a:avLst/>
          </a:prstGeom>
          <a:noFill/>
        </p:spPr>
        <p:txBody>
          <a:bodyPr wrap="square" lIns="45720" rIns="45720" tIns="18288" bIns="18288" anchor="t">
            <a:spAutoFit/>
          </a:bodyPr>
          <a:lstStyle/>
          <a:p>
            <a:pPr algn="l"/>
            <a:r>
              <a:rPr sz="1000" b="1" i="0">
                <a:solidFill>
                  <a:srgbClr val="1A2744"/>
                </a:solidFill>
                <a:latin typeface="Calibri"/>
              </a:rPr>
              <a:t>What the LEA must do — concrete and verifiable.</a:t>
            </a:r>
          </a:p>
        </p:txBody>
      </p:sp>
      <p:sp>
        <p:nvSpPr>
          <p:cNvPr id="18" name="TextBox 17"/>
          <p:cNvSpPr txBox="1"/>
          <p:nvPr/>
        </p:nvSpPr>
        <p:spPr>
          <a:xfrm>
            <a:off x="1645920" y="3776472"/>
            <a:ext cx="10058400" cy="237744"/>
          </a:xfrm>
          <a:prstGeom prst="rect">
            <a:avLst/>
          </a:prstGeom>
          <a:noFill/>
        </p:spPr>
        <p:txBody>
          <a:bodyPr wrap="square" lIns="45720" rIns="45720" tIns="18288" bIns="18288" anchor="t">
            <a:spAutoFit/>
          </a:bodyPr>
          <a:lstStyle/>
          <a:p>
            <a:pPr algn="l"/>
            <a:r>
              <a:rPr sz="1000" b="0" i="1">
                <a:solidFill>
                  <a:srgbClr val="6B6659"/>
                </a:solidFill>
                <a:latin typeface="Calibri"/>
              </a:rPr>
              <a:t>"Restripe the front parking lot to provide a van-accessible parking space..."</a:t>
            </a:r>
          </a:p>
        </p:txBody>
      </p:sp>
      <p:sp>
        <p:nvSpPr>
          <p:cNvPr id="19" name="Rectangle 18"/>
          <p:cNvSpPr/>
          <p:nvPr/>
        </p:nvSpPr>
        <p:spPr>
          <a:xfrm>
            <a:off x="502920" y="4087368"/>
            <a:ext cx="914400" cy="5029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087368"/>
            <a:ext cx="914400" cy="502920"/>
          </a:xfrm>
          <a:prstGeom prst="rect">
            <a:avLst/>
          </a:prstGeom>
          <a:noFill/>
        </p:spPr>
        <p:txBody>
          <a:bodyPr wrap="square" lIns="45720" rIns="45720" tIns="18288" bIns="18288" anchor="ctr">
            <a:spAutoFit/>
          </a:bodyPr>
          <a:lstStyle/>
          <a:p>
            <a:pPr algn="ctr"/>
            <a:r>
              <a:rPr sz="1000" b="1" i="0">
                <a:solidFill>
                  <a:srgbClr val="C8A84B"/>
                </a:solidFill>
                <a:latin typeface="Consolas"/>
              </a:rPr>
              <a:t>STANDARD</a:t>
            </a:r>
          </a:p>
        </p:txBody>
      </p:sp>
      <p:sp>
        <p:nvSpPr>
          <p:cNvPr id="21" name="Rectangle 20"/>
          <p:cNvSpPr/>
          <p:nvPr/>
        </p:nvSpPr>
        <p:spPr>
          <a:xfrm>
            <a:off x="1463040" y="4087368"/>
            <a:ext cx="10332720" cy="5029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45920" y="4114800"/>
            <a:ext cx="10058400" cy="237744"/>
          </a:xfrm>
          <a:prstGeom prst="rect">
            <a:avLst/>
          </a:prstGeom>
          <a:noFill/>
        </p:spPr>
        <p:txBody>
          <a:bodyPr wrap="square" lIns="45720" rIns="45720" tIns="18288" bIns="18288" anchor="t">
            <a:spAutoFit/>
          </a:bodyPr>
          <a:lstStyle/>
          <a:p>
            <a:pPr algn="l"/>
            <a:r>
              <a:rPr sz="1000" b="1" i="0">
                <a:solidFill>
                  <a:srgbClr val="1A2744"/>
                </a:solidFill>
                <a:latin typeface="Calibri"/>
              </a:rPr>
              <a:t>The 2010 ADA dimensional target — ALWAYS.</a:t>
            </a:r>
          </a:p>
        </p:txBody>
      </p:sp>
      <p:sp>
        <p:nvSpPr>
          <p:cNvPr id="23" name="TextBox 22"/>
          <p:cNvSpPr txBox="1"/>
          <p:nvPr/>
        </p:nvSpPr>
        <p:spPr>
          <a:xfrm>
            <a:off x="1645920" y="4343400"/>
            <a:ext cx="10058400" cy="237744"/>
          </a:xfrm>
          <a:prstGeom prst="rect">
            <a:avLst/>
          </a:prstGeom>
          <a:noFill/>
        </p:spPr>
        <p:txBody>
          <a:bodyPr wrap="square" lIns="45720" rIns="45720" tIns="18288" bIns="18288" anchor="t">
            <a:spAutoFit/>
          </a:bodyPr>
          <a:lstStyle/>
          <a:p>
            <a:pPr algn="l"/>
            <a:r>
              <a:rPr sz="1000" b="0" i="1">
                <a:solidFill>
                  <a:srgbClr val="6B6659"/>
                </a:solidFill>
                <a:latin typeface="Calibri"/>
              </a:rPr>
              <a:t>"...with an access aisle of not less than 96 inches in width per 2010 ADA § 502.3.3."</a:t>
            </a:r>
          </a:p>
        </p:txBody>
      </p:sp>
      <p:sp>
        <p:nvSpPr>
          <p:cNvPr id="24" name="Rectangle 23"/>
          <p:cNvSpPr/>
          <p:nvPr/>
        </p:nvSpPr>
        <p:spPr>
          <a:xfrm>
            <a:off x="502920" y="4654296"/>
            <a:ext cx="914400" cy="5029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654296"/>
            <a:ext cx="914400" cy="502920"/>
          </a:xfrm>
          <a:prstGeom prst="rect">
            <a:avLst/>
          </a:prstGeom>
          <a:noFill/>
        </p:spPr>
        <p:txBody>
          <a:bodyPr wrap="square" lIns="45720" rIns="45720" tIns="18288" bIns="18288" anchor="ctr">
            <a:spAutoFit/>
          </a:bodyPr>
          <a:lstStyle/>
          <a:p>
            <a:pPr algn="ctr"/>
            <a:r>
              <a:rPr sz="1000" b="1" i="0">
                <a:solidFill>
                  <a:srgbClr val="C8A84B"/>
                </a:solidFill>
                <a:latin typeface="Consolas"/>
              </a:rPr>
              <a:t>EVIDENCE</a:t>
            </a:r>
          </a:p>
        </p:txBody>
      </p:sp>
      <p:sp>
        <p:nvSpPr>
          <p:cNvPr id="26" name="Rectangle 25"/>
          <p:cNvSpPr/>
          <p:nvPr/>
        </p:nvSpPr>
        <p:spPr>
          <a:xfrm>
            <a:off x="1463040" y="4654296"/>
            <a:ext cx="10332720" cy="5029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45920" y="4681728"/>
            <a:ext cx="10058400" cy="237744"/>
          </a:xfrm>
          <a:prstGeom prst="rect">
            <a:avLst/>
          </a:prstGeom>
          <a:noFill/>
        </p:spPr>
        <p:txBody>
          <a:bodyPr wrap="square" lIns="45720" rIns="45720" tIns="18288" bIns="18288" anchor="t">
            <a:spAutoFit/>
          </a:bodyPr>
          <a:lstStyle/>
          <a:p>
            <a:pPr algn="l"/>
            <a:r>
              <a:rPr sz="1000" b="1" i="0">
                <a:solidFill>
                  <a:srgbClr val="1A2744"/>
                </a:solidFill>
                <a:latin typeface="Calibri"/>
              </a:rPr>
              <a:t>How the LEA demonstrates completion.</a:t>
            </a:r>
          </a:p>
        </p:txBody>
      </p:sp>
      <p:sp>
        <p:nvSpPr>
          <p:cNvPr id="28" name="TextBox 27"/>
          <p:cNvSpPr txBox="1"/>
          <p:nvPr/>
        </p:nvSpPr>
        <p:spPr>
          <a:xfrm>
            <a:off x="1645920" y="4910328"/>
            <a:ext cx="10058400" cy="237744"/>
          </a:xfrm>
          <a:prstGeom prst="rect">
            <a:avLst/>
          </a:prstGeom>
          <a:noFill/>
        </p:spPr>
        <p:txBody>
          <a:bodyPr wrap="square" lIns="45720" rIns="45720" tIns="18288" bIns="18288" anchor="t">
            <a:spAutoFit/>
          </a:bodyPr>
          <a:lstStyle/>
          <a:p>
            <a:pPr algn="l"/>
            <a:r>
              <a:rPr sz="1000" b="0" i="1">
                <a:solidFill>
                  <a:srgbClr val="6B6659"/>
                </a:solidFill>
                <a:latin typeface="Calibri"/>
              </a:rPr>
              <a:t>"Provide photographic documentation of completed restriping."</a:t>
            </a:r>
          </a:p>
        </p:txBody>
      </p:sp>
      <p:sp>
        <p:nvSpPr>
          <p:cNvPr id="29" name="Rectangle 28"/>
          <p:cNvSpPr/>
          <p:nvPr/>
        </p:nvSpPr>
        <p:spPr>
          <a:xfrm>
            <a:off x="502920" y="5221224"/>
            <a:ext cx="914400" cy="5029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221224"/>
            <a:ext cx="914400" cy="502920"/>
          </a:xfrm>
          <a:prstGeom prst="rect">
            <a:avLst/>
          </a:prstGeom>
          <a:noFill/>
        </p:spPr>
        <p:txBody>
          <a:bodyPr wrap="square" lIns="45720" rIns="45720" tIns="18288" bIns="18288" anchor="ctr">
            <a:spAutoFit/>
          </a:bodyPr>
          <a:lstStyle/>
          <a:p>
            <a:pPr algn="ctr"/>
            <a:r>
              <a:rPr sz="1000" b="1" i="0">
                <a:solidFill>
                  <a:srgbClr val="C8A84B"/>
                </a:solidFill>
                <a:latin typeface="Consolas"/>
              </a:rPr>
              <a:t>DEADLINE</a:t>
            </a:r>
          </a:p>
        </p:txBody>
      </p:sp>
      <p:sp>
        <p:nvSpPr>
          <p:cNvPr id="31" name="Rectangle 30"/>
          <p:cNvSpPr/>
          <p:nvPr/>
        </p:nvSpPr>
        <p:spPr>
          <a:xfrm>
            <a:off x="1463040" y="5221224"/>
            <a:ext cx="10332720" cy="5029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45920" y="5248656"/>
            <a:ext cx="10058400" cy="237744"/>
          </a:xfrm>
          <a:prstGeom prst="rect">
            <a:avLst/>
          </a:prstGeom>
          <a:noFill/>
        </p:spPr>
        <p:txBody>
          <a:bodyPr wrap="square" lIns="45720" rIns="45720" tIns="18288" bIns="18288" anchor="t">
            <a:spAutoFit/>
          </a:bodyPr>
          <a:lstStyle/>
          <a:p>
            <a:pPr algn="l"/>
            <a:r>
              <a:rPr sz="1000" b="1" i="0">
                <a:solidFill>
                  <a:srgbClr val="1A2744"/>
                </a:solidFill>
                <a:latin typeface="Calibri"/>
              </a:rPr>
              <a:t>Always 45 days from LOF receipt.</a:t>
            </a:r>
          </a:p>
        </p:txBody>
      </p:sp>
      <p:sp>
        <p:nvSpPr>
          <p:cNvPr id="33" name="TextBox 32"/>
          <p:cNvSpPr txBox="1"/>
          <p:nvPr/>
        </p:nvSpPr>
        <p:spPr>
          <a:xfrm>
            <a:off x="1645920" y="5477256"/>
            <a:ext cx="10058400" cy="237744"/>
          </a:xfrm>
          <a:prstGeom prst="rect">
            <a:avLst/>
          </a:prstGeom>
          <a:noFill/>
        </p:spPr>
        <p:txBody>
          <a:bodyPr wrap="square" lIns="45720" rIns="45720" tIns="18288" bIns="18288" anchor="t">
            <a:spAutoFit/>
          </a:bodyPr>
          <a:lstStyle/>
          <a:p>
            <a:pPr algn="l"/>
            <a:r>
              <a:rPr sz="1000" b="0" i="1">
                <a:solidFill>
                  <a:srgbClr val="6B6659"/>
                </a:solidFill>
                <a:latin typeface="Calibri"/>
              </a:rPr>
              <a:t>"Complete within 45 days of receipt of this Letter of Findings."</a:t>
            </a:r>
          </a:p>
        </p:txBody>
      </p:sp>
      <p:sp>
        <p:nvSpPr>
          <p:cNvPr id="34" name="Rectangle 33"/>
          <p:cNvSpPr/>
          <p:nvPr/>
        </p:nvSpPr>
        <p:spPr>
          <a:xfrm>
            <a:off x="502920" y="5788152"/>
            <a:ext cx="914400" cy="50292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5788152"/>
            <a:ext cx="914400" cy="502920"/>
          </a:xfrm>
          <a:prstGeom prst="rect">
            <a:avLst/>
          </a:prstGeom>
          <a:noFill/>
        </p:spPr>
        <p:txBody>
          <a:bodyPr wrap="square" lIns="45720" rIns="45720" tIns="18288" bIns="18288" anchor="ctr">
            <a:spAutoFit/>
          </a:bodyPr>
          <a:lstStyle/>
          <a:p>
            <a:pPr algn="ctr"/>
            <a:r>
              <a:rPr sz="1000" b="1" i="0">
                <a:solidFill>
                  <a:srgbClr val="C8A84B"/>
                </a:solidFill>
                <a:latin typeface="Consolas"/>
              </a:rPr>
              <a:t>CITE</a:t>
            </a:r>
          </a:p>
        </p:txBody>
      </p:sp>
      <p:sp>
        <p:nvSpPr>
          <p:cNvPr id="36" name="Rectangle 35"/>
          <p:cNvSpPr/>
          <p:nvPr/>
        </p:nvSpPr>
        <p:spPr>
          <a:xfrm>
            <a:off x="1463040" y="5788152"/>
            <a:ext cx="10332720" cy="50292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45920" y="5815584"/>
            <a:ext cx="10058400" cy="237744"/>
          </a:xfrm>
          <a:prstGeom prst="rect">
            <a:avLst/>
          </a:prstGeom>
          <a:noFill/>
        </p:spPr>
        <p:txBody>
          <a:bodyPr wrap="square" lIns="45720" rIns="45720" tIns="18288" bIns="18288" anchor="t">
            <a:spAutoFit/>
          </a:bodyPr>
          <a:lstStyle/>
          <a:p>
            <a:pPr algn="l"/>
            <a:r>
              <a:rPr sz="1000" b="1" i="0">
                <a:solidFill>
                  <a:srgbClr val="1A2744"/>
                </a:solidFill>
                <a:latin typeface="Calibri"/>
              </a:rPr>
              <a:t>Cite 2010 ADA — even when the violation cites ANSI / UFAS / 1991 ADA.</a:t>
            </a:r>
          </a:p>
        </p:txBody>
      </p:sp>
      <p:sp>
        <p:nvSpPr>
          <p:cNvPr id="38" name="TextBox 37"/>
          <p:cNvSpPr txBox="1"/>
          <p:nvPr/>
        </p:nvSpPr>
        <p:spPr>
          <a:xfrm>
            <a:off x="1645920" y="6044184"/>
            <a:ext cx="10058400" cy="237744"/>
          </a:xfrm>
          <a:prstGeom prst="rect">
            <a:avLst/>
          </a:prstGeom>
          <a:noFill/>
        </p:spPr>
        <p:txBody>
          <a:bodyPr wrap="square" lIns="45720" rIns="45720" tIns="18288" bIns="18288" anchor="t">
            <a:spAutoFit/>
          </a:bodyPr>
          <a:lstStyle/>
          <a:p>
            <a:pPr algn="l"/>
            <a:r>
              <a:rPr sz="1000" b="0" i="1">
                <a:solidFill>
                  <a:srgbClr val="6B6659"/>
                </a:solidFill>
                <a:latin typeface="Calibri"/>
              </a:rPr>
              <a:t>"Cite: 2010 ADA 502.3.3."</a:t>
            </a:r>
          </a:p>
        </p:txBody>
      </p:sp>
      <p:sp>
        <p:nvSpPr>
          <p:cNvPr id="39" name="TextBox 38"/>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40" name="TextBox 39"/>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56 / 63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57 · WRITING FINDINGS</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Citation placement — two rules, one row</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411480"/>
          </a:xfrm>
          <a:prstGeom prst="rect">
            <a:avLst/>
          </a:prstGeom>
          <a:noFill/>
        </p:spPr>
        <p:txBody>
          <a:bodyPr wrap="square" lIns="45720" rIns="45720" tIns="18288" bIns="18288" anchor="t">
            <a:spAutoFit/>
          </a:bodyPr>
          <a:lstStyle/>
          <a:p>
            <a:pPr algn="l"/>
            <a:r>
              <a:rPr sz="1400" b="0" i="1">
                <a:solidFill>
                  <a:srgbClr val="6B6659"/>
                </a:solidFill>
                <a:latin typeface="Calibri"/>
              </a:rPr>
              <a:t>VIOLATION cite = standard in effect when the element was built/altered.  CORRECTIVE cite = always 2010 ADA.</a:t>
            </a:r>
          </a:p>
        </p:txBody>
      </p:sp>
      <p:sp>
        <p:nvSpPr>
          <p:cNvPr id="10" name="TextBox 9"/>
          <p:cNvSpPr txBox="1"/>
          <p:nvPr/>
        </p:nvSpPr>
        <p:spPr>
          <a:xfrm>
            <a:off x="502920" y="1920240"/>
            <a:ext cx="11247120" cy="365760"/>
          </a:xfrm>
          <a:prstGeom prst="rect">
            <a:avLst/>
          </a:prstGeom>
          <a:noFill/>
        </p:spPr>
        <p:txBody>
          <a:bodyPr wrap="square" lIns="45720" rIns="45720" tIns="18288" bIns="18288" anchor="t">
            <a:spAutoFit/>
          </a:bodyPr>
          <a:lstStyle/>
          <a:p>
            <a:pPr algn="l"/>
            <a:r>
              <a:rPr sz="1300" b="1" i="0">
                <a:solidFill>
                  <a:srgbClr val="1A2744"/>
                </a:solidFill>
                <a:latin typeface="Calibri"/>
              </a:rPr>
              <a:t>Same physical problem — handrail at 30" — three different VIOLATION cites; SAME corrective cite:</a:t>
            </a:r>
          </a:p>
        </p:txBody>
      </p:sp>
      <p:sp>
        <p:nvSpPr>
          <p:cNvPr id="11" name="Rectangle 10"/>
          <p:cNvSpPr/>
          <p:nvPr/>
        </p:nvSpPr>
        <p:spPr>
          <a:xfrm>
            <a:off x="502920" y="2377440"/>
            <a:ext cx="2926080" cy="1097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377440"/>
            <a:ext cx="164592" cy="1097280"/>
          </a:xfrm>
          <a:prstGeom prst="rect">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514600"/>
            <a:ext cx="2743200" cy="365760"/>
          </a:xfrm>
          <a:prstGeom prst="rect">
            <a:avLst/>
          </a:prstGeom>
          <a:noFill/>
        </p:spPr>
        <p:txBody>
          <a:bodyPr wrap="square" lIns="45720" rIns="45720" tIns="18288" bIns="18288" anchor="t">
            <a:spAutoFit/>
          </a:bodyPr>
          <a:lstStyle/>
          <a:p>
            <a:pPr algn="l"/>
            <a:r>
              <a:rPr sz="1400" b="1" i="0">
                <a:solidFill>
                  <a:srgbClr val="1A2744"/>
                </a:solidFill>
                <a:latin typeface="Calibri"/>
              </a:rPr>
              <a:t>Ramp installed 1988</a:t>
            </a:r>
          </a:p>
        </p:txBody>
      </p:sp>
      <p:sp>
        <p:nvSpPr>
          <p:cNvPr id="14" name="TextBox 13"/>
          <p:cNvSpPr txBox="1"/>
          <p:nvPr/>
        </p:nvSpPr>
        <p:spPr>
          <a:xfrm>
            <a:off x="685800" y="2880360"/>
            <a:ext cx="2743200" cy="457200"/>
          </a:xfrm>
          <a:prstGeom prst="rect">
            <a:avLst/>
          </a:prstGeom>
          <a:noFill/>
        </p:spPr>
        <p:txBody>
          <a:bodyPr wrap="square" lIns="45720" rIns="45720" tIns="18288" bIns="18288" anchor="t">
            <a:spAutoFit/>
          </a:bodyPr>
          <a:lstStyle/>
          <a:p>
            <a:pPr algn="l"/>
            <a:r>
              <a:rPr sz="1100" b="0" i="1">
                <a:solidFill>
                  <a:srgbClr val="1A1A1A"/>
                </a:solidFill>
                <a:latin typeface="Calibri"/>
              </a:rPr>
              <a:t>ANSI A117.1 controls</a:t>
            </a:r>
          </a:p>
        </p:txBody>
      </p:sp>
      <p:sp>
        <p:nvSpPr>
          <p:cNvPr id="15" name="Rectangle 14"/>
          <p:cNvSpPr/>
          <p:nvPr/>
        </p:nvSpPr>
        <p:spPr>
          <a:xfrm>
            <a:off x="3611880" y="2377440"/>
            <a:ext cx="3931920" cy="1097280"/>
          </a:xfrm>
          <a:prstGeom prst="rect">
            <a:avLst/>
          </a:prstGeom>
          <a:solidFill>
            <a:srgbClr val="FEF9C3"/>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39" y="2606040"/>
            <a:ext cx="3657600" cy="274320"/>
          </a:xfrm>
          <a:prstGeom prst="rect">
            <a:avLst/>
          </a:prstGeom>
          <a:noFill/>
        </p:spPr>
        <p:txBody>
          <a:bodyPr wrap="square" lIns="45720" rIns="45720" tIns="18288" bIns="18288" anchor="t">
            <a:spAutoFit/>
          </a:bodyPr>
          <a:lstStyle/>
          <a:p>
            <a:pPr algn="l"/>
            <a:r>
              <a:rPr sz="1000" b="1" i="0">
                <a:solidFill>
                  <a:srgbClr val="713F12"/>
                </a:solidFill>
                <a:latin typeface="Consolas"/>
              </a:rPr>
              <a:t>VIOLATION column:</a:t>
            </a:r>
          </a:p>
        </p:txBody>
      </p:sp>
      <p:sp>
        <p:nvSpPr>
          <p:cNvPr id="17" name="TextBox 16"/>
          <p:cNvSpPr txBox="1"/>
          <p:nvPr/>
        </p:nvSpPr>
        <p:spPr>
          <a:xfrm>
            <a:off x="3749039" y="2880360"/>
            <a:ext cx="3657600" cy="457200"/>
          </a:xfrm>
          <a:prstGeom prst="rect">
            <a:avLst/>
          </a:prstGeom>
          <a:noFill/>
        </p:spPr>
        <p:txBody>
          <a:bodyPr wrap="square" lIns="45720" rIns="45720" tIns="18288" bIns="18288" anchor="t">
            <a:spAutoFit/>
          </a:bodyPr>
          <a:lstStyle/>
          <a:p>
            <a:pPr algn="l"/>
            <a:r>
              <a:rPr sz="1300" b="1" i="0">
                <a:solidFill>
                  <a:srgbClr val="713F12"/>
                </a:solidFill>
                <a:latin typeface="Consolas"/>
              </a:rPr>
              <a:t>Violation:  ANSI A117.1 § 4.8.5</a:t>
            </a:r>
          </a:p>
        </p:txBody>
      </p:sp>
      <p:sp>
        <p:nvSpPr>
          <p:cNvPr id="18" name="Rectangle 17"/>
          <p:cNvSpPr/>
          <p:nvPr/>
        </p:nvSpPr>
        <p:spPr>
          <a:xfrm>
            <a:off x="7726679" y="2377440"/>
            <a:ext cx="4023360" cy="1097280"/>
          </a:xfrm>
          <a:prstGeom prst="rect">
            <a:avLst/>
          </a:prstGeom>
          <a:solidFill>
            <a:srgbClr val="FEE2E2"/>
          </a:solidFill>
          <a:ln w="9525">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2606040"/>
            <a:ext cx="3749039" cy="274320"/>
          </a:xfrm>
          <a:prstGeom prst="rect">
            <a:avLst/>
          </a:prstGeom>
          <a:noFill/>
        </p:spPr>
        <p:txBody>
          <a:bodyPr wrap="square" lIns="45720" rIns="45720" tIns="18288" bIns="18288" anchor="t">
            <a:spAutoFit/>
          </a:bodyPr>
          <a:lstStyle/>
          <a:p>
            <a:pPr algn="l"/>
            <a:r>
              <a:rPr sz="1000" b="1" i="0">
                <a:solidFill>
                  <a:srgbClr val="7F1D1D"/>
                </a:solidFill>
                <a:latin typeface="Consolas"/>
              </a:rPr>
              <a:t>CORRECTIVE column:</a:t>
            </a:r>
          </a:p>
        </p:txBody>
      </p:sp>
      <p:sp>
        <p:nvSpPr>
          <p:cNvPr id="20" name="TextBox 19"/>
          <p:cNvSpPr txBox="1"/>
          <p:nvPr/>
        </p:nvSpPr>
        <p:spPr>
          <a:xfrm>
            <a:off x="7863840" y="2880360"/>
            <a:ext cx="3749039" cy="457200"/>
          </a:xfrm>
          <a:prstGeom prst="rect">
            <a:avLst/>
          </a:prstGeom>
          <a:noFill/>
        </p:spPr>
        <p:txBody>
          <a:bodyPr wrap="square" lIns="45720" rIns="45720" tIns="18288" bIns="18288" anchor="t">
            <a:spAutoFit/>
          </a:bodyPr>
          <a:lstStyle/>
          <a:p>
            <a:pPr algn="l"/>
            <a:r>
              <a:rPr sz="1300" b="1" i="0">
                <a:solidFill>
                  <a:srgbClr val="7F1D1D"/>
                </a:solidFill>
                <a:latin typeface="Consolas"/>
              </a:rPr>
              <a:t>Corrective:  2010 ADA § 505.4</a:t>
            </a:r>
          </a:p>
        </p:txBody>
      </p:sp>
      <p:sp>
        <p:nvSpPr>
          <p:cNvPr id="21" name="Rectangle 20"/>
          <p:cNvSpPr/>
          <p:nvPr/>
        </p:nvSpPr>
        <p:spPr>
          <a:xfrm>
            <a:off x="502920" y="3657600"/>
            <a:ext cx="2926080" cy="1097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3657600"/>
            <a:ext cx="164592" cy="1097280"/>
          </a:xfrm>
          <a:prstGeom prst="rect">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794760"/>
            <a:ext cx="2743200" cy="365760"/>
          </a:xfrm>
          <a:prstGeom prst="rect">
            <a:avLst/>
          </a:prstGeom>
          <a:noFill/>
        </p:spPr>
        <p:txBody>
          <a:bodyPr wrap="square" lIns="45720" rIns="45720" tIns="18288" bIns="18288" anchor="t">
            <a:spAutoFit/>
          </a:bodyPr>
          <a:lstStyle/>
          <a:p>
            <a:pPr algn="l"/>
            <a:r>
              <a:rPr sz="1400" b="1" i="0">
                <a:solidFill>
                  <a:srgbClr val="1A2744"/>
                </a:solidFill>
                <a:latin typeface="Calibri"/>
              </a:rPr>
              <a:t>Ramp installed 2003</a:t>
            </a:r>
          </a:p>
        </p:txBody>
      </p:sp>
      <p:sp>
        <p:nvSpPr>
          <p:cNvPr id="24" name="TextBox 23"/>
          <p:cNvSpPr txBox="1"/>
          <p:nvPr/>
        </p:nvSpPr>
        <p:spPr>
          <a:xfrm>
            <a:off x="685800" y="4160520"/>
            <a:ext cx="2743200" cy="457200"/>
          </a:xfrm>
          <a:prstGeom prst="rect">
            <a:avLst/>
          </a:prstGeom>
          <a:noFill/>
        </p:spPr>
        <p:txBody>
          <a:bodyPr wrap="square" lIns="45720" rIns="45720" tIns="18288" bIns="18288" anchor="t">
            <a:spAutoFit/>
          </a:bodyPr>
          <a:lstStyle/>
          <a:p>
            <a:pPr algn="l"/>
            <a:r>
              <a:rPr sz="1100" b="0" i="1">
                <a:solidFill>
                  <a:srgbClr val="1A1A1A"/>
                </a:solidFill>
                <a:latin typeface="Calibri"/>
              </a:rPr>
              <a:t>1991 ADA controls</a:t>
            </a:r>
          </a:p>
        </p:txBody>
      </p:sp>
      <p:sp>
        <p:nvSpPr>
          <p:cNvPr id="25" name="Rectangle 24"/>
          <p:cNvSpPr/>
          <p:nvPr/>
        </p:nvSpPr>
        <p:spPr>
          <a:xfrm>
            <a:off x="3611880" y="3657600"/>
            <a:ext cx="3931920" cy="1097280"/>
          </a:xfrm>
          <a:prstGeom prst="rect">
            <a:avLst/>
          </a:prstGeom>
          <a:solidFill>
            <a:srgbClr val="D1FAE5"/>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49039" y="3886200"/>
            <a:ext cx="3657600" cy="274320"/>
          </a:xfrm>
          <a:prstGeom prst="rect">
            <a:avLst/>
          </a:prstGeom>
          <a:noFill/>
        </p:spPr>
        <p:txBody>
          <a:bodyPr wrap="square" lIns="45720" rIns="45720" tIns="18288" bIns="18288" anchor="t">
            <a:spAutoFit/>
          </a:bodyPr>
          <a:lstStyle/>
          <a:p>
            <a:pPr algn="l"/>
            <a:r>
              <a:rPr sz="1000" b="1" i="0">
                <a:solidFill>
                  <a:srgbClr val="064E3B"/>
                </a:solidFill>
                <a:latin typeface="Consolas"/>
              </a:rPr>
              <a:t>VIOLATION column:</a:t>
            </a:r>
          </a:p>
        </p:txBody>
      </p:sp>
      <p:sp>
        <p:nvSpPr>
          <p:cNvPr id="27" name="TextBox 26"/>
          <p:cNvSpPr txBox="1"/>
          <p:nvPr/>
        </p:nvSpPr>
        <p:spPr>
          <a:xfrm>
            <a:off x="3749039" y="4160520"/>
            <a:ext cx="3657600" cy="457200"/>
          </a:xfrm>
          <a:prstGeom prst="rect">
            <a:avLst/>
          </a:prstGeom>
          <a:noFill/>
        </p:spPr>
        <p:txBody>
          <a:bodyPr wrap="square" lIns="45720" rIns="45720" tIns="18288" bIns="18288" anchor="t">
            <a:spAutoFit/>
          </a:bodyPr>
          <a:lstStyle/>
          <a:p>
            <a:pPr algn="l"/>
            <a:r>
              <a:rPr sz="1300" b="1" i="0">
                <a:solidFill>
                  <a:srgbClr val="064E3B"/>
                </a:solidFill>
                <a:latin typeface="Consolas"/>
              </a:rPr>
              <a:t>Violation:  1991 ADA § 4.8.5</a:t>
            </a:r>
          </a:p>
        </p:txBody>
      </p:sp>
      <p:sp>
        <p:nvSpPr>
          <p:cNvPr id="28" name="Rectangle 27"/>
          <p:cNvSpPr/>
          <p:nvPr/>
        </p:nvSpPr>
        <p:spPr>
          <a:xfrm>
            <a:off x="7726679" y="3657600"/>
            <a:ext cx="4023360" cy="1097280"/>
          </a:xfrm>
          <a:prstGeom prst="rect">
            <a:avLst/>
          </a:prstGeom>
          <a:solidFill>
            <a:srgbClr val="FEE2E2"/>
          </a:solidFill>
          <a:ln w="9525">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0" y="3886200"/>
            <a:ext cx="3749039" cy="274320"/>
          </a:xfrm>
          <a:prstGeom prst="rect">
            <a:avLst/>
          </a:prstGeom>
          <a:noFill/>
        </p:spPr>
        <p:txBody>
          <a:bodyPr wrap="square" lIns="45720" rIns="45720" tIns="18288" bIns="18288" anchor="t">
            <a:spAutoFit/>
          </a:bodyPr>
          <a:lstStyle/>
          <a:p>
            <a:pPr algn="l"/>
            <a:r>
              <a:rPr sz="1000" b="1" i="0">
                <a:solidFill>
                  <a:srgbClr val="7F1D1D"/>
                </a:solidFill>
                <a:latin typeface="Consolas"/>
              </a:rPr>
              <a:t>CORRECTIVE column:</a:t>
            </a:r>
          </a:p>
        </p:txBody>
      </p:sp>
      <p:sp>
        <p:nvSpPr>
          <p:cNvPr id="30" name="TextBox 29"/>
          <p:cNvSpPr txBox="1"/>
          <p:nvPr/>
        </p:nvSpPr>
        <p:spPr>
          <a:xfrm>
            <a:off x="7863840" y="4160520"/>
            <a:ext cx="3749039" cy="457200"/>
          </a:xfrm>
          <a:prstGeom prst="rect">
            <a:avLst/>
          </a:prstGeom>
          <a:noFill/>
        </p:spPr>
        <p:txBody>
          <a:bodyPr wrap="square" lIns="45720" rIns="45720" tIns="18288" bIns="18288" anchor="t">
            <a:spAutoFit/>
          </a:bodyPr>
          <a:lstStyle/>
          <a:p>
            <a:pPr algn="l"/>
            <a:r>
              <a:rPr sz="1300" b="1" i="0">
                <a:solidFill>
                  <a:srgbClr val="7F1D1D"/>
                </a:solidFill>
                <a:latin typeface="Consolas"/>
              </a:rPr>
              <a:t>Corrective:  2010 ADA § 505.4</a:t>
            </a:r>
          </a:p>
        </p:txBody>
      </p:sp>
      <p:sp>
        <p:nvSpPr>
          <p:cNvPr id="31" name="Rectangle 30"/>
          <p:cNvSpPr/>
          <p:nvPr/>
        </p:nvSpPr>
        <p:spPr>
          <a:xfrm>
            <a:off x="502920" y="4937760"/>
            <a:ext cx="2926080" cy="109728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4937760"/>
            <a:ext cx="164592" cy="109728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074920"/>
            <a:ext cx="2743200" cy="365760"/>
          </a:xfrm>
          <a:prstGeom prst="rect">
            <a:avLst/>
          </a:prstGeom>
          <a:noFill/>
        </p:spPr>
        <p:txBody>
          <a:bodyPr wrap="square" lIns="45720" rIns="45720" tIns="18288" bIns="18288" anchor="t">
            <a:spAutoFit/>
          </a:bodyPr>
          <a:lstStyle/>
          <a:p>
            <a:pPr algn="l"/>
            <a:r>
              <a:rPr sz="1400" b="1" i="0">
                <a:solidFill>
                  <a:srgbClr val="1A2744"/>
                </a:solidFill>
                <a:latin typeface="Calibri"/>
              </a:rPr>
              <a:t>Ramp installed 2016</a:t>
            </a:r>
          </a:p>
        </p:txBody>
      </p:sp>
      <p:sp>
        <p:nvSpPr>
          <p:cNvPr id="34" name="TextBox 33"/>
          <p:cNvSpPr txBox="1"/>
          <p:nvPr/>
        </p:nvSpPr>
        <p:spPr>
          <a:xfrm>
            <a:off x="685800" y="5440680"/>
            <a:ext cx="2743200" cy="457200"/>
          </a:xfrm>
          <a:prstGeom prst="rect">
            <a:avLst/>
          </a:prstGeom>
          <a:noFill/>
        </p:spPr>
        <p:txBody>
          <a:bodyPr wrap="square" lIns="45720" rIns="45720" tIns="18288" bIns="18288" anchor="t">
            <a:spAutoFit/>
          </a:bodyPr>
          <a:lstStyle/>
          <a:p>
            <a:pPr algn="l"/>
            <a:r>
              <a:rPr sz="1100" b="0" i="1">
                <a:solidFill>
                  <a:srgbClr val="1A1A1A"/>
                </a:solidFill>
                <a:latin typeface="Calibri"/>
              </a:rPr>
              <a:t>2010 ADA controls</a:t>
            </a:r>
          </a:p>
        </p:txBody>
      </p:sp>
      <p:sp>
        <p:nvSpPr>
          <p:cNvPr id="35" name="Rectangle 34"/>
          <p:cNvSpPr/>
          <p:nvPr/>
        </p:nvSpPr>
        <p:spPr>
          <a:xfrm>
            <a:off x="3611880" y="4937760"/>
            <a:ext cx="3931920" cy="1097280"/>
          </a:xfrm>
          <a:prstGeom prst="rect">
            <a:avLst/>
          </a:prstGeom>
          <a:solidFill>
            <a:srgbClr val="FEE2E2"/>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49039" y="5166360"/>
            <a:ext cx="3657600" cy="274320"/>
          </a:xfrm>
          <a:prstGeom prst="rect">
            <a:avLst/>
          </a:prstGeom>
          <a:noFill/>
        </p:spPr>
        <p:txBody>
          <a:bodyPr wrap="square" lIns="45720" rIns="45720" tIns="18288" bIns="18288" anchor="t">
            <a:spAutoFit/>
          </a:bodyPr>
          <a:lstStyle/>
          <a:p>
            <a:pPr algn="l"/>
            <a:r>
              <a:rPr sz="1000" b="1" i="0">
                <a:solidFill>
                  <a:srgbClr val="7F1D1D"/>
                </a:solidFill>
                <a:latin typeface="Consolas"/>
              </a:rPr>
              <a:t>VIOLATION column:</a:t>
            </a:r>
          </a:p>
        </p:txBody>
      </p:sp>
      <p:sp>
        <p:nvSpPr>
          <p:cNvPr id="37" name="TextBox 36"/>
          <p:cNvSpPr txBox="1"/>
          <p:nvPr/>
        </p:nvSpPr>
        <p:spPr>
          <a:xfrm>
            <a:off x="3749039" y="5440680"/>
            <a:ext cx="3657600" cy="457200"/>
          </a:xfrm>
          <a:prstGeom prst="rect">
            <a:avLst/>
          </a:prstGeom>
          <a:noFill/>
        </p:spPr>
        <p:txBody>
          <a:bodyPr wrap="square" lIns="45720" rIns="45720" tIns="18288" bIns="18288" anchor="t">
            <a:spAutoFit/>
          </a:bodyPr>
          <a:lstStyle/>
          <a:p>
            <a:pPr algn="l"/>
            <a:r>
              <a:rPr sz="1300" b="1" i="0">
                <a:solidFill>
                  <a:srgbClr val="7F1D1D"/>
                </a:solidFill>
                <a:latin typeface="Consolas"/>
              </a:rPr>
              <a:t>Violation:  2010 ADA § 505.4</a:t>
            </a:r>
          </a:p>
        </p:txBody>
      </p:sp>
      <p:sp>
        <p:nvSpPr>
          <p:cNvPr id="38" name="Rectangle 37"/>
          <p:cNvSpPr/>
          <p:nvPr/>
        </p:nvSpPr>
        <p:spPr>
          <a:xfrm>
            <a:off x="7726679" y="4937760"/>
            <a:ext cx="4023360" cy="1097280"/>
          </a:xfrm>
          <a:prstGeom prst="rect">
            <a:avLst/>
          </a:prstGeom>
          <a:solidFill>
            <a:srgbClr val="FEE2E2"/>
          </a:solidFill>
          <a:ln w="9525">
            <a:solidFill>
              <a:srgbClr val="C8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0" y="5166360"/>
            <a:ext cx="3749039" cy="274320"/>
          </a:xfrm>
          <a:prstGeom prst="rect">
            <a:avLst/>
          </a:prstGeom>
          <a:noFill/>
        </p:spPr>
        <p:txBody>
          <a:bodyPr wrap="square" lIns="45720" rIns="45720" tIns="18288" bIns="18288" anchor="t">
            <a:spAutoFit/>
          </a:bodyPr>
          <a:lstStyle/>
          <a:p>
            <a:pPr algn="l"/>
            <a:r>
              <a:rPr sz="1000" b="1" i="0">
                <a:solidFill>
                  <a:srgbClr val="7F1D1D"/>
                </a:solidFill>
                <a:latin typeface="Consolas"/>
              </a:rPr>
              <a:t>CORRECTIVE column:</a:t>
            </a:r>
          </a:p>
        </p:txBody>
      </p:sp>
      <p:sp>
        <p:nvSpPr>
          <p:cNvPr id="40" name="TextBox 39"/>
          <p:cNvSpPr txBox="1"/>
          <p:nvPr/>
        </p:nvSpPr>
        <p:spPr>
          <a:xfrm>
            <a:off x="7863840" y="5440680"/>
            <a:ext cx="3749039" cy="457200"/>
          </a:xfrm>
          <a:prstGeom prst="rect">
            <a:avLst/>
          </a:prstGeom>
          <a:noFill/>
        </p:spPr>
        <p:txBody>
          <a:bodyPr wrap="square" lIns="45720" rIns="45720" tIns="18288" bIns="18288" anchor="t">
            <a:spAutoFit/>
          </a:bodyPr>
          <a:lstStyle/>
          <a:p>
            <a:pPr algn="l"/>
            <a:r>
              <a:rPr sz="1300" b="1" i="0">
                <a:solidFill>
                  <a:srgbClr val="7F1D1D"/>
                </a:solidFill>
                <a:latin typeface="Consolas"/>
              </a:rPr>
              <a:t>Corrective:  2010 ADA § 505.4</a:t>
            </a:r>
          </a:p>
        </p:txBody>
      </p:sp>
      <p:sp>
        <p:nvSpPr>
          <p:cNvPr id="41" name="TextBox 40"/>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42" name="TextBox 41"/>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57 / 63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48640"/>
            <a:ext cx="10972800" cy="457200"/>
          </a:xfrm>
          <a:prstGeom prst="rect">
            <a:avLst/>
          </a:prstGeom>
          <a:noFill/>
        </p:spPr>
        <p:txBody>
          <a:bodyPr wrap="square" lIns="45720" rIns="45720" tIns="18288" bIns="18288" anchor="t">
            <a:spAutoFit/>
          </a:bodyPr>
          <a:lstStyle/>
          <a:p>
            <a:pPr algn="l"/>
            <a:r>
              <a:rPr sz="1200" b="1" i="0">
                <a:solidFill>
                  <a:srgbClr val="C8A84B"/>
                </a:solidFill>
                <a:latin typeface="Consolas"/>
              </a:rPr>
              <a:t>KNOWLEDGE CHECK · 05</a:t>
            </a:r>
          </a:p>
        </p:txBody>
      </p:sp>
      <p:sp>
        <p:nvSpPr>
          <p:cNvPr id="5" name="TextBox 4"/>
          <p:cNvSpPr txBox="1"/>
          <p:nvPr/>
        </p:nvSpPr>
        <p:spPr>
          <a:xfrm>
            <a:off x="777240" y="1005840"/>
            <a:ext cx="10972800" cy="822960"/>
          </a:xfrm>
          <a:prstGeom prst="rect">
            <a:avLst/>
          </a:prstGeom>
          <a:noFill/>
        </p:spPr>
        <p:txBody>
          <a:bodyPr wrap="square" lIns="45720" rIns="45720" tIns="18288" bIns="18288" anchor="t">
            <a:spAutoFit/>
          </a:bodyPr>
          <a:lstStyle/>
          <a:p>
            <a:pPr algn="l"/>
            <a:r>
              <a:rPr sz="3000" b="1" i="0">
                <a:solidFill>
                  <a:srgbClr val="FFFFFF"/>
                </a:solidFill>
                <a:latin typeface="Georgia"/>
              </a:rPr>
              <a:t>Rewrite this violation entry</a:t>
            </a:r>
          </a:p>
        </p:txBody>
      </p:sp>
      <p:sp>
        <p:nvSpPr>
          <p:cNvPr id="6" name="TextBox 5"/>
          <p:cNvSpPr txBox="1"/>
          <p:nvPr/>
        </p:nvSpPr>
        <p:spPr>
          <a:xfrm>
            <a:off x="777240" y="1965960"/>
            <a:ext cx="10972800" cy="365760"/>
          </a:xfrm>
          <a:prstGeom prst="rect">
            <a:avLst/>
          </a:prstGeom>
          <a:noFill/>
        </p:spPr>
        <p:txBody>
          <a:bodyPr wrap="square" lIns="45720" rIns="45720" tIns="18288" bIns="18288" anchor="t">
            <a:spAutoFit/>
          </a:bodyPr>
          <a:lstStyle/>
          <a:p>
            <a:pPr algn="l"/>
            <a:r>
              <a:rPr sz="1200" b="1" i="0">
                <a:solidFill>
                  <a:srgbClr val="C8A84B"/>
                </a:solidFill>
                <a:latin typeface="Consolas"/>
              </a:rPr>
              <a:t>ROOKIE REVIEWER WROTE:</a:t>
            </a:r>
          </a:p>
        </p:txBody>
      </p:sp>
      <p:sp>
        <p:nvSpPr>
          <p:cNvPr id="7" name="Rectangle 6"/>
          <p:cNvSpPr/>
          <p:nvPr/>
        </p:nvSpPr>
        <p:spPr>
          <a:xfrm>
            <a:off x="777240" y="2377440"/>
            <a:ext cx="10927080" cy="1188720"/>
          </a:xfrm>
          <a:prstGeom prst="rect">
            <a:avLst/>
          </a:prstGeom>
          <a:solidFill>
            <a:srgbClr val="243460"/>
          </a:solidFill>
          <a:ln w="952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468880"/>
            <a:ext cx="10515600" cy="1005840"/>
          </a:xfrm>
          <a:prstGeom prst="rect">
            <a:avLst/>
          </a:prstGeom>
          <a:noFill/>
        </p:spPr>
        <p:txBody>
          <a:bodyPr wrap="square" lIns="45720" rIns="45720" tIns="18288" bIns="18288" anchor="t">
            <a:spAutoFit/>
          </a:bodyPr>
          <a:lstStyle/>
          <a:p>
            <a:pPr algn="l"/>
            <a:r>
              <a:rPr sz="1500" b="0" i="1">
                <a:solidFill>
                  <a:srgbClr val="FFFFFF"/>
                </a:solidFill>
                <a:latin typeface="Calibri"/>
              </a:rPr>
              <a:t>"The handrail on the ramp at the wood shop is too low. The shop was built in 1985. It violates the ADA. Fix it."</a:t>
            </a:r>
          </a:p>
        </p:txBody>
      </p:sp>
      <p:sp>
        <p:nvSpPr>
          <p:cNvPr id="9" name="TextBox 8"/>
          <p:cNvSpPr txBox="1"/>
          <p:nvPr/>
        </p:nvSpPr>
        <p:spPr>
          <a:xfrm>
            <a:off x="777240" y="3703320"/>
            <a:ext cx="10972800" cy="365760"/>
          </a:xfrm>
          <a:prstGeom prst="rect">
            <a:avLst/>
          </a:prstGeom>
          <a:noFill/>
        </p:spPr>
        <p:txBody>
          <a:bodyPr wrap="square" lIns="45720" rIns="45720" tIns="18288" bIns="18288" anchor="t">
            <a:spAutoFit/>
          </a:bodyPr>
          <a:lstStyle/>
          <a:p>
            <a:pPr algn="l"/>
            <a:r>
              <a:rPr sz="1200" b="1" i="0">
                <a:solidFill>
                  <a:srgbClr val="C8A84B"/>
                </a:solidFill>
                <a:latin typeface="Consolas"/>
              </a:rPr>
              <a:t>WHAT'S MISSING / WRONG? (think before flipping to the next slide)</a:t>
            </a:r>
          </a:p>
        </p:txBody>
      </p:sp>
      <p:sp>
        <p:nvSpPr>
          <p:cNvPr id="10" name="TextBox 9"/>
          <p:cNvSpPr txBox="1"/>
          <p:nvPr/>
        </p:nvSpPr>
        <p:spPr>
          <a:xfrm>
            <a:off x="914400" y="4160520"/>
            <a:ext cx="274320" cy="320040"/>
          </a:xfrm>
          <a:prstGeom prst="rect">
            <a:avLst/>
          </a:prstGeom>
          <a:noFill/>
        </p:spPr>
        <p:txBody>
          <a:bodyPr wrap="square" lIns="45720" rIns="45720" tIns="18288" bIns="18288" anchor="t">
            <a:spAutoFit/>
          </a:bodyPr>
          <a:lstStyle/>
          <a:p>
            <a:pPr algn="l"/>
            <a:r>
              <a:rPr sz="1800" b="0" i="0">
                <a:solidFill>
                  <a:srgbClr val="C8A84B"/>
                </a:solidFill>
                <a:latin typeface="Calibri"/>
              </a:rPr>
              <a:t>□</a:t>
            </a:r>
          </a:p>
        </p:txBody>
      </p:sp>
      <p:sp>
        <p:nvSpPr>
          <p:cNvPr id="11" name="TextBox 10"/>
          <p:cNvSpPr txBox="1"/>
          <p:nvPr/>
        </p:nvSpPr>
        <p:spPr>
          <a:xfrm>
            <a:off x="1280160" y="4160520"/>
            <a:ext cx="10515600" cy="320040"/>
          </a:xfrm>
          <a:prstGeom prst="rect">
            <a:avLst/>
          </a:prstGeom>
          <a:noFill/>
        </p:spPr>
        <p:txBody>
          <a:bodyPr wrap="square" lIns="45720" rIns="45720" tIns="18288" bIns="18288" anchor="t">
            <a:spAutoFit/>
          </a:bodyPr>
          <a:lstStyle/>
          <a:p>
            <a:pPr algn="l"/>
            <a:r>
              <a:rPr sz="1300" b="0" i="0">
                <a:solidFill>
                  <a:srgbClr val="FFFFFF"/>
                </a:solidFill>
                <a:latin typeface="Calibri"/>
              </a:rPr>
              <a:t>Specific measurement?</a:t>
            </a:r>
          </a:p>
        </p:txBody>
      </p:sp>
      <p:sp>
        <p:nvSpPr>
          <p:cNvPr id="12" name="TextBox 11"/>
          <p:cNvSpPr txBox="1"/>
          <p:nvPr/>
        </p:nvSpPr>
        <p:spPr>
          <a:xfrm>
            <a:off x="914400" y="4544568"/>
            <a:ext cx="274320" cy="320040"/>
          </a:xfrm>
          <a:prstGeom prst="rect">
            <a:avLst/>
          </a:prstGeom>
          <a:noFill/>
        </p:spPr>
        <p:txBody>
          <a:bodyPr wrap="square" lIns="45720" rIns="45720" tIns="18288" bIns="18288" anchor="t">
            <a:spAutoFit/>
          </a:bodyPr>
          <a:lstStyle/>
          <a:p>
            <a:pPr algn="l"/>
            <a:r>
              <a:rPr sz="1800" b="0" i="0">
                <a:solidFill>
                  <a:srgbClr val="C8A84B"/>
                </a:solidFill>
                <a:latin typeface="Calibri"/>
              </a:rPr>
              <a:t>□</a:t>
            </a:r>
          </a:p>
        </p:txBody>
      </p:sp>
      <p:sp>
        <p:nvSpPr>
          <p:cNvPr id="13" name="TextBox 12"/>
          <p:cNvSpPr txBox="1"/>
          <p:nvPr/>
        </p:nvSpPr>
        <p:spPr>
          <a:xfrm>
            <a:off x="1280160" y="4544568"/>
            <a:ext cx="10515600" cy="320040"/>
          </a:xfrm>
          <a:prstGeom prst="rect">
            <a:avLst/>
          </a:prstGeom>
          <a:noFill/>
        </p:spPr>
        <p:txBody>
          <a:bodyPr wrap="square" lIns="45720" rIns="45720" tIns="18288" bIns="18288" anchor="t">
            <a:spAutoFit/>
          </a:bodyPr>
          <a:lstStyle/>
          <a:p>
            <a:pPr algn="l"/>
            <a:r>
              <a:rPr sz="1300" b="0" i="0">
                <a:solidFill>
                  <a:srgbClr val="FFFFFF"/>
                </a:solidFill>
                <a:latin typeface="Calibri"/>
              </a:rPr>
              <a:t>Correct standard for a 1985 building?</a:t>
            </a:r>
          </a:p>
        </p:txBody>
      </p:sp>
      <p:sp>
        <p:nvSpPr>
          <p:cNvPr id="14" name="TextBox 13"/>
          <p:cNvSpPr txBox="1"/>
          <p:nvPr/>
        </p:nvSpPr>
        <p:spPr>
          <a:xfrm>
            <a:off x="914400" y="4928616"/>
            <a:ext cx="274320" cy="320040"/>
          </a:xfrm>
          <a:prstGeom prst="rect">
            <a:avLst/>
          </a:prstGeom>
          <a:noFill/>
        </p:spPr>
        <p:txBody>
          <a:bodyPr wrap="square" lIns="45720" rIns="45720" tIns="18288" bIns="18288" anchor="t">
            <a:spAutoFit/>
          </a:bodyPr>
          <a:lstStyle/>
          <a:p>
            <a:pPr algn="l"/>
            <a:r>
              <a:rPr sz="1800" b="0" i="0">
                <a:solidFill>
                  <a:srgbClr val="C8A84B"/>
                </a:solidFill>
                <a:latin typeface="Calibri"/>
              </a:rPr>
              <a:t>□</a:t>
            </a:r>
          </a:p>
        </p:txBody>
      </p:sp>
      <p:sp>
        <p:nvSpPr>
          <p:cNvPr id="15" name="TextBox 14"/>
          <p:cNvSpPr txBox="1"/>
          <p:nvPr/>
        </p:nvSpPr>
        <p:spPr>
          <a:xfrm>
            <a:off x="1280160" y="4928616"/>
            <a:ext cx="10515600" cy="320040"/>
          </a:xfrm>
          <a:prstGeom prst="rect">
            <a:avLst/>
          </a:prstGeom>
          <a:noFill/>
        </p:spPr>
        <p:txBody>
          <a:bodyPr wrap="square" lIns="45720" rIns="45720" tIns="18288" bIns="18288" anchor="t">
            <a:spAutoFit/>
          </a:bodyPr>
          <a:lstStyle/>
          <a:p>
            <a:pPr algn="l"/>
            <a:r>
              <a:rPr sz="1300" b="0" i="0">
                <a:solidFill>
                  <a:srgbClr val="FFFFFF"/>
                </a:solidFill>
                <a:latin typeface="Calibri"/>
              </a:rPr>
              <a:t>Right section citation?</a:t>
            </a:r>
          </a:p>
        </p:txBody>
      </p:sp>
      <p:sp>
        <p:nvSpPr>
          <p:cNvPr id="16" name="TextBox 15"/>
          <p:cNvSpPr txBox="1"/>
          <p:nvPr/>
        </p:nvSpPr>
        <p:spPr>
          <a:xfrm>
            <a:off x="914400" y="5312664"/>
            <a:ext cx="274320" cy="320040"/>
          </a:xfrm>
          <a:prstGeom prst="rect">
            <a:avLst/>
          </a:prstGeom>
          <a:noFill/>
        </p:spPr>
        <p:txBody>
          <a:bodyPr wrap="square" lIns="45720" rIns="45720" tIns="18288" bIns="18288" anchor="t">
            <a:spAutoFit/>
          </a:bodyPr>
          <a:lstStyle/>
          <a:p>
            <a:pPr algn="l"/>
            <a:r>
              <a:rPr sz="1800" b="0" i="0">
                <a:solidFill>
                  <a:srgbClr val="C8A84B"/>
                </a:solidFill>
                <a:latin typeface="Calibri"/>
              </a:rPr>
              <a:t>□</a:t>
            </a:r>
          </a:p>
        </p:txBody>
      </p:sp>
      <p:sp>
        <p:nvSpPr>
          <p:cNvPr id="17" name="TextBox 16"/>
          <p:cNvSpPr txBox="1"/>
          <p:nvPr/>
        </p:nvSpPr>
        <p:spPr>
          <a:xfrm>
            <a:off x="1280160" y="5312664"/>
            <a:ext cx="10515600" cy="320040"/>
          </a:xfrm>
          <a:prstGeom prst="rect">
            <a:avLst/>
          </a:prstGeom>
          <a:noFill/>
        </p:spPr>
        <p:txBody>
          <a:bodyPr wrap="square" lIns="45720" rIns="45720" tIns="18288" bIns="18288" anchor="t">
            <a:spAutoFit/>
          </a:bodyPr>
          <a:lstStyle/>
          <a:p>
            <a:pPr algn="l"/>
            <a:r>
              <a:rPr sz="1300" b="0" i="0">
                <a:solidFill>
                  <a:srgbClr val="FFFFFF"/>
                </a:solidFill>
                <a:latin typeface="Calibri"/>
              </a:rPr>
              <a:t>Specific location identifier?</a:t>
            </a:r>
          </a:p>
        </p:txBody>
      </p:sp>
      <p:sp>
        <p:nvSpPr>
          <p:cNvPr id="18" name="TextBox 17"/>
          <p:cNvSpPr txBox="1"/>
          <p:nvPr/>
        </p:nvSpPr>
        <p:spPr>
          <a:xfrm>
            <a:off x="914400" y="5696712"/>
            <a:ext cx="274320" cy="320040"/>
          </a:xfrm>
          <a:prstGeom prst="rect">
            <a:avLst/>
          </a:prstGeom>
          <a:noFill/>
        </p:spPr>
        <p:txBody>
          <a:bodyPr wrap="square" lIns="45720" rIns="45720" tIns="18288" bIns="18288" anchor="t">
            <a:spAutoFit/>
          </a:bodyPr>
          <a:lstStyle/>
          <a:p>
            <a:pPr algn="l"/>
            <a:r>
              <a:rPr sz="1800" b="0" i="0">
                <a:solidFill>
                  <a:srgbClr val="C8A84B"/>
                </a:solidFill>
                <a:latin typeface="Calibri"/>
              </a:rPr>
              <a:t>□</a:t>
            </a:r>
          </a:p>
        </p:txBody>
      </p:sp>
      <p:sp>
        <p:nvSpPr>
          <p:cNvPr id="19" name="TextBox 18"/>
          <p:cNvSpPr txBox="1"/>
          <p:nvPr/>
        </p:nvSpPr>
        <p:spPr>
          <a:xfrm>
            <a:off x="1280160" y="5696712"/>
            <a:ext cx="10515600" cy="320040"/>
          </a:xfrm>
          <a:prstGeom prst="rect">
            <a:avLst/>
          </a:prstGeom>
          <a:noFill/>
        </p:spPr>
        <p:txBody>
          <a:bodyPr wrap="square" lIns="45720" rIns="45720" tIns="18288" bIns="18288" anchor="t">
            <a:spAutoFit/>
          </a:bodyPr>
          <a:lstStyle/>
          <a:p>
            <a:pPr algn="l"/>
            <a:r>
              <a:rPr sz="1300" b="0" i="0">
                <a:solidFill>
                  <a:srgbClr val="FFFFFF"/>
                </a:solidFill>
                <a:latin typeface="Calibri"/>
              </a:rPr>
              <a:t>Concrete corrective action with deadline?</a:t>
            </a:r>
          </a:p>
        </p:txBody>
      </p:sp>
      <p:sp>
        <p:nvSpPr>
          <p:cNvPr id="20" name="TextBox 19"/>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21" name="TextBox 20"/>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58 / 63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59 · CASE STUDY</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Case study #1 — Mixed-era HS, welding shop</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0" i="1">
                <a:solidFill>
                  <a:srgbClr val="6B6659"/>
                </a:solidFill>
                <a:latin typeface="Calibri"/>
              </a:rPr>
              <a:t>Work in pairs. 25 minutes to read, decide, draft. Then compare with the room.</a:t>
            </a:r>
          </a:p>
        </p:txBody>
      </p:sp>
      <p:sp>
        <p:nvSpPr>
          <p:cNvPr id="10" name="Rectangle 9"/>
          <p:cNvSpPr/>
          <p:nvPr/>
        </p:nvSpPr>
        <p:spPr>
          <a:xfrm>
            <a:off x="502920" y="1874519"/>
            <a:ext cx="7315200" cy="45720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874519"/>
            <a:ext cx="731520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874519"/>
            <a:ext cx="7315200" cy="411480"/>
          </a:xfrm>
          <a:prstGeom prst="rect">
            <a:avLst/>
          </a:prstGeom>
          <a:noFill/>
        </p:spPr>
        <p:txBody>
          <a:bodyPr wrap="square" lIns="45720" rIns="45720" tIns="18288" bIns="18288" anchor="ctr">
            <a:spAutoFit/>
          </a:bodyPr>
          <a:lstStyle/>
          <a:p>
            <a:pPr algn="ctr"/>
            <a:r>
              <a:rPr sz="1100" b="1" i="0">
                <a:solidFill>
                  <a:srgbClr val="C8A84B"/>
                </a:solidFill>
                <a:latin typeface="Consolas"/>
              </a:rPr>
              <a:t>SCENARIO</a:t>
            </a:r>
          </a:p>
        </p:txBody>
      </p:sp>
      <p:sp>
        <p:nvSpPr>
          <p:cNvPr id="13" name="TextBox 12"/>
          <p:cNvSpPr txBox="1"/>
          <p:nvPr/>
        </p:nvSpPr>
        <p:spPr>
          <a:xfrm>
            <a:off x="685800" y="2331720"/>
            <a:ext cx="6949440" cy="4023360"/>
          </a:xfrm>
          <a:prstGeom prst="rect">
            <a:avLst/>
          </a:prstGeom>
          <a:noFill/>
        </p:spPr>
        <p:txBody>
          <a:bodyPr wrap="square" lIns="45720" rIns="45720" tIns="18288" bIns="18288" anchor="t">
            <a:spAutoFit/>
          </a:bodyPr>
          <a:lstStyle/>
          <a:p>
            <a:pPr algn="l"/>
            <a:r>
              <a:rPr sz="1100" b="0" i="0">
                <a:solidFill>
                  <a:srgbClr val="1A1A1A"/>
                </a:solidFill>
                <a:latin typeface="Calibri"/>
              </a:rPr>
              <a:t>Sierra Vista High School — Manufacturing pathway.</a:t>
            </a:r>
          </a:p>
          <a:p>
            <a:pPr algn="l"/>
            <a:r>
              <a:rPr sz="1100" b="0" i="0">
                <a:solidFill>
                  <a:srgbClr val="1A1A1A"/>
                </a:solidFill>
                <a:latin typeface="Calibri"/>
              </a:rPr>
              <a:t/>
            </a:r>
          </a:p>
          <a:p>
            <a:pPr algn="l"/>
            <a:r>
              <a:rPr sz="1100" b="0" i="0">
                <a:solidFill>
                  <a:srgbClr val="1A1A1A"/>
                </a:solidFill>
                <a:latin typeface="Calibri"/>
              </a:rPr>
              <a:t>Welding shop is in a free-standing building constructed 1979. Original 1979 construction never altered structurally. In 2018 the LEA installed:</a:t>
            </a:r>
          </a:p>
          <a:p>
            <a:pPr algn="l"/>
            <a:r>
              <a:rPr sz="1100" b="0" i="0">
                <a:solidFill>
                  <a:srgbClr val="1A1A1A"/>
                </a:solidFill>
                <a:latin typeface="Calibri"/>
              </a:rPr>
              <a:t>  • a new concrete pad outside the south door</a:t>
            </a:r>
          </a:p>
          <a:p>
            <a:pPr algn="l"/>
            <a:r>
              <a:rPr sz="1100" b="0" i="0">
                <a:solidFill>
                  <a:srgbClr val="1A1A1A"/>
                </a:solidFill>
                <a:latin typeface="Calibri"/>
              </a:rPr>
              <a:t>  • a new south-side ramp from the pad to the door (rise 18", run 16'-0")</a:t>
            </a:r>
          </a:p>
          <a:p>
            <a:pPr algn="l"/>
            <a:r>
              <a:rPr sz="1100" b="0" i="0">
                <a:solidFill>
                  <a:srgbClr val="1A1A1A"/>
                </a:solidFill>
                <a:latin typeface="Calibri"/>
              </a:rPr>
              <a:t>  • new handrails on the south ramp</a:t>
            </a:r>
          </a:p>
          <a:p>
            <a:pPr algn="l"/>
            <a:r>
              <a:rPr sz="1100" b="0" i="0">
                <a:solidFill>
                  <a:srgbClr val="1A1A1A"/>
                </a:solidFill>
                <a:latin typeface="Calibri"/>
              </a:rPr>
              <a:t>  • ISA signage at the south door</a:t>
            </a:r>
          </a:p>
          <a:p>
            <a:pPr algn="l"/>
            <a:r>
              <a:rPr sz="1100" b="0" i="0">
                <a:solidFill>
                  <a:srgbClr val="1A1A1A"/>
                </a:solidFill>
                <a:latin typeface="Calibri"/>
              </a:rPr>
              <a:t/>
            </a:r>
          </a:p>
          <a:p>
            <a:pPr algn="l"/>
            <a:r>
              <a:rPr sz="1100" b="0" i="0">
                <a:solidFill>
                  <a:srgbClr val="1A1A1A"/>
                </a:solidFill>
                <a:latin typeface="Calibri"/>
              </a:rPr>
              <a:t>Field measurements you took:</a:t>
            </a:r>
          </a:p>
          <a:p>
            <a:pPr algn="l"/>
            <a:r>
              <a:rPr sz="1100" b="0" i="0">
                <a:solidFill>
                  <a:srgbClr val="1A1A1A"/>
                </a:solidFill>
                <a:latin typeface="Calibri"/>
              </a:rPr>
              <a:t>  • South ramp running slope: 1:11 (steeper than 1:12)</a:t>
            </a:r>
          </a:p>
          <a:p>
            <a:pPr algn="l"/>
            <a:r>
              <a:rPr sz="1100" b="0" i="0">
                <a:solidFill>
                  <a:srgbClr val="1A1A1A"/>
                </a:solidFill>
                <a:latin typeface="Calibri"/>
              </a:rPr>
              <a:t>  • South ramp handrail height: 32"</a:t>
            </a:r>
          </a:p>
          <a:p>
            <a:pPr algn="l"/>
            <a:r>
              <a:rPr sz="1100" b="0" i="0">
                <a:solidFill>
                  <a:srgbClr val="1A1A1A"/>
                </a:solidFill>
                <a:latin typeface="Calibri"/>
              </a:rPr>
              <a:t>  • ISA sign baseline tactile characters: 62" above floor</a:t>
            </a:r>
          </a:p>
          <a:p>
            <a:pPr algn="l"/>
            <a:r>
              <a:rPr sz="1100" b="0" i="0">
                <a:solidFill>
                  <a:srgbClr val="1A1A1A"/>
                </a:solidFill>
                <a:latin typeface="Calibri"/>
              </a:rPr>
              <a:t>  • Inside the shop: 8 welding booths, all with 30" frame openings</a:t>
            </a:r>
          </a:p>
          <a:p>
            <a:pPr algn="l"/>
            <a:r>
              <a:rPr sz="1100" b="0" i="0">
                <a:solidFill>
                  <a:srgbClr val="1A1A1A"/>
                </a:solidFill>
                <a:latin typeface="Calibri"/>
              </a:rPr>
              <a:t>  • Inside the shop: workbenches all at 36" with full skirts (no knee/toe)</a:t>
            </a:r>
          </a:p>
        </p:txBody>
      </p:sp>
      <p:sp>
        <p:nvSpPr>
          <p:cNvPr id="14" name="Rectangle 13"/>
          <p:cNvSpPr/>
          <p:nvPr/>
        </p:nvSpPr>
        <p:spPr>
          <a:xfrm>
            <a:off x="8092440" y="1874519"/>
            <a:ext cx="3657600" cy="45720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1874519"/>
            <a:ext cx="365760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1874519"/>
            <a:ext cx="3657600" cy="411480"/>
          </a:xfrm>
          <a:prstGeom prst="rect">
            <a:avLst/>
          </a:prstGeom>
          <a:noFill/>
        </p:spPr>
        <p:txBody>
          <a:bodyPr wrap="square" lIns="45720" rIns="45720" tIns="18288" bIns="18288" anchor="ctr">
            <a:spAutoFit/>
          </a:bodyPr>
          <a:lstStyle/>
          <a:p>
            <a:pPr algn="ctr"/>
            <a:r>
              <a:rPr sz="1100" b="1" i="0">
                <a:solidFill>
                  <a:srgbClr val="C8A84B"/>
                </a:solidFill>
                <a:latin typeface="Consolas"/>
              </a:rPr>
              <a:t>YOUR TASKS</a:t>
            </a:r>
          </a:p>
        </p:txBody>
      </p:sp>
      <p:sp>
        <p:nvSpPr>
          <p:cNvPr id="17" name="TextBox 16"/>
          <p:cNvSpPr txBox="1"/>
          <p:nvPr/>
        </p:nvSpPr>
        <p:spPr>
          <a:xfrm>
            <a:off x="8275320" y="2377440"/>
            <a:ext cx="3383280" cy="4023360"/>
          </a:xfrm>
          <a:prstGeom prst="rect">
            <a:avLst/>
          </a:prstGeom>
          <a:noFill/>
        </p:spPr>
        <p:txBody>
          <a:bodyPr wrap="square" lIns="45720" rIns="45720">
            <a:spAutoFit/>
          </a:bodyPr>
          <a:lstStyle/>
          <a:p>
            <a:pPr algn="l">
              <a:spcAft>
                <a:spcPts val="800"/>
              </a:spcAft>
            </a:pPr>
            <a:r>
              <a:rPr sz="1100" b="0">
                <a:solidFill>
                  <a:srgbClr val="1A1A1A"/>
                </a:solidFill>
                <a:latin typeface="Calibri"/>
              </a:rPr>
              <a:t>?  Which standard applies to the original shop building?</a:t>
            </a:r>
          </a:p>
          <a:p>
            <a:pPr algn="l">
              <a:spcAft>
                <a:spcPts val="800"/>
              </a:spcAft>
            </a:pPr>
            <a:r>
              <a:rPr sz="1100" b="0">
                <a:solidFill>
                  <a:srgbClr val="1A1A1A"/>
                </a:solidFill>
                <a:latin typeface="Calibri"/>
              </a:rPr>
              <a:t>?  Which standard applies to the 2018 ramp / signage?</a:t>
            </a:r>
          </a:p>
          <a:p>
            <a:pPr algn="l">
              <a:spcAft>
                <a:spcPts val="800"/>
              </a:spcAft>
            </a:pPr>
            <a:r>
              <a:rPr sz="1100" b="0">
                <a:solidFill>
                  <a:srgbClr val="1A1A1A"/>
                </a:solidFill>
                <a:latin typeface="Calibri"/>
              </a:rPr>
              <a:t>?  Which standard applies to the welding booths?</a:t>
            </a:r>
          </a:p>
          <a:p>
            <a:pPr algn="l">
              <a:spcAft>
                <a:spcPts val="800"/>
              </a:spcAft>
            </a:pPr>
            <a:r>
              <a:rPr sz="1100" b="0">
                <a:solidFill>
                  <a:srgbClr val="1A1A1A"/>
                </a:solidFill>
                <a:latin typeface="Calibri"/>
              </a:rPr>
              <a:t>?  List each violation with its cite.</a:t>
            </a:r>
          </a:p>
          <a:p>
            <a:pPr algn="l">
              <a:spcAft>
                <a:spcPts val="800"/>
              </a:spcAft>
            </a:pPr>
            <a:r>
              <a:rPr sz="1100" b="0">
                <a:solidFill>
                  <a:srgbClr val="1A1A1A"/>
                </a:solidFill>
                <a:latin typeface="Calibri"/>
              </a:rPr>
              <a:t>?  Draft the corrective action for the ramp slope.</a:t>
            </a:r>
          </a:p>
          <a:p>
            <a:pPr algn="l">
              <a:spcAft>
                <a:spcPts val="800"/>
              </a:spcAft>
            </a:pPr>
            <a:r>
              <a:rPr sz="1100" b="0">
                <a:solidFill>
                  <a:srgbClr val="1A1A1A"/>
                </a:solidFill>
                <a:latin typeface="Calibri"/>
              </a:rPr>
              <a:t>?  Identify the Program Access issue (if any).</a:t>
            </a:r>
          </a:p>
        </p:txBody>
      </p:sp>
      <p:sp>
        <p:nvSpPr>
          <p:cNvPr id="18" name="TextBox 17"/>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9" name="TextBox 18"/>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59 / 63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60 · CASE STUDY</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Case study #1 — answer key</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11247120" cy="365760"/>
          </a:xfrm>
          <a:prstGeom prst="rect">
            <a:avLst/>
          </a:prstGeom>
          <a:noFill/>
        </p:spPr>
        <p:txBody>
          <a:bodyPr wrap="square" lIns="45720" rIns="45720" tIns="18288" bIns="18288" anchor="t">
            <a:spAutoFit/>
          </a:bodyPr>
          <a:lstStyle/>
          <a:p>
            <a:pPr algn="l"/>
            <a:r>
              <a:rPr sz="1400" b="1" i="0">
                <a:solidFill>
                  <a:srgbClr val="1A2744"/>
                </a:solidFill>
                <a:latin typeface="Calibri"/>
              </a:rPr>
              <a:t>Element-by-element standards application:</a:t>
            </a:r>
          </a:p>
        </p:txBody>
      </p:sp>
      <p:sp>
        <p:nvSpPr>
          <p:cNvPr id="10" name="Rectangle 9"/>
          <p:cNvSpPr/>
          <p:nvPr/>
        </p:nvSpPr>
        <p:spPr>
          <a:xfrm>
            <a:off x="502920" y="1874519"/>
            <a:ext cx="685800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74519"/>
            <a:ext cx="6675120" cy="457200"/>
          </a:xfrm>
          <a:prstGeom prst="rect">
            <a:avLst/>
          </a:prstGeom>
          <a:noFill/>
        </p:spPr>
        <p:txBody>
          <a:bodyPr wrap="square" lIns="45720" rIns="45720" tIns="18288" bIns="18288" anchor="ctr">
            <a:spAutoFit/>
          </a:bodyPr>
          <a:lstStyle/>
          <a:p>
            <a:pPr algn="l"/>
            <a:r>
              <a:rPr sz="1100" b="1" i="0">
                <a:solidFill>
                  <a:srgbClr val="1A2744"/>
                </a:solidFill>
                <a:latin typeface="Calibri"/>
              </a:rPr>
              <a:t>Original shop building (1979, no alterations)</a:t>
            </a:r>
          </a:p>
        </p:txBody>
      </p:sp>
      <p:sp>
        <p:nvSpPr>
          <p:cNvPr id="12" name="Rectangle 11"/>
          <p:cNvSpPr/>
          <p:nvPr/>
        </p:nvSpPr>
        <p:spPr>
          <a:xfrm>
            <a:off x="7589520" y="1975103"/>
            <a:ext cx="4114800" cy="256032"/>
          </a:xfrm>
          <a:prstGeom prst="rect">
            <a:avLst/>
          </a:prstGeom>
          <a:solidFill>
            <a:srgbClr val="FEF9C3"/>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975103"/>
            <a:ext cx="4114800" cy="256032"/>
          </a:xfrm>
          <a:prstGeom prst="rect">
            <a:avLst/>
          </a:prstGeom>
          <a:noFill/>
        </p:spPr>
        <p:txBody>
          <a:bodyPr wrap="square" lIns="45720" rIns="45720" tIns="18288" bIns="18288" anchor="ctr">
            <a:spAutoFit/>
          </a:bodyPr>
          <a:lstStyle/>
          <a:p>
            <a:pPr algn="ctr"/>
            <a:r>
              <a:rPr sz="1000" b="1" i="0">
                <a:solidFill>
                  <a:srgbClr val="713F12"/>
                </a:solidFill>
                <a:latin typeface="Consolas"/>
              </a:rPr>
              <a:t>ANSI A117.1 (1961 R1971)</a:t>
            </a:r>
          </a:p>
        </p:txBody>
      </p:sp>
      <p:sp>
        <p:nvSpPr>
          <p:cNvPr id="14" name="Rectangle 13"/>
          <p:cNvSpPr/>
          <p:nvPr/>
        </p:nvSpPr>
        <p:spPr>
          <a:xfrm>
            <a:off x="502920" y="2423160"/>
            <a:ext cx="685800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423160"/>
            <a:ext cx="6675120" cy="457200"/>
          </a:xfrm>
          <a:prstGeom prst="rect">
            <a:avLst/>
          </a:prstGeom>
          <a:noFill/>
        </p:spPr>
        <p:txBody>
          <a:bodyPr wrap="square" lIns="45720" rIns="45720" tIns="18288" bIns="18288" anchor="ctr">
            <a:spAutoFit/>
          </a:bodyPr>
          <a:lstStyle/>
          <a:p>
            <a:pPr algn="l"/>
            <a:r>
              <a:rPr sz="1100" b="1" i="0">
                <a:solidFill>
                  <a:srgbClr val="1A2744"/>
                </a:solidFill>
                <a:latin typeface="Calibri"/>
              </a:rPr>
              <a:t>South ramp + handrails (built 2018)</a:t>
            </a:r>
          </a:p>
        </p:txBody>
      </p:sp>
      <p:sp>
        <p:nvSpPr>
          <p:cNvPr id="16" name="Rectangle 15"/>
          <p:cNvSpPr/>
          <p:nvPr/>
        </p:nvSpPr>
        <p:spPr>
          <a:xfrm>
            <a:off x="7589520" y="2523744"/>
            <a:ext cx="4114800" cy="256032"/>
          </a:xfrm>
          <a:prstGeom prst="rect">
            <a:avLst/>
          </a:prstGeom>
          <a:solidFill>
            <a:srgbClr val="FEE2E2"/>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2523744"/>
            <a:ext cx="4114800" cy="256032"/>
          </a:xfrm>
          <a:prstGeom prst="rect">
            <a:avLst/>
          </a:prstGeom>
          <a:noFill/>
        </p:spPr>
        <p:txBody>
          <a:bodyPr wrap="square" lIns="45720" rIns="45720" tIns="18288" bIns="18288" anchor="ctr">
            <a:spAutoFit/>
          </a:bodyPr>
          <a:lstStyle/>
          <a:p>
            <a:pPr algn="ctr"/>
            <a:r>
              <a:rPr sz="1000" b="1" i="0">
                <a:solidFill>
                  <a:srgbClr val="7F1D1D"/>
                </a:solidFill>
                <a:latin typeface="Consolas"/>
              </a:rPr>
              <a:t>2010 ADA</a:t>
            </a:r>
          </a:p>
        </p:txBody>
      </p:sp>
      <p:sp>
        <p:nvSpPr>
          <p:cNvPr id="18" name="Rectangle 17"/>
          <p:cNvSpPr/>
          <p:nvPr/>
        </p:nvSpPr>
        <p:spPr>
          <a:xfrm>
            <a:off x="502920" y="2971800"/>
            <a:ext cx="685800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971800"/>
            <a:ext cx="6675120" cy="457200"/>
          </a:xfrm>
          <a:prstGeom prst="rect">
            <a:avLst/>
          </a:prstGeom>
          <a:noFill/>
        </p:spPr>
        <p:txBody>
          <a:bodyPr wrap="square" lIns="45720" rIns="45720" tIns="18288" bIns="18288" anchor="ctr">
            <a:spAutoFit/>
          </a:bodyPr>
          <a:lstStyle/>
          <a:p>
            <a:pPr algn="l"/>
            <a:r>
              <a:rPr sz="1100" b="1" i="0">
                <a:solidFill>
                  <a:srgbClr val="1A2744"/>
                </a:solidFill>
                <a:latin typeface="Calibri"/>
              </a:rPr>
              <a:t>ISA signage at south door (installed 2018)</a:t>
            </a:r>
          </a:p>
        </p:txBody>
      </p:sp>
      <p:sp>
        <p:nvSpPr>
          <p:cNvPr id="20" name="Rectangle 19"/>
          <p:cNvSpPr/>
          <p:nvPr/>
        </p:nvSpPr>
        <p:spPr>
          <a:xfrm>
            <a:off x="7589520" y="3072384"/>
            <a:ext cx="4114800" cy="256032"/>
          </a:xfrm>
          <a:prstGeom prst="rect">
            <a:avLst/>
          </a:prstGeom>
          <a:solidFill>
            <a:srgbClr val="FEE2E2"/>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0" y="3072384"/>
            <a:ext cx="4114800" cy="256032"/>
          </a:xfrm>
          <a:prstGeom prst="rect">
            <a:avLst/>
          </a:prstGeom>
          <a:noFill/>
        </p:spPr>
        <p:txBody>
          <a:bodyPr wrap="square" lIns="45720" rIns="45720" tIns="18288" bIns="18288" anchor="ctr">
            <a:spAutoFit/>
          </a:bodyPr>
          <a:lstStyle/>
          <a:p>
            <a:pPr algn="ctr"/>
            <a:r>
              <a:rPr sz="1000" b="1" i="0">
                <a:solidFill>
                  <a:srgbClr val="7F1D1D"/>
                </a:solidFill>
                <a:latin typeface="Consolas"/>
              </a:rPr>
              <a:t>2010 ADA</a:t>
            </a:r>
          </a:p>
        </p:txBody>
      </p:sp>
      <p:sp>
        <p:nvSpPr>
          <p:cNvPr id="22" name="Rectangle 21"/>
          <p:cNvSpPr/>
          <p:nvPr/>
        </p:nvSpPr>
        <p:spPr>
          <a:xfrm>
            <a:off x="502920" y="3520439"/>
            <a:ext cx="685800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520439"/>
            <a:ext cx="6675120" cy="457200"/>
          </a:xfrm>
          <a:prstGeom prst="rect">
            <a:avLst/>
          </a:prstGeom>
          <a:noFill/>
        </p:spPr>
        <p:txBody>
          <a:bodyPr wrap="square" lIns="45720" rIns="45720" tIns="18288" bIns="18288" anchor="ctr">
            <a:spAutoFit/>
          </a:bodyPr>
          <a:lstStyle/>
          <a:p>
            <a:pPr algn="l"/>
            <a:r>
              <a:rPr sz="1100" b="1" i="0">
                <a:solidFill>
                  <a:srgbClr val="1A2744"/>
                </a:solidFill>
                <a:latin typeface="Calibri"/>
              </a:rPr>
              <a:t>Welding booths (original 1979 construction)</a:t>
            </a:r>
          </a:p>
        </p:txBody>
      </p:sp>
      <p:sp>
        <p:nvSpPr>
          <p:cNvPr id="24" name="Rectangle 23"/>
          <p:cNvSpPr/>
          <p:nvPr/>
        </p:nvSpPr>
        <p:spPr>
          <a:xfrm>
            <a:off x="7589520" y="3621023"/>
            <a:ext cx="4114800" cy="256032"/>
          </a:xfrm>
          <a:prstGeom prst="rect">
            <a:avLst/>
          </a:prstGeom>
          <a:solidFill>
            <a:srgbClr val="FEF9C3"/>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0" y="3621023"/>
            <a:ext cx="4114800" cy="256032"/>
          </a:xfrm>
          <a:prstGeom prst="rect">
            <a:avLst/>
          </a:prstGeom>
          <a:noFill/>
        </p:spPr>
        <p:txBody>
          <a:bodyPr wrap="square" lIns="45720" rIns="45720" tIns="18288" bIns="18288" anchor="ctr">
            <a:spAutoFit/>
          </a:bodyPr>
          <a:lstStyle/>
          <a:p>
            <a:pPr algn="ctr"/>
            <a:r>
              <a:rPr sz="1000" b="1" i="0">
                <a:solidFill>
                  <a:srgbClr val="713F12"/>
                </a:solidFill>
                <a:latin typeface="Consolas"/>
              </a:rPr>
              <a:t>ANSI A117.1 (1961 R1971)</a:t>
            </a:r>
          </a:p>
        </p:txBody>
      </p:sp>
      <p:sp>
        <p:nvSpPr>
          <p:cNvPr id="26" name="Rectangle 25"/>
          <p:cNvSpPr/>
          <p:nvPr/>
        </p:nvSpPr>
        <p:spPr>
          <a:xfrm>
            <a:off x="502920" y="4069079"/>
            <a:ext cx="6858000" cy="457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069079"/>
            <a:ext cx="6675120" cy="457200"/>
          </a:xfrm>
          <a:prstGeom prst="rect">
            <a:avLst/>
          </a:prstGeom>
          <a:noFill/>
        </p:spPr>
        <p:txBody>
          <a:bodyPr wrap="square" lIns="45720" rIns="45720" tIns="18288" bIns="18288" anchor="ctr">
            <a:spAutoFit/>
          </a:bodyPr>
          <a:lstStyle/>
          <a:p>
            <a:pPr algn="l"/>
            <a:r>
              <a:rPr sz="1100" b="1" i="0">
                <a:solidFill>
                  <a:srgbClr val="1A2744"/>
                </a:solidFill>
                <a:latin typeface="Calibri"/>
              </a:rPr>
              <a:t>Workbenches (original 1979)</a:t>
            </a:r>
          </a:p>
        </p:txBody>
      </p:sp>
      <p:sp>
        <p:nvSpPr>
          <p:cNvPr id="28" name="Rectangle 27"/>
          <p:cNvSpPr/>
          <p:nvPr/>
        </p:nvSpPr>
        <p:spPr>
          <a:xfrm>
            <a:off x="7589520" y="4169663"/>
            <a:ext cx="4114800" cy="256032"/>
          </a:xfrm>
          <a:prstGeom prst="rect">
            <a:avLst/>
          </a:prstGeom>
          <a:solidFill>
            <a:srgbClr val="FEF9C3"/>
          </a:solidFill>
          <a:ln w="6350">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0" y="4169663"/>
            <a:ext cx="4114800" cy="256032"/>
          </a:xfrm>
          <a:prstGeom prst="rect">
            <a:avLst/>
          </a:prstGeom>
          <a:noFill/>
        </p:spPr>
        <p:txBody>
          <a:bodyPr wrap="square" lIns="45720" rIns="45720" tIns="18288" bIns="18288" anchor="ctr">
            <a:spAutoFit/>
          </a:bodyPr>
          <a:lstStyle/>
          <a:p>
            <a:pPr algn="ctr"/>
            <a:r>
              <a:rPr sz="1000" b="1" i="0">
                <a:solidFill>
                  <a:srgbClr val="713F12"/>
                </a:solidFill>
                <a:latin typeface="Consolas"/>
              </a:rPr>
              <a:t>ANSI A117.1 — but ANSI is silent on workstation specs</a:t>
            </a:r>
          </a:p>
        </p:txBody>
      </p:sp>
      <p:sp>
        <p:nvSpPr>
          <p:cNvPr id="30" name="TextBox 29"/>
          <p:cNvSpPr txBox="1"/>
          <p:nvPr/>
        </p:nvSpPr>
        <p:spPr>
          <a:xfrm>
            <a:off x="502920" y="4709160"/>
            <a:ext cx="11247120" cy="365760"/>
          </a:xfrm>
          <a:prstGeom prst="rect">
            <a:avLst/>
          </a:prstGeom>
          <a:noFill/>
        </p:spPr>
        <p:txBody>
          <a:bodyPr wrap="square" lIns="45720" rIns="45720" tIns="18288" bIns="18288" anchor="t">
            <a:spAutoFit/>
          </a:bodyPr>
          <a:lstStyle/>
          <a:p>
            <a:pPr algn="l"/>
            <a:r>
              <a:rPr sz="1400" b="1" i="0">
                <a:solidFill>
                  <a:srgbClr val="1A2744"/>
                </a:solidFill>
                <a:latin typeface="Calibri"/>
              </a:rPr>
              <a:t>Violations + correctives (note: violation cite varies; corrective always 2010 ADA):</a:t>
            </a:r>
          </a:p>
        </p:txBody>
      </p:sp>
      <p:sp>
        <p:nvSpPr>
          <p:cNvPr id="31" name="TextBox 30"/>
          <p:cNvSpPr txBox="1"/>
          <p:nvPr/>
        </p:nvSpPr>
        <p:spPr>
          <a:xfrm>
            <a:off x="502920" y="5074920"/>
            <a:ext cx="11247120" cy="1645920"/>
          </a:xfrm>
          <a:prstGeom prst="rect">
            <a:avLst/>
          </a:prstGeom>
          <a:noFill/>
        </p:spPr>
        <p:txBody>
          <a:bodyPr wrap="square" lIns="45720" rIns="45720">
            <a:spAutoFit/>
          </a:bodyPr>
          <a:lstStyle/>
          <a:p>
            <a:pPr algn="l">
              <a:spcAft>
                <a:spcPts val="400"/>
              </a:spcAft>
            </a:pPr>
            <a:r>
              <a:rPr sz="1100" b="0">
                <a:solidFill>
                  <a:srgbClr val="1A1A1A"/>
                </a:solidFill>
                <a:latin typeface="Calibri"/>
              </a:rPr>
              <a:t>•  Ramp slope 1:11  →  VIOLATION: 2010 ADA § 405.2 (built 2018; 1:12 max).  CORRECTIVE: 2010 ADA § 405.2.</a:t>
            </a:r>
          </a:p>
          <a:p>
            <a:pPr algn="l">
              <a:spcAft>
                <a:spcPts val="400"/>
              </a:spcAft>
            </a:pPr>
            <a:r>
              <a:rPr sz="1100" b="0">
                <a:solidFill>
                  <a:srgbClr val="1A1A1A"/>
                </a:solidFill>
                <a:latin typeface="Calibri"/>
              </a:rPr>
              <a:t>•  Ramp handrail 32"  →  VIOLATION: 2010 ADA § 505.4 (built 2018).  CORRECTIVE: 2010 ADA § 505.4.</a:t>
            </a:r>
          </a:p>
          <a:p>
            <a:pPr algn="l">
              <a:spcAft>
                <a:spcPts val="400"/>
              </a:spcAft>
            </a:pPr>
            <a:r>
              <a:rPr sz="1100" b="0">
                <a:solidFill>
                  <a:srgbClr val="1A1A1A"/>
                </a:solidFill>
                <a:latin typeface="Calibri"/>
              </a:rPr>
              <a:t>•  ISA sign 62"  →  VIOLATION: 2010 ADA § 703.4.1 (installed 2018).  CORRECTIVE: 2010 ADA § 703.4.1.</a:t>
            </a:r>
          </a:p>
          <a:p>
            <a:pPr algn="l">
              <a:spcAft>
                <a:spcPts val="400"/>
              </a:spcAft>
            </a:pPr>
            <a:r>
              <a:rPr sz="1100" b="0">
                <a:solidFill>
                  <a:srgbClr val="1A1A1A"/>
                </a:solidFill>
                <a:latin typeface="Calibri"/>
              </a:rPr>
              <a:t>•  Welding booth frame 30" (1979 element)  →  No coded violation; ANSI 1961 silent on welding booths. Program-access narrative recommendation only.</a:t>
            </a:r>
          </a:p>
        </p:txBody>
      </p:sp>
      <p:sp>
        <p:nvSpPr>
          <p:cNvPr id="32" name="TextBox 31"/>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33" name="TextBox 32"/>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60 / 63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61 · CASE STUDY</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Case study #2 — 2014 culinary classroom</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7315200" cy="5029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17320"/>
            <a:ext cx="731520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7315200" cy="411480"/>
          </a:xfrm>
          <a:prstGeom prst="rect">
            <a:avLst/>
          </a:prstGeom>
          <a:noFill/>
        </p:spPr>
        <p:txBody>
          <a:bodyPr wrap="square" lIns="45720" rIns="45720" tIns="18288" bIns="18288" anchor="ctr">
            <a:spAutoFit/>
          </a:bodyPr>
          <a:lstStyle/>
          <a:p>
            <a:pPr algn="ctr"/>
            <a:r>
              <a:rPr sz="1100" b="1" i="0">
                <a:solidFill>
                  <a:srgbClr val="C8A84B"/>
                </a:solidFill>
                <a:latin typeface="Consolas"/>
              </a:rPr>
              <a:t>SCENARIO</a:t>
            </a:r>
          </a:p>
        </p:txBody>
      </p:sp>
      <p:sp>
        <p:nvSpPr>
          <p:cNvPr id="12" name="TextBox 11"/>
          <p:cNvSpPr txBox="1"/>
          <p:nvPr/>
        </p:nvSpPr>
        <p:spPr>
          <a:xfrm>
            <a:off x="685800" y="1874519"/>
            <a:ext cx="6949440" cy="4526280"/>
          </a:xfrm>
          <a:prstGeom prst="rect">
            <a:avLst/>
          </a:prstGeom>
          <a:noFill/>
        </p:spPr>
        <p:txBody>
          <a:bodyPr wrap="square" lIns="45720" rIns="45720" tIns="18288" bIns="18288" anchor="t">
            <a:spAutoFit/>
          </a:bodyPr>
          <a:lstStyle/>
          <a:p>
            <a:pPr algn="l"/>
            <a:r>
              <a:rPr sz="1100" b="0" i="0">
                <a:solidFill>
                  <a:srgbClr val="1A1A1A"/>
                </a:solidFill>
                <a:latin typeface="Calibri"/>
              </a:rPr>
              <a:t>Bay Shore High School — Hospitality, Tourism &amp; Recreation pathway.</a:t>
            </a:r>
          </a:p>
          <a:p>
            <a:pPr algn="l"/>
            <a:r>
              <a:rPr sz="1100" b="0" i="0">
                <a:solidFill>
                  <a:srgbClr val="1A1A1A"/>
                </a:solidFill>
                <a:latin typeface="Calibri"/>
              </a:rPr>
              <a:t/>
            </a:r>
          </a:p>
          <a:p>
            <a:pPr algn="l"/>
            <a:r>
              <a:rPr sz="1100" b="0" i="0">
                <a:solidFill>
                  <a:srgbClr val="1A1A1A"/>
                </a:solidFill>
                <a:latin typeface="Calibri"/>
              </a:rPr>
              <a:t>Culinary classroom built 2014 (single construction event, no alterations).</a:t>
            </a:r>
          </a:p>
          <a:p>
            <a:pPr algn="l"/>
            <a:r>
              <a:rPr sz="1100" b="0" i="0">
                <a:solidFill>
                  <a:srgbClr val="1A1A1A"/>
                </a:solidFill>
                <a:latin typeface="Calibri"/>
              </a:rPr>
              <a:t/>
            </a:r>
          </a:p>
          <a:p>
            <a:pPr algn="l"/>
            <a:r>
              <a:rPr sz="1100" b="0" i="0">
                <a:solidFill>
                  <a:srgbClr val="1A1A1A"/>
                </a:solidFill>
                <a:latin typeface="Calibri"/>
              </a:rPr>
              <a:t>Field measurements:</a:t>
            </a:r>
          </a:p>
          <a:p>
            <a:pPr algn="l"/>
            <a:r>
              <a:rPr sz="1100" b="0" i="0">
                <a:solidFill>
                  <a:srgbClr val="1A1A1A"/>
                </a:solidFill>
                <a:latin typeface="Calibri"/>
              </a:rPr>
              <a:t>  • 12 student prep stations — all at 36" with full-skirt cabinets, no knee clearance</a:t>
            </a:r>
          </a:p>
          <a:p>
            <a:pPr algn="l"/>
            <a:r>
              <a:rPr sz="1100" b="0" i="0">
                <a:solidFill>
                  <a:srgbClr val="1A1A1A"/>
                </a:solidFill>
                <a:latin typeface="Calibri"/>
              </a:rPr>
              <a:t>  • 4 cooktops — all at 36" with no knee clearance</a:t>
            </a:r>
          </a:p>
          <a:p>
            <a:pPr algn="l"/>
            <a:r>
              <a:rPr sz="1100" b="0" i="0">
                <a:solidFill>
                  <a:srgbClr val="1A1A1A"/>
                </a:solidFill>
                <a:latin typeface="Calibri"/>
              </a:rPr>
              <a:t>  • 1 designated 'ADA prep cart' — 34" stainless cart with knee clearance, currently stored in a side closet</a:t>
            </a:r>
          </a:p>
          <a:p>
            <a:pPr algn="l"/>
            <a:r>
              <a:rPr sz="1100" b="0" i="0">
                <a:solidFill>
                  <a:srgbClr val="1A1A1A"/>
                </a:solidFill>
                <a:latin typeface="Calibri"/>
              </a:rPr>
              <a:t>  • Dish-pit spray-arm controls at 50" reach over a 14" deep counter</a:t>
            </a:r>
          </a:p>
          <a:p>
            <a:pPr algn="l"/>
            <a:r>
              <a:rPr sz="1100" b="0" i="0">
                <a:solidFill>
                  <a:srgbClr val="1A1A1A"/>
                </a:solidFill>
                <a:latin typeface="Calibri"/>
              </a:rPr>
              <a:t>  • Walk-in pantry door clear width 31"</a:t>
            </a:r>
          </a:p>
          <a:p>
            <a:pPr algn="l"/>
            <a:r>
              <a:rPr sz="1100" b="0" i="0">
                <a:solidFill>
                  <a:srgbClr val="1A1A1A"/>
                </a:solidFill>
                <a:latin typeface="Calibri"/>
              </a:rPr>
              <a:t>  • Hand-wash sink lavatory rim height 37"</a:t>
            </a:r>
          </a:p>
          <a:p>
            <a:pPr algn="l"/>
            <a:r>
              <a:rPr sz="1100" b="0" i="0">
                <a:solidFill>
                  <a:srgbClr val="1A1A1A"/>
                </a:solidFill>
                <a:latin typeface="Calibri"/>
              </a:rPr>
              <a:t>  • Tray-slide service line at 36"</a:t>
            </a:r>
          </a:p>
          <a:p>
            <a:pPr algn="l"/>
            <a:r>
              <a:rPr sz="1100" b="0" i="0">
                <a:solidFill>
                  <a:srgbClr val="1A1A1A"/>
                </a:solidFill>
                <a:latin typeface="Calibri"/>
              </a:rPr>
              <a:t/>
            </a:r>
          </a:p>
          <a:p>
            <a:pPr algn="l"/>
            <a:r>
              <a:rPr sz="1100" b="0" i="0">
                <a:solidFill>
                  <a:srgbClr val="1A1A1A"/>
                </a:solidFill>
                <a:latin typeface="Calibri"/>
              </a:rPr>
              <a:t>LEA's position: 'We have an accessible prep cart that we wheel out as needed.'</a:t>
            </a:r>
          </a:p>
        </p:txBody>
      </p:sp>
      <p:sp>
        <p:nvSpPr>
          <p:cNvPr id="13" name="Rectangle 12"/>
          <p:cNvSpPr/>
          <p:nvPr/>
        </p:nvSpPr>
        <p:spPr>
          <a:xfrm>
            <a:off x="8092440" y="1417320"/>
            <a:ext cx="3657600" cy="502920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417320"/>
            <a:ext cx="365760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1417320"/>
            <a:ext cx="3657600" cy="411480"/>
          </a:xfrm>
          <a:prstGeom prst="rect">
            <a:avLst/>
          </a:prstGeom>
          <a:noFill/>
        </p:spPr>
        <p:txBody>
          <a:bodyPr wrap="square" lIns="45720" rIns="45720" tIns="18288" bIns="18288" anchor="ctr">
            <a:spAutoFit/>
          </a:bodyPr>
          <a:lstStyle/>
          <a:p>
            <a:pPr algn="ctr"/>
            <a:r>
              <a:rPr sz="1100" b="1" i="0">
                <a:solidFill>
                  <a:srgbClr val="C8A84B"/>
                </a:solidFill>
                <a:latin typeface="Consolas"/>
              </a:rPr>
              <a:t>YOUR TASKS</a:t>
            </a:r>
          </a:p>
        </p:txBody>
      </p:sp>
      <p:sp>
        <p:nvSpPr>
          <p:cNvPr id="16" name="TextBox 15"/>
          <p:cNvSpPr txBox="1"/>
          <p:nvPr/>
        </p:nvSpPr>
        <p:spPr>
          <a:xfrm>
            <a:off x="8275320" y="1920240"/>
            <a:ext cx="3383280" cy="4389120"/>
          </a:xfrm>
          <a:prstGeom prst="rect">
            <a:avLst/>
          </a:prstGeom>
          <a:noFill/>
        </p:spPr>
        <p:txBody>
          <a:bodyPr wrap="square" lIns="45720" rIns="45720">
            <a:spAutoFit/>
          </a:bodyPr>
          <a:lstStyle/>
          <a:p>
            <a:pPr algn="l">
              <a:spcAft>
                <a:spcPts val="1000"/>
              </a:spcAft>
            </a:pPr>
            <a:r>
              <a:rPr sz="1100" b="0">
                <a:solidFill>
                  <a:srgbClr val="1A1A1A"/>
                </a:solidFill>
                <a:latin typeface="Calibri"/>
              </a:rPr>
              <a:t>?  Which standard applies?</a:t>
            </a:r>
          </a:p>
          <a:p>
            <a:pPr algn="l">
              <a:spcAft>
                <a:spcPts val="1000"/>
              </a:spcAft>
            </a:pPr>
            <a:r>
              <a:rPr sz="1100" b="0">
                <a:solidFill>
                  <a:srgbClr val="1A1A1A"/>
                </a:solidFill>
                <a:latin typeface="Calibri"/>
              </a:rPr>
              <a:t>?  How do you respond to the LEA's 'mobile cart' position?</a:t>
            </a:r>
          </a:p>
          <a:p>
            <a:pPr algn="l">
              <a:spcAft>
                <a:spcPts val="1000"/>
              </a:spcAft>
            </a:pPr>
            <a:r>
              <a:rPr sz="1100" b="0">
                <a:solidFill>
                  <a:srgbClr val="1A1A1A"/>
                </a:solidFill>
                <a:latin typeface="Calibri"/>
              </a:rPr>
              <a:t>?  Identify each dimensional violation with its cite.</a:t>
            </a:r>
          </a:p>
          <a:p>
            <a:pPr algn="l">
              <a:spcAft>
                <a:spcPts val="1000"/>
              </a:spcAft>
            </a:pPr>
            <a:r>
              <a:rPr sz="1100" b="0">
                <a:solidFill>
                  <a:srgbClr val="1A1A1A"/>
                </a:solidFill>
                <a:latin typeface="Calibri"/>
              </a:rPr>
              <a:t>?  Draft corrective actions.</a:t>
            </a:r>
          </a:p>
          <a:p>
            <a:pPr algn="l">
              <a:spcAft>
                <a:spcPts val="1000"/>
              </a:spcAft>
            </a:pPr>
            <a:r>
              <a:rPr sz="1100" b="0">
                <a:solidFill>
                  <a:srgbClr val="1A1A1A"/>
                </a:solidFill>
                <a:latin typeface="Calibri"/>
              </a:rPr>
              <a:t>?  Does the dish-pit reach problem need an obstructed-reach analysis?</a:t>
            </a:r>
          </a:p>
        </p:txBody>
      </p:sp>
      <p:sp>
        <p:nvSpPr>
          <p:cNvPr id="17" name="TextBox 16"/>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18" name="TextBox 17"/>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61 / 63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4592"/>
            <a:ext cx="12191695" cy="36576"/>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84048"/>
            <a:ext cx="2377440" cy="292608"/>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84048"/>
            <a:ext cx="2377440" cy="292608"/>
          </a:xfrm>
          <a:prstGeom prst="rect">
            <a:avLst/>
          </a:prstGeom>
          <a:noFill/>
        </p:spPr>
        <p:txBody>
          <a:bodyPr wrap="square" lIns="45720" rIns="45720" tIns="18288" bIns="18288" anchor="ctr">
            <a:spAutoFit/>
          </a:bodyPr>
          <a:lstStyle/>
          <a:p>
            <a:pPr algn="ctr"/>
            <a:r>
              <a:rPr sz="1000" b="1" i="0">
                <a:solidFill>
                  <a:srgbClr val="C8A84B"/>
                </a:solidFill>
                <a:latin typeface="Consolas"/>
              </a:rPr>
              <a:t>SLIDE 62 · WRAP-UP</a:t>
            </a:r>
          </a:p>
        </p:txBody>
      </p:sp>
      <p:sp>
        <p:nvSpPr>
          <p:cNvPr id="7" name="TextBox 6"/>
          <p:cNvSpPr txBox="1"/>
          <p:nvPr/>
        </p:nvSpPr>
        <p:spPr>
          <a:xfrm>
            <a:off x="457200" y="777240"/>
            <a:ext cx="11247120" cy="640080"/>
          </a:xfrm>
          <a:prstGeom prst="rect">
            <a:avLst/>
          </a:prstGeom>
          <a:noFill/>
        </p:spPr>
        <p:txBody>
          <a:bodyPr wrap="square" lIns="45720" rIns="45720" tIns="18288" bIns="18288" anchor="t">
            <a:spAutoFit/>
          </a:bodyPr>
          <a:lstStyle/>
          <a:p>
            <a:pPr algn="l"/>
            <a:r>
              <a:rPr sz="3000" b="1" i="0">
                <a:solidFill>
                  <a:srgbClr val="1A2744"/>
                </a:solidFill>
                <a:latin typeface="Georgia"/>
              </a:rPr>
              <a:t>Resources &amp; references</a:t>
            </a:r>
          </a:p>
        </p:txBody>
      </p:sp>
      <p:sp>
        <p:nvSpPr>
          <p:cNvPr id="8" name="Rectangle 7"/>
          <p:cNvSpPr/>
          <p:nvPr/>
        </p:nvSpPr>
        <p:spPr>
          <a:xfrm>
            <a:off x="0" y="6675120"/>
            <a:ext cx="12191695" cy="18288"/>
          </a:xfrm>
          <a:prstGeom prst="rect">
            <a:avLst/>
          </a:prstGeom>
          <a:solidFill>
            <a:srgbClr val="D4C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36576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17320"/>
            <a:ext cx="365760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3657600" cy="411480"/>
          </a:xfrm>
          <a:prstGeom prst="rect">
            <a:avLst/>
          </a:prstGeom>
          <a:noFill/>
        </p:spPr>
        <p:txBody>
          <a:bodyPr wrap="square" lIns="45720" rIns="45720" tIns="18288" bIns="18288" anchor="ctr">
            <a:spAutoFit/>
          </a:bodyPr>
          <a:lstStyle/>
          <a:p>
            <a:pPr algn="ctr"/>
            <a:r>
              <a:rPr sz="1100" b="1" i="0">
                <a:solidFill>
                  <a:srgbClr val="C8A84B"/>
                </a:solidFill>
                <a:latin typeface="Consolas"/>
              </a:rPr>
              <a:t>STANDARDS DOCUMENTS</a:t>
            </a:r>
          </a:p>
        </p:txBody>
      </p:sp>
      <p:sp>
        <p:nvSpPr>
          <p:cNvPr id="12" name="TextBox 11"/>
          <p:cNvSpPr txBox="1"/>
          <p:nvPr/>
        </p:nvSpPr>
        <p:spPr>
          <a:xfrm>
            <a:off x="640080" y="192024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28 CFR Part 35</a:t>
            </a:r>
          </a:p>
        </p:txBody>
      </p:sp>
      <p:sp>
        <p:nvSpPr>
          <p:cNvPr id="13" name="TextBox 12"/>
          <p:cNvSpPr txBox="1"/>
          <p:nvPr/>
        </p:nvSpPr>
        <p:spPr>
          <a:xfrm>
            <a:off x="640080" y="214884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Title II ADA regulation; App. B = 2010 ADA</a:t>
            </a:r>
          </a:p>
        </p:txBody>
      </p:sp>
      <p:sp>
        <p:nvSpPr>
          <p:cNvPr id="14" name="TextBox 13"/>
          <p:cNvSpPr txBox="1"/>
          <p:nvPr/>
        </p:nvSpPr>
        <p:spPr>
          <a:xfrm>
            <a:off x="640080" y="251460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28 CFR Part 36 App. D</a:t>
            </a:r>
          </a:p>
        </p:txBody>
      </p:sp>
      <p:sp>
        <p:nvSpPr>
          <p:cNvPr id="15" name="TextBox 14"/>
          <p:cNvSpPr txBox="1"/>
          <p:nvPr/>
        </p:nvSpPr>
        <p:spPr>
          <a:xfrm>
            <a:off x="640080" y="274320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1991 ADA Standards (ADAAG)</a:t>
            </a:r>
          </a:p>
        </p:txBody>
      </p:sp>
      <p:sp>
        <p:nvSpPr>
          <p:cNvPr id="16" name="TextBox 15"/>
          <p:cNvSpPr txBox="1"/>
          <p:nvPr/>
        </p:nvSpPr>
        <p:spPr>
          <a:xfrm>
            <a:off x="640080" y="310896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34 CFR Part 104</a:t>
            </a:r>
          </a:p>
        </p:txBody>
      </p:sp>
      <p:sp>
        <p:nvSpPr>
          <p:cNvPr id="17" name="TextBox 16"/>
          <p:cNvSpPr txBox="1"/>
          <p:nvPr/>
        </p:nvSpPr>
        <p:spPr>
          <a:xfrm>
            <a:off x="640080" y="333756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 504 regulation. §§ 104.22 / 104.23 are core.</a:t>
            </a:r>
          </a:p>
        </p:txBody>
      </p:sp>
      <p:sp>
        <p:nvSpPr>
          <p:cNvPr id="18" name="TextBox 17"/>
          <p:cNvSpPr txBox="1"/>
          <p:nvPr/>
        </p:nvSpPr>
        <p:spPr>
          <a:xfrm>
            <a:off x="640080" y="370332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ANSI A117.1-1961 (R1971)</a:t>
            </a:r>
          </a:p>
        </p:txBody>
      </p:sp>
      <p:sp>
        <p:nvSpPr>
          <p:cNvPr id="19" name="TextBox 18"/>
          <p:cNvSpPr txBox="1"/>
          <p:nvPr/>
        </p:nvSpPr>
        <p:spPr>
          <a:xfrm>
            <a:off x="640080" y="393192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Original ANSI accessibility standard</a:t>
            </a:r>
          </a:p>
        </p:txBody>
      </p:sp>
      <p:sp>
        <p:nvSpPr>
          <p:cNvPr id="20" name="TextBox 19"/>
          <p:cNvSpPr txBox="1"/>
          <p:nvPr/>
        </p:nvSpPr>
        <p:spPr>
          <a:xfrm>
            <a:off x="640080" y="429768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UFAS (1984)</a:t>
            </a:r>
          </a:p>
        </p:txBody>
      </p:sp>
      <p:sp>
        <p:nvSpPr>
          <p:cNvPr id="21" name="TextBox 20"/>
          <p:cNvSpPr txBox="1"/>
          <p:nvPr/>
        </p:nvSpPr>
        <p:spPr>
          <a:xfrm>
            <a:off x="640080" y="452628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41 CFR § 101-19.6 App. A</a:t>
            </a:r>
          </a:p>
        </p:txBody>
      </p:sp>
      <p:sp>
        <p:nvSpPr>
          <p:cNvPr id="22" name="TextBox 21"/>
          <p:cNvSpPr txBox="1"/>
          <p:nvPr/>
        </p:nvSpPr>
        <p:spPr>
          <a:xfrm>
            <a:off x="640080" y="489204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Access Board guides</a:t>
            </a:r>
          </a:p>
        </p:txBody>
      </p:sp>
      <p:sp>
        <p:nvSpPr>
          <p:cNvPr id="23" name="TextBox 22"/>
          <p:cNvSpPr txBox="1"/>
          <p:nvPr/>
        </p:nvSpPr>
        <p:spPr>
          <a:xfrm>
            <a:off x="640080" y="512064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access-board.gov — Title II tech assistance</a:t>
            </a:r>
          </a:p>
        </p:txBody>
      </p:sp>
      <p:sp>
        <p:nvSpPr>
          <p:cNvPr id="24" name="Rectangle 23"/>
          <p:cNvSpPr/>
          <p:nvPr/>
        </p:nvSpPr>
        <p:spPr>
          <a:xfrm>
            <a:off x="4297680" y="1417320"/>
            <a:ext cx="36576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1417320"/>
            <a:ext cx="365760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97680" y="1417320"/>
            <a:ext cx="3657600" cy="411480"/>
          </a:xfrm>
          <a:prstGeom prst="rect">
            <a:avLst/>
          </a:prstGeom>
          <a:noFill/>
        </p:spPr>
        <p:txBody>
          <a:bodyPr wrap="square" lIns="45720" rIns="45720" tIns="18288" bIns="18288" anchor="ctr">
            <a:spAutoFit/>
          </a:bodyPr>
          <a:lstStyle/>
          <a:p>
            <a:pPr algn="ctr"/>
            <a:r>
              <a:rPr sz="1100" b="1" i="0">
                <a:solidFill>
                  <a:srgbClr val="C8A84B"/>
                </a:solidFill>
                <a:latin typeface="Consolas"/>
              </a:rPr>
              <a:t>FEDERAL GUIDANCE</a:t>
            </a:r>
          </a:p>
        </p:txBody>
      </p:sp>
      <p:sp>
        <p:nvSpPr>
          <p:cNvPr id="27" name="TextBox 26"/>
          <p:cNvSpPr txBox="1"/>
          <p:nvPr/>
        </p:nvSpPr>
        <p:spPr>
          <a:xfrm>
            <a:off x="4434840" y="192024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ADA.gov</a:t>
            </a:r>
          </a:p>
        </p:txBody>
      </p:sp>
      <p:sp>
        <p:nvSpPr>
          <p:cNvPr id="28" name="TextBox 27"/>
          <p:cNvSpPr txBox="1"/>
          <p:nvPr/>
        </p:nvSpPr>
        <p:spPr>
          <a:xfrm>
            <a:off x="4434840" y="214884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DOJ Technical Assistance, settlement archive</a:t>
            </a:r>
          </a:p>
        </p:txBody>
      </p:sp>
      <p:sp>
        <p:nvSpPr>
          <p:cNvPr id="29" name="TextBox 28"/>
          <p:cNvSpPr txBox="1"/>
          <p:nvPr/>
        </p:nvSpPr>
        <p:spPr>
          <a:xfrm>
            <a:off x="4434840" y="251460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Project Civic Access</a:t>
            </a:r>
          </a:p>
        </p:txBody>
      </p:sp>
      <p:sp>
        <p:nvSpPr>
          <p:cNvPr id="30" name="TextBox 29"/>
          <p:cNvSpPr txBox="1"/>
          <p:nvPr/>
        </p:nvSpPr>
        <p:spPr>
          <a:xfrm>
            <a:off x="4434840" y="274320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DOJ K-12 settlement agreements</a:t>
            </a:r>
          </a:p>
        </p:txBody>
      </p:sp>
      <p:sp>
        <p:nvSpPr>
          <p:cNvPr id="31" name="TextBox 30"/>
          <p:cNvSpPr txBox="1"/>
          <p:nvPr/>
        </p:nvSpPr>
        <p:spPr>
          <a:xfrm>
            <a:off x="4434840" y="310896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OCR Case Search</a:t>
            </a:r>
          </a:p>
        </p:txBody>
      </p:sp>
      <p:sp>
        <p:nvSpPr>
          <p:cNvPr id="32" name="TextBox 31"/>
          <p:cNvSpPr txBox="1"/>
          <p:nvPr/>
        </p:nvSpPr>
        <p:spPr>
          <a:xfrm>
            <a:off x="4434840" y="333756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www2.ed.gov/ocr — open case decisions</a:t>
            </a:r>
          </a:p>
        </p:txBody>
      </p:sp>
      <p:sp>
        <p:nvSpPr>
          <p:cNvPr id="33" name="TextBox 32"/>
          <p:cNvSpPr txBox="1"/>
          <p:nvPr/>
        </p:nvSpPr>
        <p:spPr>
          <a:xfrm>
            <a:off x="4434840" y="370332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OCR Dear Colleague letters</a:t>
            </a:r>
          </a:p>
        </p:txBody>
      </p:sp>
      <p:sp>
        <p:nvSpPr>
          <p:cNvPr id="34" name="TextBox 33"/>
          <p:cNvSpPr txBox="1"/>
          <p:nvPr/>
        </p:nvSpPr>
        <p:spPr>
          <a:xfrm>
            <a:off x="4434840" y="393192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Disability-rights guidance for ed agencies</a:t>
            </a:r>
          </a:p>
        </p:txBody>
      </p:sp>
      <p:sp>
        <p:nvSpPr>
          <p:cNvPr id="35" name="TextBox 34"/>
          <p:cNvSpPr txBox="1"/>
          <p:nvPr/>
        </p:nvSpPr>
        <p:spPr>
          <a:xfrm>
            <a:off x="4434840" y="429768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U.S. Access Board</a:t>
            </a:r>
          </a:p>
        </p:txBody>
      </p:sp>
      <p:sp>
        <p:nvSpPr>
          <p:cNvPr id="36" name="TextBox 35"/>
          <p:cNvSpPr txBox="1"/>
          <p:nvPr/>
        </p:nvSpPr>
        <p:spPr>
          <a:xfrm>
            <a:off x="4434840" y="452628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Technical bulletins, animations, training</a:t>
            </a:r>
          </a:p>
        </p:txBody>
      </p:sp>
      <p:sp>
        <p:nvSpPr>
          <p:cNvPr id="37" name="TextBox 36"/>
          <p:cNvSpPr txBox="1"/>
          <p:nvPr/>
        </p:nvSpPr>
        <p:spPr>
          <a:xfrm>
            <a:off x="4434840" y="489204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DSA (CA)</a:t>
            </a:r>
          </a:p>
        </p:txBody>
      </p:sp>
      <p:sp>
        <p:nvSpPr>
          <p:cNvPr id="38" name="TextBox 37"/>
          <p:cNvSpPr txBox="1"/>
          <p:nvPr/>
        </p:nvSpPr>
        <p:spPr>
          <a:xfrm>
            <a:off x="4434840" y="512064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dgs.ca.gov/dsa — CA construction approvals</a:t>
            </a:r>
          </a:p>
        </p:txBody>
      </p:sp>
      <p:sp>
        <p:nvSpPr>
          <p:cNvPr id="39" name="Rectangle 38"/>
          <p:cNvSpPr/>
          <p:nvPr/>
        </p:nvSpPr>
        <p:spPr>
          <a:xfrm>
            <a:off x="8092440" y="1417320"/>
            <a:ext cx="3657600" cy="4937760"/>
          </a:xfrm>
          <a:prstGeom prst="rect">
            <a:avLst/>
          </a:prstGeom>
          <a:solidFill>
            <a:srgbClr val="F7F4EE"/>
          </a:solidFill>
          <a:ln w="9525">
            <a:solidFill>
              <a:srgbClr val="D4C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92440" y="1417320"/>
            <a:ext cx="3657600" cy="41148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92440" y="1417320"/>
            <a:ext cx="3657600" cy="411480"/>
          </a:xfrm>
          <a:prstGeom prst="rect">
            <a:avLst/>
          </a:prstGeom>
          <a:noFill/>
        </p:spPr>
        <p:txBody>
          <a:bodyPr wrap="square" lIns="45720" rIns="45720" tIns="18288" bIns="18288" anchor="ctr">
            <a:spAutoFit/>
          </a:bodyPr>
          <a:lstStyle/>
          <a:p>
            <a:pPr algn="ctr"/>
            <a:r>
              <a:rPr sz="1100" b="1" i="0">
                <a:solidFill>
                  <a:srgbClr val="C8A84B"/>
                </a:solidFill>
                <a:latin typeface="Consolas"/>
              </a:rPr>
              <a:t>CDE / INTERNAL</a:t>
            </a:r>
          </a:p>
        </p:txBody>
      </p:sp>
      <p:sp>
        <p:nvSpPr>
          <p:cNvPr id="42" name="TextBox 41"/>
          <p:cNvSpPr txBox="1"/>
          <p:nvPr/>
        </p:nvSpPr>
        <p:spPr>
          <a:xfrm>
            <a:off x="8229600" y="192024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CRR Procedures Manual</a:t>
            </a:r>
          </a:p>
        </p:txBody>
      </p:sp>
      <p:sp>
        <p:nvSpPr>
          <p:cNvPr id="43" name="TextBox 42"/>
          <p:cNvSpPr txBox="1"/>
          <p:nvPr/>
        </p:nvSpPr>
        <p:spPr>
          <a:xfrm>
            <a:off x="8229600" y="214884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Reviewer SOPs, evidence checklist</a:t>
            </a:r>
          </a:p>
        </p:txBody>
      </p:sp>
      <p:sp>
        <p:nvSpPr>
          <p:cNvPr id="44" name="TextBox 43"/>
          <p:cNvSpPr txBox="1"/>
          <p:nvPr/>
        </p:nvSpPr>
        <p:spPr>
          <a:xfrm>
            <a:off x="8229600" y="251460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Facilities Review Guide</a:t>
            </a:r>
          </a:p>
        </p:txBody>
      </p:sp>
      <p:sp>
        <p:nvSpPr>
          <p:cNvPr id="45" name="TextBox 44"/>
          <p:cNvSpPr txBox="1"/>
          <p:nvPr/>
        </p:nvSpPr>
        <p:spPr>
          <a:xfrm>
            <a:off x="8229600" y="274320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LEA self-assessment template (Word, with date pickers + era dropdowns)</a:t>
            </a:r>
          </a:p>
        </p:txBody>
      </p:sp>
      <p:sp>
        <p:nvSpPr>
          <p:cNvPr id="46" name="TextBox 45"/>
          <p:cNvSpPr txBox="1"/>
          <p:nvPr/>
        </p:nvSpPr>
        <p:spPr>
          <a:xfrm>
            <a:off x="8229600" y="310896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CRR 20 / CRR 21 boilerplate</a:t>
            </a:r>
          </a:p>
        </p:txBody>
      </p:sp>
      <p:sp>
        <p:nvSpPr>
          <p:cNvPr id="47" name="TextBox 46"/>
          <p:cNvSpPr txBox="1"/>
          <p:nvPr/>
        </p:nvSpPr>
        <p:spPr>
          <a:xfrm>
            <a:off x="8229600" y="333756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Standard LOF cover + 18-row finding table</a:t>
            </a:r>
          </a:p>
        </p:txBody>
      </p:sp>
      <p:sp>
        <p:nvSpPr>
          <p:cNvPr id="48" name="TextBox 47"/>
          <p:cNvSpPr txBox="1"/>
          <p:nvPr/>
        </p:nvSpPr>
        <p:spPr>
          <a:xfrm>
            <a:off x="8229600" y="370332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CDE OEO team lead</a:t>
            </a:r>
          </a:p>
        </p:txBody>
      </p:sp>
      <p:sp>
        <p:nvSpPr>
          <p:cNvPr id="49" name="TextBox 48"/>
          <p:cNvSpPr txBox="1"/>
          <p:nvPr/>
        </p:nvSpPr>
        <p:spPr>
          <a:xfrm>
            <a:off x="8229600" y="393192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Your team lead — escalate ambiguity</a:t>
            </a:r>
          </a:p>
        </p:txBody>
      </p:sp>
      <p:sp>
        <p:nvSpPr>
          <p:cNvPr id="50" name="TextBox 49"/>
          <p:cNvSpPr txBox="1"/>
          <p:nvPr/>
        </p:nvSpPr>
        <p:spPr>
          <a:xfrm>
            <a:off x="8229600" y="429768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CDE accessibility liaison</a:t>
            </a:r>
          </a:p>
        </p:txBody>
      </p:sp>
      <p:sp>
        <p:nvSpPr>
          <p:cNvPr id="51" name="TextBox 50"/>
          <p:cNvSpPr txBox="1"/>
          <p:nvPr/>
        </p:nvSpPr>
        <p:spPr>
          <a:xfrm>
            <a:off x="8229600" y="452628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Coordinates with DSA on construction-date evidence</a:t>
            </a:r>
          </a:p>
        </p:txBody>
      </p:sp>
      <p:sp>
        <p:nvSpPr>
          <p:cNvPr id="52" name="TextBox 51"/>
          <p:cNvSpPr txBox="1"/>
          <p:nvPr/>
        </p:nvSpPr>
        <p:spPr>
          <a:xfrm>
            <a:off x="8229600" y="4892040"/>
            <a:ext cx="3429000" cy="228600"/>
          </a:xfrm>
          <a:prstGeom prst="rect">
            <a:avLst/>
          </a:prstGeom>
          <a:noFill/>
        </p:spPr>
        <p:txBody>
          <a:bodyPr wrap="square" lIns="45720" rIns="45720" tIns="18288" bIns="18288" anchor="t">
            <a:spAutoFit/>
          </a:bodyPr>
          <a:lstStyle/>
          <a:p>
            <a:pPr algn="l"/>
            <a:r>
              <a:rPr sz="1100" b="1" i="0">
                <a:solidFill>
                  <a:srgbClr val="1A2744"/>
                </a:solidFill>
                <a:latin typeface="Calibri"/>
              </a:rPr>
              <a:t>Knowledge-check slides</a:t>
            </a:r>
          </a:p>
        </p:txBody>
      </p:sp>
      <p:sp>
        <p:nvSpPr>
          <p:cNvPr id="53" name="TextBox 52"/>
          <p:cNvSpPr txBox="1"/>
          <p:nvPr/>
        </p:nvSpPr>
        <p:spPr>
          <a:xfrm>
            <a:off x="8229600" y="5120640"/>
            <a:ext cx="3429000" cy="365760"/>
          </a:xfrm>
          <a:prstGeom prst="rect">
            <a:avLst/>
          </a:prstGeom>
          <a:noFill/>
        </p:spPr>
        <p:txBody>
          <a:bodyPr wrap="square" lIns="45720" rIns="45720" tIns="18288" bIns="18288" anchor="t">
            <a:spAutoFit/>
          </a:bodyPr>
          <a:lstStyle/>
          <a:p>
            <a:pPr algn="l"/>
            <a:r>
              <a:rPr sz="1000" b="0" i="1">
                <a:solidFill>
                  <a:srgbClr val="1A1A1A"/>
                </a:solidFill>
                <a:latin typeface="Calibri"/>
              </a:rPr>
              <a:t>Slides 18, 22, 30, 38, 54, 58 — rehearse before site visits</a:t>
            </a:r>
          </a:p>
        </p:txBody>
      </p:sp>
      <p:sp>
        <p:nvSpPr>
          <p:cNvPr id="54" name="TextBox 53"/>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55" name="TextBox 54"/>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62 / 63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A2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194560"/>
            <a:ext cx="12191695" cy="73152"/>
          </a:xfrm>
          <a:prstGeom prst="rect">
            <a:avLst/>
          </a:prstGeom>
          <a:solidFill>
            <a:srgbClr val="C8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
            <a:ext cx="10972800" cy="365760"/>
          </a:xfrm>
          <a:prstGeom prst="rect">
            <a:avLst/>
          </a:prstGeom>
          <a:noFill/>
        </p:spPr>
        <p:txBody>
          <a:bodyPr wrap="square" lIns="45720" rIns="45720" tIns="18288" bIns="18288" anchor="t">
            <a:spAutoFit/>
          </a:bodyPr>
          <a:lstStyle/>
          <a:p>
            <a:pPr algn="l"/>
            <a:r>
              <a:rPr sz="1100" b="1" i="0">
                <a:solidFill>
                  <a:srgbClr val="C8A84B"/>
                </a:solidFill>
                <a:latin typeface="Consolas"/>
              </a:rPr>
              <a:t>COURSE SUMMARY</a:t>
            </a:r>
          </a:p>
        </p:txBody>
      </p:sp>
      <p:sp>
        <p:nvSpPr>
          <p:cNvPr id="6" name="TextBox 5"/>
          <p:cNvSpPr txBox="1"/>
          <p:nvPr/>
        </p:nvSpPr>
        <p:spPr>
          <a:xfrm>
            <a:off x="640080" y="1005840"/>
            <a:ext cx="10972800" cy="1005840"/>
          </a:xfrm>
          <a:prstGeom prst="rect">
            <a:avLst/>
          </a:prstGeom>
          <a:noFill/>
        </p:spPr>
        <p:txBody>
          <a:bodyPr wrap="square" lIns="45720" rIns="45720" tIns="18288" bIns="18288" anchor="t">
            <a:spAutoFit/>
          </a:bodyPr>
          <a:lstStyle/>
          <a:p>
            <a:pPr algn="l"/>
            <a:r>
              <a:rPr sz="3600" b="1" i="0">
                <a:solidFill>
                  <a:srgbClr val="FFFFFF"/>
                </a:solidFill>
                <a:latin typeface="Georgia"/>
              </a:rPr>
              <a:t>You can now run a CRR 20 / 21 review.</a:t>
            </a:r>
          </a:p>
        </p:txBody>
      </p:sp>
      <p:sp>
        <p:nvSpPr>
          <p:cNvPr id="7" name="TextBox 6"/>
          <p:cNvSpPr txBox="1"/>
          <p:nvPr/>
        </p:nvSpPr>
        <p:spPr>
          <a:xfrm>
            <a:off x="640080" y="2468880"/>
            <a:ext cx="10972800" cy="365760"/>
          </a:xfrm>
          <a:prstGeom prst="rect">
            <a:avLst/>
          </a:prstGeom>
          <a:noFill/>
        </p:spPr>
        <p:txBody>
          <a:bodyPr wrap="square" lIns="45720" rIns="45720" tIns="18288" bIns="18288" anchor="t">
            <a:spAutoFit/>
          </a:bodyPr>
          <a:lstStyle/>
          <a:p>
            <a:pPr algn="l"/>
            <a:r>
              <a:rPr sz="1400" b="0" i="1">
                <a:solidFill>
                  <a:srgbClr val="E8D08A"/>
                </a:solidFill>
                <a:latin typeface="Calibri"/>
              </a:rPr>
              <a:t>What you take away today:</a:t>
            </a:r>
          </a:p>
        </p:txBody>
      </p:sp>
      <p:sp>
        <p:nvSpPr>
          <p:cNvPr id="8" name="TextBox 7"/>
          <p:cNvSpPr txBox="1"/>
          <p:nvPr/>
        </p:nvSpPr>
        <p:spPr>
          <a:xfrm>
            <a:off x="822960" y="2926080"/>
            <a:ext cx="457200" cy="320040"/>
          </a:xfrm>
          <a:prstGeom prst="rect">
            <a:avLst/>
          </a:prstGeom>
          <a:noFill/>
        </p:spPr>
        <p:txBody>
          <a:bodyPr wrap="square" lIns="45720" rIns="45720" tIns="18288" bIns="18288" anchor="t">
            <a:spAutoFit/>
          </a:bodyPr>
          <a:lstStyle/>
          <a:p>
            <a:pPr algn="l"/>
            <a:r>
              <a:rPr sz="1800" b="1" i="0">
                <a:solidFill>
                  <a:srgbClr val="C8A84B"/>
                </a:solidFill>
                <a:latin typeface="Calibri"/>
              </a:rPr>
              <a:t>✓</a:t>
            </a:r>
          </a:p>
        </p:txBody>
      </p:sp>
      <p:sp>
        <p:nvSpPr>
          <p:cNvPr id="9" name="TextBox 8"/>
          <p:cNvSpPr txBox="1"/>
          <p:nvPr/>
        </p:nvSpPr>
        <p:spPr>
          <a:xfrm>
            <a:off x="1280160" y="2926080"/>
            <a:ext cx="10058400" cy="320040"/>
          </a:xfrm>
          <a:prstGeom prst="rect">
            <a:avLst/>
          </a:prstGeom>
          <a:noFill/>
        </p:spPr>
        <p:txBody>
          <a:bodyPr wrap="square" lIns="45720" rIns="45720" tIns="18288" bIns="18288" anchor="ctr">
            <a:spAutoFit/>
          </a:bodyPr>
          <a:lstStyle/>
          <a:p>
            <a:pPr algn="l"/>
            <a:r>
              <a:rPr sz="1300" b="0" i="0">
                <a:solidFill>
                  <a:srgbClr val="FFFFFF"/>
                </a:solidFill>
                <a:latin typeface="Calibri"/>
              </a:rPr>
              <a:t>The five standards, the six date windows, and the decision tree.</a:t>
            </a:r>
          </a:p>
        </p:txBody>
      </p:sp>
      <p:sp>
        <p:nvSpPr>
          <p:cNvPr id="10" name="TextBox 9"/>
          <p:cNvSpPr txBox="1"/>
          <p:nvPr/>
        </p:nvSpPr>
        <p:spPr>
          <a:xfrm>
            <a:off x="822960" y="3310128"/>
            <a:ext cx="457200" cy="320040"/>
          </a:xfrm>
          <a:prstGeom prst="rect">
            <a:avLst/>
          </a:prstGeom>
          <a:noFill/>
        </p:spPr>
        <p:txBody>
          <a:bodyPr wrap="square" lIns="45720" rIns="45720" tIns="18288" bIns="18288" anchor="t">
            <a:spAutoFit/>
          </a:bodyPr>
          <a:lstStyle/>
          <a:p>
            <a:pPr algn="l"/>
            <a:r>
              <a:rPr sz="1800" b="1" i="0">
                <a:solidFill>
                  <a:srgbClr val="C8A84B"/>
                </a:solidFill>
                <a:latin typeface="Calibri"/>
              </a:rPr>
              <a:t>✓</a:t>
            </a:r>
          </a:p>
        </p:txBody>
      </p:sp>
      <p:sp>
        <p:nvSpPr>
          <p:cNvPr id="11" name="TextBox 10"/>
          <p:cNvSpPr txBox="1"/>
          <p:nvPr/>
        </p:nvSpPr>
        <p:spPr>
          <a:xfrm>
            <a:off x="1280160" y="3310128"/>
            <a:ext cx="10058400" cy="320040"/>
          </a:xfrm>
          <a:prstGeom prst="rect">
            <a:avLst/>
          </a:prstGeom>
          <a:noFill/>
        </p:spPr>
        <p:txBody>
          <a:bodyPr wrap="square" lIns="45720" rIns="45720" tIns="18288" bIns="18288" anchor="ctr">
            <a:spAutoFit/>
          </a:bodyPr>
          <a:lstStyle/>
          <a:p>
            <a:pPr algn="l"/>
            <a:r>
              <a:rPr sz="1300" b="0" i="0">
                <a:solidFill>
                  <a:srgbClr val="FFFFFF"/>
                </a:solidFill>
                <a:latin typeface="Calibri"/>
              </a:rPr>
              <a:t>The Program-Access doctrine and the absolute None / None rule.</a:t>
            </a:r>
          </a:p>
        </p:txBody>
      </p:sp>
      <p:sp>
        <p:nvSpPr>
          <p:cNvPr id="12" name="TextBox 11"/>
          <p:cNvSpPr txBox="1"/>
          <p:nvPr/>
        </p:nvSpPr>
        <p:spPr>
          <a:xfrm>
            <a:off x="822960" y="3694176"/>
            <a:ext cx="457200" cy="320040"/>
          </a:xfrm>
          <a:prstGeom prst="rect">
            <a:avLst/>
          </a:prstGeom>
          <a:noFill/>
        </p:spPr>
        <p:txBody>
          <a:bodyPr wrap="square" lIns="45720" rIns="45720" tIns="18288" bIns="18288" anchor="t">
            <a:spAutoFit/>
          </a:bodyPr>
          <a:lstStyle/>
          <a:p>
            <a:pPr algn="l"/>
            <a:r>
              <a:rPr sz="1800" b="1" i="0">
                <a:solidFill>
                  <a:srgbClr val="C8A84B"/>
                </a:solidFill>
                <a:latin typeface="Calibri"/>
              </a:rPr>
              <a:t>✓</a:t>
            </a:r>
          </a:p>
        </p:txBody>
      </p:sp>
      <p:sp>
        <p:nvSpPr>
          <p:cNvPr id="13" name="TextBox 12"/>
          <p:cNvSpPr txBox="1"/>
          <p:nvPr/>
        </p:nvSpPr>
        <p:spPr>
          <a:xfrm>
            <a:off x="1280160" y="3694176"/>
            <a:ext cx="10058400" cy="320040"/>
          </a:xfrm>
          <a:prstGeom prst="rect">
            <a:avLst/>
          </a:prstGeom>
          <a:noFill/>
        </p:spPr>
        <p:txBody>
          <a:bodyPr wrap="square" lIns="45720" rIns="45720" tIns="18288" bIns="18288" anchor="ctr">
            <a:spAutoFit/>
          </a:bodyPr>
          <a:lstStyle/>
          <a:p>
            <a:pPr algn="l"/>
            <a:r>
              <a:rPr sz="1300" b="0" i="0">
                <a:solidFill>
                  <a:srgbClr val="FFFFFF"/>
                </a:solidFill>
                <a:latin typeface="Calibri"/>
              </a:rPr>
              <a:t>Key dimensions for parking, routes, doors, ramps, restrooms, and signage.</a:t>
            </a:r>
          </a:p>
        </p:txBody>
      </p:sp>
      <p:sp>
        <p:nvSpPr>
          <p:cNvPr id="14" name="TextBox 13"/>
          <p:cNvSpPr txBox="1"/>
          <p:nvPr/>
        </p:nvSpPr>
        <p:spPr>
          <a:xfrm>
            <a:off x="822960" y="4078224"/>
            <a:ext cx="457200" cy="320040"/>
          </a:xfrm>
          <a:prstGeom prst="rect">
            <a:avLst/>
          </a:prstGeom>
          <a:noFill/>
        </p:spPr>
        <p:txBody>
          <a:bodyPr wrap="square" lIns="45720" rIns="45720" tIns="18288" bIns="18288" anchor="t">
            <a:spAutoFit/>
          </a:bodyPr>
          <a:lstStyle/>
          <a:p>
            <a:pPr algn="l"/>
            <a:r>
              <a:rPr sz="1800" b="1" i="0">
                <a:solidFill>
                  <a:srgbClr val="C8A84B"/>
                </a:solidFill>
                <a:latin typeface="Calibri"/>
              </a:rPr>
              <a:t>✓</a:t>
            </a:r>
          </a:p>
        </p:txBody>
      </p:sp>
      <p:sp>
        <p:nvSpPr>
          <p:cNvPr id="15" name="TextBox 14"/>
          <p:cNvSpPr txBox="1"/>
          <p:nvPr/>
        </p:nvSpPr>
        <p:spPr>
          <a:xfrm>
            <a:off x="1280160" y="4078224"/>
            <a:ext cx="10058400" cy="320040"/>
          </a:xfrm>
          <a:prstGeom prst="rect">
            <a:avLst/>
          </a:prstGeom>
          <a:noFill/>
        </p:spPr>
        <p:txBody>
          <a:bodyPr wrap="square" lIns="45720" rIns="45720" tIns="18288" bIns="18288" anchor="ctr">
            <a:spAutoFit/>
          </a:bodyPr>
          <a:lstStyle/>
          <a:p>
            <a:pPr algn="l"/>
            <a:r>
              <a:rPr sz="1300" b="0" i="0">
                <a:solidFill>
                  <a:srgbClr val="FFFFFF"/>
                </a:solidFill>
                <a:latin typeface="Calibri"/>
              </a:rPr>
              <a:t>How to walk a CTE shop, kitchen, lab, or ag building.</a:t>
            </a:r>
          </a:p>
        </p:txBody>
      </p:sp>
      <p:sp>
        <p:nvSpPr>
          <p:cNvPr id="16" name="TextBox 15"/>
          <p:cNvSpPr txBox="1"/>
          <p:nvPr/>
        </p:nvSpPr>
        <p:spPr>
          <a:xfrm>
            <a:off x="822960" y="4462272"/>
            <a:ext cx="457200" cy="320040"/>
          </a:xfrm>
          <a:prstGeom prst="rect">
            <a:avLst/>
          </a:prstGeom>
          <a:noFill/>
        </p:spPr>
        <p:txBody>
          <a:bodyPr wrap="square" lIns="45720" rIns="45720" tIns="18288" bIns="18288" anchor="t">
            <a:spAutoFit/>
          </a:bodyPr>
          <a:lstStyle/>
          <a:p>
            <a:pPr algn="l"/>
            <a:r>
              <a:rPr sz="1800" b="1" i="0">
                <a:solidFill>
                  <a:srgbClr val="C8A84B"/>
                </a:solidFill>
                <a:latin typeface="Calibri"/>
              </a:rPr>
              <a:t>✓</a:t>
            </a:r>
          </a:p>
        </p:txBody>
      </p:sp>
      <p:sp>
        <p:nvSpPr>
          <p:cNvPr id="17" name="TextBox 16"/>
          <p:cNvSpPr txBox="1"/>
          <p:nvPr/>
        </p:nvSpPr>
        <p:spPr>
          <a:xfrm>
            <a:off x="1280160" y="4462272"/>
            <a:ext cx="10058400" cy="320040"/>
          </a:xfrm>
          <a:prstGeom prst="rect">
            <a:avLst/>
          </a:prstGeom>
          <a:noFill/>
        </p:spPr>
        <p:txBody>
          <a:bodyPr wrap="square" lIns="45720" rIns="45720" tIns="18288" bIns="18288" anchor="ctr">
            <a:spAutoFit/>
          </a:bodyPr>
          <a:lstStyle/>
          <a:p>
            <a:pPr algn="l"/>
            <a:r>
              <a:rPr sz="1300" b="0" i="0">
                <a:solidFill>
                  <a:srgbClr val="FFFFFF"/>
                </a:solidFill>
                <a:latin typeface="Calibri"/>
              </a:rPr>
              <a:t>How to drive the Facilities LOF Generator from packet to Word output.</a:t>
            </a:r>
          </a:p>
        </p:txBody>
      </p:sp>
      <p:sp>
        <p:nvSpPr>
          <p:cNvPr id="18" name="TextBox 17"/>
          <p:cNvSpPr txBox="1"/>
          <p:nvPr/>
        </p:nvSpPr>
        <p:spPr>
          <a:xfrm>
            <a:off x="822960" y="4846320"/>
            <a:ext cx="457200" cy="320040"/>
          </a:xfrm>
          <a:prstGeom prst="rect">
            <a:avLst/>
          </a:prstGeom>
          <a:noFill/>
        </p:spPr>
        <p:txBody>
          <a:bodyPr wrap="square" lIns="45720" rIns="45720" tIns="18288" bIns="18288" anchor="t">
            <a:spAutoFit/>
          </a:bodyPr>
          <a:lstStyle/>
          <a:p>
            <a:pPr algn="l"/>
            <a:r>
              <a:rPr sz="1800" b="1" i="0">
                <a:solidFill>
                  <a:srgbClr val="C8A84B"/>
                </a:solidFill>
                <a:latin typeface="Calibri"/>
              </a:rPr>
              <a:t>✓</a:t>
            </a:r>
          </a:p>
        </p:txBody>
      </p:sp>
      <p:sp>
        <p:nvSpPr>
          <p:cNvPr id="19" name="TextBox 18"/>
          <p:cNvSpPr txBox="1"/>
          <p:nvPr/>
        </p:nvSpPr>
        <p:spPr>
          <a:xfrm>
            <a:off x="1280160" y="4846320"/>
            <a:ext cx="10058400" cy="320040"/>
          </a:xfrm>
          <a:prstGeom prst="rect">
            <a:avLst/>
          </a:prstGeom>
          <a:noFill/>
        </p:spPr>
        <p:txBody>
          <a:bodyPr wrap="square" lIns="45720" rIns="45720" tIns="18288" bIns="18288" anchor="ctr">
            <a:spAutoFit/>
          </a:bodyPr>
          <a:lstStyle/>
          <a:p>
            <a:pPr algn="l"/>
            <a:r>
              <a:rPr sz="1300" b="0" i="0">
                <a:solidFill>
                  <a:srgbClr val="FFFFFF"/>
                </a:solidFill>
                <a:latin typeface="Calibri"/>
              </a:rPr>
              <a:t>How to write a defensible violation and corrective action — every time.</a:t>
            </a:r>
          </a:p>
        </p:txBody>
      </p:sp>
      <p:sp>
        <p:nvSpPr>
          <p:cNvPr id="20" name="TextBox 19"/>
          <p:cNvSpPr txBox="1"/>
          <p:nvPr/>
        </p:nvSpPr>
        <p:spPr>
          <a:xfrm>
            <a:off x="640080" y="5486400"/>
            <a:ext cx="10972800" cy="365760"/>
          </a:xfrm>
          <a:prstGeom prst="rect">
            <a:avLst/>
          </a:prstGeom>
          <a:noFill/>
        </p:spPr>
        <p:txBody>
          <a:bodyPr wrap="square" lIns="45720" rIns="45720" tIns="18288" bIns="18288" anchor="t">
            <a:spAutoFit/>
          </a:bodyPr>
          <a:lstStyle/>
          <a:p>
            <a:pPr algn="l"/>
            <a:r>
              <a:rPr sz="1100" b="1" i="0">
                <a:solidFill>
                  <a:srgbClr val="C8A84B"/>
                </a:solidFill>
                <a:latin typeface="Consolas"/>
              </a:rPr>
              <a:t>NEXT STEPS</a:t>
            </a:r>
          </a:p>
        </p:txBody>
      </p:sp>
      <p:sp>
        <p:nvSpPr>
          <p:cNvPr id="21" name="TextBox 20"/>
          <p:cNvSpPr txBox="1"/>
          <p:nvPr/>
        </p:nvSpPr>
        <p:spPr>
          <a:xfrm>
            <a:off x="640080" y="5852160"/>
            <a:ext cx="10972800" cy="365760"/>
          </a:xfrm>
          <a:prstGeom prst="rect">
            <a:avLst/>
          </a:prstGeom>
          <a:noFill/>
        </p:spPr>
        <p:txBody>
          <a:bodyPr wrap="square" lIns="45720" rIns="45720" tIns="18288" bIns="18288" anchor="t">
            <a:spAutoFit/>
          </a:bodyPr>
          <a:lstStyle/>
          <a:p>
            <a:pPr algn="l"/>
            <a:r>
              <a:rPr sz="1400" b="0" i="0">
                <a:solidFill>
                  <a:srgbClr val="E8D08A"/>
                </a:solidFill>
                <a:latin typeface="Calibri"/>
              </a:rPr>
              <a:t>Shadow two reviews · run one mock LOF · sign up for the Access Board's webinar series</a:t>
            </a:r>
          </a:p>
        </p:txBody>
      </p:sp>
      <p:sp>
        <p:nvSpPr>
          <p:cNvPr id="22" name="TextBox 21"/>
          <p:cNvSpPr txBox="1"/>
          <p:nvPr/>
        </p:nvSpPr>
        <p:spPr>
          <a:xfrm>
            <a:off x="640080" y="6309360"/>
            <a:ext cx="10972800" cy="365760"/>
          </a:xfrm>
          <a:prstGeom prst="rect">
            <a:avLst/>
          </a:prstGeom>
          <a:noFill/>
        </p:spPr>
        <p:txBody>
          <a:bodyPr wrap="square" lIns="45720" rIns="45720" tIns="18288" bIns="18288" anchor="t">
            <a:spAutoFit/>
          </a:bodyPr>
          <a:lstStyle/>
          <a:p>
            <a:pPr algn="l"/>
            <a:r>
              <a:rPr sz="1200" b="0" i="1">
                <a:solidFill>
                  <a:srgbClr val="E8D08A"/>
                </a:solidFill>
                <a:latin typeface="Calibri"/>
              </a:rPr>
              <a:t>Questions? Reach out to your CDE OEO team lead.</a:t>
            </a:r>
          </a:p>
        </p:txBody>
      </p:sp>
      <p:sp>
        <p:nvSpPr>
          <p:cNvPr id="23" name="TextBox 22"/>
          <p:cNvSpPr txBox="1"/>
          <p:nvPr/>
        </p:nvSpPr>
        <p:spPr>
          <a:xfrm>
            <a:off x="457200" y="6565392"/>
            <a:ext cx="7315200" cy="228600"/>
          </a:xfrm>
          <a:prstGeom prst="rect">
            <a:avLst/>
          </a:prstGeom>
          <a:noFill/>
        </p:spPr>
        <p:txBody>
          <a:bodyPr wrap="square" lIns="45720" rIns="45720" tIns="18288" bIns="18288" anchor="t">
            <a:spAutoFit/>
          </a:bodyPr>
          <a:lstStyle/>
          <a:p>
            <a:pPr algn="l"/>
            <a:r>
              <a:rPr sz="900" b="0" i="0">
                <a:solidFill>
                  <a:srgbClr val="6B6659"/>
                </a:solidFill>
                <a:latin typeface="Consolas"/>
              </a:rPr>
              <a:t>CDE OEO  •  Civil Rights Review  •  CRR 20 / CRR 21 — Accessible Facilities</a:t>
            </a:r>
          </a:p>
        </p:txBody>
      </p:sp>
      <p:sp>
        <p:nvSpPr>
          <p:cNvPr id="24" name="TextBox 23"/>
          <p:cNvSpPr txBox="1"/>
          <p:nvPr/>
        </p:nvSpPr>
        <p:spPr>
          <a:xfrm>
            <a:off x="10515600" y="6565392"/>
            <a:ext cx="1188720" cy="228600"/>
          </a:xfrm>
          <a:prstGeom prst="rect">
            <a:avLst/>
          </a:prstGeom>
          <a:noFill/>
        </p:spPr>
        <p:txBody>
          <a:bodyPr wrap="square" lIns="45720" rIns="45720" tIns="18288" bIns="18288" anchor="t">
            <a:spAutoFit/>
          </a:bodyPr>
          <a:lstStyle/>
          <a:p>
            <a:pPr algn="r"/>
            <a:r>
              <a:rPr sz="900" b="0" i="0">
                <a:solidFill>
                  <a:srgbClr val="6B6659"/>
                </a:solidFill>
                <a:latin typeface="Consolas"/>
              </a:rPr>
              <a:t>63 / 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